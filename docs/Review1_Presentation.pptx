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four numbers, not the title. They are the whole review: we built a model, it started exactly where an untrained model must start, it learned, and nothing was downloaded.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seconds. These are the motivation, not the contribution. The point to land: the failures are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sub-objectives are complete. Say that explicitly — it frames the rest of the talk as evidence rather than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maximum. Do not go into the fusion mechanism — that is Review 4. The only point: all five roles run on the one model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the most likely trap question: 'your model can't answer questions, isn't that a failure?' Answer it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panel asks 'explain what you did', walk down these twelve boxes in order. That is the whole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shift-by-one is the entire training objective. One 128-token window gives 128 separate prediction problems,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not just use words as tokens? Answer: hundreds of thousands of them, bigger than our whole model, and any unseen word becomes unknown. Sub-word BPE is the compromise.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why decoder-only? why positional embeddings? what is weight tying? All three are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what the FFN is for: attention moves information between positions, the FFN computes within a position. You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likely follow-up: why divide by root d_k? Because dot products grow with dimension, and large values push softmax to nearly one-hot, where gradients vanish.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very likely question. The masking is applied BEFORE softmax, not after — that is the detail that shows you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PyTorch's autograd computes backpropagation for us. Nobody expects a student to hand-implement the chain rule, and pretending otherwise invites a question you cannot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centrepiece of the review. Run the pytest command live — it takes two seconds and is far more convincing than any slide. Then show step-0 loss beside ln(4096).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say 'about 1 million'. Say the exact number and offer the arithmetic. If asked why so small: deliberate — it trains in minutes, and the same code scales to 13.8M by changing a config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'we ran a learning-rate sweep and chose empirically' is far stronger than 'we used 3e-3'. Have the three numbers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Perplexity is the metric most likely to be asked about. Have the 4,096 → 8.51 comparison ready — it is the most intuitive way to express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dashed line first: that is ln(4096), where a randomly initialised model must start — and where ours did. Then note the two curves sit on top of each other the whole way: no gap means no overfitting. Then read the T=0.2 sample aloud, and give the repetition caveat before anyone spots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overfit-one-batch test is the one to explain if asked: train on 8 fixed sequences; a correct loop must memorise 1,024 tokens. If it cannot, more training will never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slide confidently, not apologetically. Every limitation here follows directly from a deliberate scope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research question, not the roadmap. The panel should leave knowing the foundation is built and verified, and that the actual experiment is what Reviews 2 to 4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here. Do not add a thank-you slide — end on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3A"/>
        </a:solidFill>
      </p:bgPr>
    </p:bg>
    <p:spTree>
      <p:nvGrpSpPr>
        <p:cNvPr id="1" name=""/>
        <p:cNvGrpSpPr/>
        <p:nvPr/>
      </p:nvGrpSpPr>
      <p:grpSpPr>
        <a:xfrm>
          <a:off x="0" y="0"/>
          <a:ext cx="0" cy="0"/>
          <a:chOff x="0" y="0"/>
          <a:chExt cx="0" cy="0"/>
        </a:xfrm>
      </p:grpSpPr>
      <p:sp>
        <p:nvSpPr>
          <p:cNvPr id="2" name="Text 0"/>
          <p:cNvSpPr/>
          <p:nvPr/>
        </p:nvSpPr>
        <p:spPr>
          <a:xfrm>
            <a:off x="548640" y="1188720"/>
            <a:ext cx="11064240" cy="274320"/>
          </a:xfrm>
          <a:prstGeom prst="rect">
            <a:avLst/>
          </a:prstGeom>
          <a:noFill/>
          <a:ln/>
        </p:spPr>
        <p:txBody>
          <a:bodyPr wrap="square" lIns="0" tIns="0" rIns="0" bIns="0" rtlCol="0" anchor="ctr"/>
          <a:lstStyle/>
          <a:p>
            <a:pPr indent="0" marL="0">
              <a:buNone/>
            </a:pPr>
            <a:r>
              <a:rPr lang="en-US" sz="1150" b="1" spc="200" kern="0" dirty="0">
                <a:solidFill>
                  <a:srgbClr val="6FA3E8"/>
                </a:solidFill>
                <a:latin typeface="Calibri" pitchFamily="34" charset="0"/>
                <a:ea typeface="Calibri" pitchFamily="34" charset="-122"/>
                <a:cs typeface="Calibri" pitchFamily="34" charset="-120"/>
              </a:rPr>
              <a:t>FIRST PROJECT REVIEW  ·  DATA SCIENCE FOUNDATION  ·  4TH YEAR CSE</a:t>
            </a:r>
            <a:endParaRPr lang="en-US" sz="1150" dirty="0"/>
          </a:p>
        </p:txBody>
      </p:sp>
      <p:sp>
        <p:nvSpPr>
          <p:cNvPr id="3" name="Text 1"/>
          <p:cNvSpPr/>
          <p:nvPr/>
        </p:nvSpPr>
        <p:spPr>
          <a:xfrm>
            <a:off x="548640" y="1600200"/>
            <a:ext cx="11064240" cy="15544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Multi-Agent Explainable AI</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with Collaborative Neural Reasoning</a:t>
            </a:r>
            <a:endParaRPr lang="en-US" sz="3800" dirty="0"/>
          </a:p>
        </p:txBody>
      </p:sp>
      <p:sp>
        <p:nvSpPr>
          <p:cNvPr id="4" name="Text 2"/>
          <p:cNvSpPr/>
          <p:nvPr/>
        </p:nvSpPr>
        <p:spPr>
          <a:xfrm>
            <a:off x="548640" y="3246120"/>
            <a:ext cx="8686800" cy="457200"/>
          </a:xfrm>
          <a:prstGeom prst="rect">
            <a:avLst/>
          </a:prstGeom>
          <a:noFill/>
          <a:ln/>
        </p:spPr>
        <p:txBody>
          <a:bodyPr wrap="square" lIns="0" tIns="0" rIns="0" bIns="0" rtlCol="0" anchor="t"/>
          <a:lstStyle/>
          <a:p>
            <a:pPr indent="0" marL="0">
              <a:buNone/>
            </a:pPr>
            <a:r>
              <a:rPr lang="en-US" sz="1600" dirty="0">
                <a:solidFill>
                  <a:srgbClr val="C7D4E8"/>
                </a:solidFill>
                <a:latin typeface="Calibri" pitchFamily="34" charset="0"/>
                <a:ea typeface="Calibri" pitchFamily="34" charset="-122"/>
                <a:cs typeface="Calibri" pitchFamily="34" charset="-120"/>
              </a:rPr>
              <a:t>Review 1 — building and training our own language model from scratch</a:t>
            </a:r>
            <a:endParaRPr lang="en-US" sz="1600" dirty="0"/>
          </a:p>
        </p:txBody>
      </p:sp>
      <p:sp>
        <p:nvSpPr>
          <p:cNvPr id="5" name="Text 3"/>
          <p:cNvSpPr/>
          <p:nvPr/>
        </p:nvSpPr>
        <p:spPr>
          <a:xfrm>
            <a:off x="548640" y="4526280"/>
            <a:ext cx="2651760" cy="384048"/>
          </a:xfrm>
          <a:prstGeom prst="rect">
            <a:avLst/>
          </a:prstGeom>
          <a:noFill/>
          <a:ln/>
        </p:spPr>
        <p:txBody>
          <a:bodyPr wrap="square" lIns="0" tIns="0" rIns="0" bIns="0" rtlCol="0" anchor="ctr"/>
          <a:lstStyle/>
          <a:p>
            <a:pPr indent="0" marL="0">
              <a:buNone/>
            </a:pPr>
            <a:r>
              <a:rPr lang="en-US" sz="2000" b="1" dirty="0">
                <a:solidFill>
                  <a:srgbClr val="5AC495"/>
                </a:solidFill>
                <a:latin typeface="Courier New" pitchFamily="34" charset="0"/>
                <a:ea typeface="Courier New" pitchFamily="34" charset="-122"/>
                <a:cs typeface="Courier New" pitchFamily="34" charset="-120"/>
              </a:rPr>
              <a:t>1,331,968</a:t>
            </a:r>
            <a:endParaRPr lang="en-US" sz="2000" dirty="0"/>
          </a:p>
        </p:txBody>
      </p:sp>
      <p:sp>
        <p:nvSpPr>
          <p:cNvPr id="6" name="Text 4"/>
          <p:cNvSpPr/>
          <p:nvPr/>
        </p:nvSpPr>
        <p:spPr>
          <a:xfrm>
            <a:off x="548640" y="4919472"/>
            <a:ext cx="2651760" cy="274320"/>
          </a:xfrm>
          <a:prstGeom prst="rect">
            <a:avLst/>
          </a:prstGeom>
          <a:noFill/>
          <a:ln/>
        </p:spPr>
        <p:txBody>
          <a:bodyPr wrap="square" lIns="0" tIns="0" rIns="0" bIns="0" rtlCol="0" anchor="ctr"/>
          <a:lstStyle/>
          <a:p>
            <a:pPr indent="0" marL="0">
              <a:buNone/>
            </a:pPr>
            <a:r>
              <a:rPr lang="en-US" sz="1050" dirty="0">
                <a:solidFill>
                  <a:srgbClr val="9DB0CC"/>
                </a:solidFill>
                <a:latin typeface="Calibri" pitchFamily="34" charset="0"/>
                <a:ea typeface="Calibri" pitchFamily="34" charset="-122"/>
                <a:cs typeface="Calibri" pitchFamily="34" charset="-120"/>
              </a:rPr>
              <a:t>parameters</a:t>
            </a:r>
            <a:endParaRPr lang="en-US" sz="1050" dirty="0"/>
          </a:p>
        </p:txBody>
      </p:sp>
      <p:sp>
        <p:nvSpPr>
          <p:cNvPr id="7" name="Text 5"/>
          <p:cNvSpPr/>
          <p:nvPr/>
        </p:nvSpPr>
        <p:spPr>
          <a:xfrm>
            <a:off x="3337560" y="4526280"/>
            <a:ext cx="2651760" cy="384048"/>
          </a:xfrm>
          <a:prstGeom prst="rect">
            <a:avLst/>
          </a:prstGeom>
          <a:noFill/>
          <a:ln/>
        </p:spPr>
        <p:txBody>
          <a:bodyPr wrap="square" lIns="0" tIns="0" rIns="0" bIns="0" rtlCol="0" anchor="ctr"/>
          <a:lstStyle/>
          <a:p>
            <a:pPr indent="0" marL="0">
              <a:buNone/>
            </a:pPr>
            <a:r>
              <a:rPr lang="en-US" sz="2000" b="1" dirty="0">
                <a:solidFill>
                  <a:srgbClr val="5AC495"/>
                </a:solidFill>
                <a:latin typeface="Courier New" pitchFamily="34" charset="0"/>
                <a:ea typeface="Courier New" pitchFamily="34" charset="-122"/>
                <a:cs typeface="Courier New" pitchFamily="34" charset="-120"/>
              </a:rPr>
              <a:t>8.3327</a:t>
            </a:r>
            <a:endParaRPr lang="en-US" sz="2000" dirty="0"/>
          </a:p>
        </p:txBody>
      </p:sp>
      <p:sp>
        <p:nvSpPr>
          <p:cNvPr id="8" name="Text 6"/>
          <p:cNvSpPr/>
          <p:nvPr/>
        </p:nvSpPr>
        <p:spPr>
          <a:xfrm>
            <a:off x="3337560" y="4919472"/>
            <a:ext cx="2651760" cy="274320"/>
          </a:xfrm>
          <a:prstGeom prst="rect">
            <a:avLst/>
          </a:prstGeom>
          <a:noFill/>
          <a:ln/>
        </p:spPr>
        <p:txBody>
          <a:bodyPr wrap="square" lIns="0" tIns="0" rIns="0" bIns="0" rtlCol="0" anchor="ctr"/>
          <a:lstStyle/>
          <a:p>
            <a:pPr indent="0" marL="0">
              <a:buNone/>
            </a:pPr>
            <a:r>
              <a:rPr lang="en-US" sz="1050" dirty="0">
                <a:solidFill>
                  <a:srgbClr val="9DB0CC"/>
                </a:solidFill>
                <a:latin typeface="Calibri" pitchFamily="34" charset="0"/>
                <a:ea typeface="Calibri" pitchFamily="34" charset="-122"/>
                <a:cs typeface="Calibri" pitchFamily="34" charset="-120"/>
              </a:rPr>
              <a:t>step-0 loss = ln(4096)</a:t>
            </a:r>
            <a:endParaRPr lang="en-US" sz="1050" dirty="0"/>
          </a:p>
        </p:txBody>
      </p:sp>
      <p:sp>
        <p:nvSpPr>
          <p:cNvPr id="9" name="Text 7"/>
          <p:cNvSpPr/>
          <p:nvPr/>
        </p:nvSpPr>
        <p:spPr>
          <a:xfrm>
            <a:off x="6126480" y="4526280"/>
            <a:ext cx="2651760" cy="384048"/>
          </a:xfrm>
          <a:prstGeom prst="rect">
            <a:avLst/>
          </a:prstGeom>
          <a:noFill/>
          <a:ln/>
        </p:spPr>
        <p:txBody>
          <a:bodyPr wrap="square" lIns="0" tIns="0" rIns="0" bIns="0" rtlCol="0" anchor="ctr"/>
          <a:lstStyle/>
          <a:p>
            <a:pPr indent="0" marL="0">
              <a:buNone/>
            </a:pPr>
            <a:r>
              <a:rPr lang="en-US" sz="2000" b="1" dirty="0">
                <a:solidFill>
                  <a:srgbClr val="5AC495"/>
                </a:solidFill>
                <a:latin typeface="Courier New" pitchFamily="34" charset="0"/>
                <a:ea typeface="Courier New" pitchFamily="34" charset="-122"/>
                <a:cs typeface="Courier New" pitchFamily="34" charset="-120"/>
              </a:rPr>
              <a:t>2.1407</a:t>
            </a:r>
            <a:endParaRPr lang="en-US" sz="2000" dirty="0"/>
          </a:p>
        </p:txBody>
      </p:sp>
      <p:sp>
        <p:nvSpPr>
          <p:cNvPr id="10" name="Text 8"/>
          <p:cNvSpPr/>
          <p:nvPr/>
        </p:nvSpPr>
        <p:spPr>
          <a:xfrm>
            <a:off x="6126480" y="4919472"/>
            <a:ext cx="2651760" cy="274320"/>
          </a:xfrm>
          <a:prstGeom prst="rect">
            <a:avLst/>
          </a:prstGeom>
          <a:noFill/>
          <a:ln/>
        </p:spPr>
        <p:txBody>
          <a:bodyPr wrap="square" lIns="0" tIns="0" rIns="0" bIns="0" rtlCol="0" anchor="ctr"/>
          <a:lstStyle/>
          <a:p>
            <a:pPr indent="0" marL="0">
              <a:buNone/>
            </a:pPr>
            <a:r>
              <a:rPr lang="en-US" sz="1050" dirty="0">
                <a:solidFill>
                  <a:srgbClr val="9DB0CC"/>
                </a:solidFill>
                <a:latin typeface="Calibri" pitchFamily="34" charset="0"/>
                <a:ea typeface="Calibri" pitchFamily="34" charset="-122"/>
                <a:cs typeface="Calibri" pitchFamily="34" charset="-120"/>
              </a:rPr>
              <a:t>validation loss</a:t>
            </a:r>
            <a:endParaRPr lang="en-US" sz="1050" dirty="0"/>
          </a:p>
        </p:txBody>
      </p:sp>
      <p:sp>
        <p:nvSpPr>
          <p:cNvPr id="11" name="Text 9"/>
          <p:cNvSpPr/>
          <p:nvPr/>
        </p:nvSpPr>
        <p:spPr>
          <a:xfrm>
            <a:off x="8915400" y="4526280"/>
            <a:ext cx="2651760" cy="384048"/>
          </a:xfrm>
          <a:prstGeom prst="rect">
            <a:avLst/>
          </a:prstGeom>
          <a:noFill/>
          <a:ln/>
        </p:spPr>
        <p:txBody>
          <a:bodyPr wrap="square" lIns="0" tIns="0" rIns="0" bIns="0" rtlCol="0" anchor="ctr"/>
          <a:lstStyle/>
          <a:p>
            <a:pPr indent="0" marL="0">
              <a:buNone/>
            </a:pPr>
            <a:r>
              <a:rPr lang="en-US" sz="2000" b="1" dirty="0">
                <a:solidFill>
                  <a:srgbClr val="5AC495"/>
                </a:solidFill>
                <a:latin typeface="Courier New" pitchFamily="34" charset="0"/>
                <a:ea typeface="Courier New" pitchFamily="34" charset="-122"/>
                <a:cs typeface="Courier New" pitchFamily="34" charset="-120"/>
              </a:rPr>
              <a:t>8.51</a:t>
            </a:r>
            <a:endParaRPr lang="en-US" sz="2000" dirty="0"/>
          </a:p>
        </p:txBody>
      </p:sp>
      <p:sp>
        <p:nvSpPr>
          <p:cNvPr id="12" name="Text 10"/>
          <p:cNvSpPr/>
          <p:nvPr/>
        </p:nvSpPr>
        <p:spPr>
          <a:xfrm>
            <a:off x="8915400" y="4919472"/>
            <a:ext cx="2651760" cy="274320"/>
          </a:xfrm>
          <a:prstGeom prst="rect">
            <a:avLst/>
          </a:prstGeom>
          <a:noFill/>
          <a:ln/>
        </p:spPr>
        <p:txBody>
          <a:bodyPr wrap="square" lIns="0" tIns="0" rIns="0" bIns="0" rtlCol="0" anchor="ctr"/>
          <a:lstStyle/>
          <a:p>
            <a:pPr indent="0" marL="0">
              <a:buNone/>
            </a:pPr>
            <a:r>
              <a:rPr lang="en-US" sz="1050" dirty="0">
                <a:solidFill>
                  <a:srgbClr val="9DB0CC"/>
                </a:solidFill>
                <a:latin typeface="Calibri" pitchFamily="34" charset="0"/>
                <a:ea typeface="Calibri" pitchFamily="34" charset="-122"/>
                <a:cs typeface="Calibri" pitchFamily="34" charset="-120"/>
              </a:rPr>
              <a:t>perplexity</a:t>
            </a:r>
            <a:endParaRPr lang="en-US" sz="1050" dirty="0"/>
          </a:p>
        </p:txBody>
      </p:sp>
      <p:sp>
        <p:nvSpPr>
          <p:cNvPr id="13" name="Text 11"/>
          <p:cNvSpPr/>
          <p:nvPr/>
        </p:nvSpPr>
        <p:spPr>
          <a:xfrm>
            <a:off x="548640" y="5897880"/>
            <a:ext cx="11064240" cy="274320"/>
          </a:xfrm>
          <a:prstGeom prst="rect">
            <a:avLst/>
          </a:prstGeom>
          <a:noFill/>
          <a:ln/>
        </p:spPr>
        <p:txBody>
          <a:bodyPr wrap="square" lIns="0" tIns="0" rIns="0" bIns="0" rtlCol="0" anchor="ctr"/>
          <a:lstStyle/>
          <a:p>
            <a:pPr indent="0" marL="0">
              <a:buNone/>
            </a:pPr>
            <a:r>
              <a:rPr lang="en-US" sz="1250" dirty="0">
                <a:solidFill>
                  <a:srgbClr val="9DB0CC"/>
                </a:solidFill>
                <a:latin typeface="Calibri" pitchFamily="34" charset="0"/>
                <a:ea typeface="Calibri" pitchFamily="34" charset="-122"/>
                <a:cs typeface="Calibri" pitchFamily="34" charset="-120"/>
              </a:rPr>
              <a:t>Vishnu Vardhan   ·   Computer Science &amp; Engineering (Core)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Problem statement</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A single reasoning process fails silently.</a:t>
            </a:r>
            <a:endParaRPr lang="en-US" sz="1350" dirty="0"/>
          </a:p>
        </p:txBody>
      </p:sp>
      <p:sp>
        <p:nvSpPr>
          <p:cNvPr id="4" name="Shape 2"/>
          <p:cNvSpPr/>
          <p:nvPr/>
        </p:nvSpPr>
        <p:spPr>
          <a:xfrm>
            <a:off x="548640" y="1554480"/>
            <a:ext cx="5303520" cy="1783080"/>
          </a:xfrm>
          <a:prstGeom prst="roundRect">
            <a:avLst>
              <a:gd name="adj" fmla="val 3590"/>
            </a:avLst>
          </a:prstGeom>
          <a:solidFill>
            <a:srgbClr val="F1F4F9"/>
          </a:solidFill>
          <a:ln w="12700">
            <a:solidFill>
              <a:srgbClr val="D6DEEA"/>
            </a:solidFill>
            <a:prstDash val="solid"/>
          </a:ln>
        </p:spPr>
      </p:sp>
      <p:sp>
        <p:nvSpPr>
          <p:cNvPr id="5" name="Shape 3"/>
          <p:cNvSpPr/>
          <p:nvPr/>
        </p:nvSpPr>
        <p:spPr>
          <a:xfrm>
            <a:off x="804672" y="1828800"/>
            <a:ext cx="365760" cy="365760"/>
          </a:xfrm>
          <a:prstGeom prst="ellipse">
            <a:avLst/>
          </a:prstGeom>
          <a:solidFill>
            <a:srgbClr val="1B4A8F"/>
          </a:solidFill>
          <a:ln/>
        </p:spPr>
      </p:sp>
      <p:sp>
        <p:nvSpPr>
          <p:cNvPr id="6" name="Text 4"/>
          <p:cNvSpPr/>
          <p:nvPr/>
        </p:nvSpPr>
        <p:spPr>
          <a:xfrm>
            <a:off x="804672" y="1828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7" name="Text 5"/>
          <p:cNvSpPr/>
          <p:nvPr/>
        </p:nvSpPr>
        <p:spPr>
          <a:xfrm>
            <a:off x="1298448" y="1801368"/>
            <a:ext cx="4297680" cy="292608"/>
          </a:xfrm>
          <a:prstGeom prst="rect">
            <a:avLst/>
          </a:prstGeom>
          <a:noFill/>
          <a:ln/>
        </p:spPr>
        <p:txBody>
          <a:bodyPr wrap="square" lIns="0" tIns="0" rIns="0" bIns="0" rtlCol="0" anchor="t"/>
          <a:lstStyle/>
          <a:p>
            <a:pPr indent="0" marL="0">
              <a:buNone/>
            </a:pPr>
            <a:r>
              <a:rPr lang="en-US" sz="1450" b="1" dirty="0">
                <a:solidFill>
                  <a:srgbClr val="10203A"/>
                </a:solidFill>
                <a:latin typeface="Calibri" pitchFamily="34" charset="0"/>
                <a:ea typeface="Calibri" pitchFamily="34" charset="-122"/>
                <a:cs typeface="Calibri" pitchFamily="34" charset="-120"/>
              </a:rPr>
              <a:t>One attempt, never challenged</a:t>
            </a:r>
            <a:endParaRPr lang="en-US" sz="1450" dirty="0"/>
          </a:p>
        </p:txBody>
      </p:sp>
      <p:sp>
        <p:nvSpPr>
          <p:cNvPr id="8" name="Text 6"/>
          <p:cNvSpPr/>
          <p:nvPr/>
        </p:nvSpPr>
        <p:spPr>
          <a:xfrm>
            <a:off x="1298448" y="2139696"/>
            <a:ext cx="4297680" cy="1051560"/>
          </a:xfrm>
          <a:prstGeom prst="rect">
            <a:avLst/>
          </a:prstGeom>
          <a:noFill/>
          <a:ln/>
        </p:spPr>
        <p:txBody>
          <a:bodyPr wrap="square" lIns="0" tIns="0" rIns="0" bIns="0" rtlCol="0" anchor="t"/>
          <a:lstStyle/>
          <a:p>
            <a:pPr indent="0" marL="0">
              <a:buNone/>
            </a:pPr>
            <a:r>
              <a:rPr lang="en-US" sz="1150" dirty="0">
                <a:solidFill>
                  <a:srgbClr val="5A6478"/>
                </a:solidFill>
                <a:latin typeface="Calibri" pitchFamily="34" charset="0"/>
                <a:ea typeface="Calibri" pitchFamily="34" charset="-122"/>
                <a:cs typeface="Calibri" pitchFamily="34" charset="-120"/>
              </a:rPr>
              <a:t>A single pass gives a single answer. Nothing independent ever disagrees, so an error reaches the user unchallenged.</a:t>
            </a:r>
            <a:endParaRPr lang="en-US" sz="1150" dirty="0"/>
          </a:p>
        </p:txBody>
      </p:sp>
      <p:sp>
        <p:nvSpPr>
          <p:cNvPr id="9" name="Shape 7"/>
          <p:cNvSpPr/>
          <p:nvPr/>
        </p:nvSpPr>
        <p:spPr>
          <a:xfrm>
            <a:off x="6126480" y="1554480"/>
            <a:ext cx="5303520" cy="1783080"/>
          </a:xfrm>
          <a:prstGeom prst="roundRect">
            <a:avLst>
              <a:gd name="adj" fmla="val 3590"/>
            </a:avLst>
          </a:prstGeom>
          <a:solidFill>
            <a:srgbClr val="F1F4F9"/>
          </a:solidFill>
          <a:ln w="12700">
            <a:solidFill>
              <a:srgbClr val="D6DEEA"/>
            </a:solidFill>
            <a:prstDash val="solid"/>
          </a:ln>
        </p:spPr>
      </p:sp>
      <p:sp>
        <p:nvSpPr>
          <p:cNvPr id="10" name="Shape 8"/>
          <p:cNvSpPr/>
          <p:nvPr/>
        </p:nvSpPr>
        <p:spPr>
          <a:xfrm>
            <a:off x="6382512" y="1828800"/>
            <a:ext cx="365760" cy="365760"/>
          </a:xfrm>
          <a:prstGeom prst="ellipse">
            <a:avLst/>
          </a:prstGeom>
          <a:solidFill>
            <a:srgbClr val="1B4A8F"/>
          </a:solidFill>
          <a:ln/>
        </p:spPr>
      </p:sp>
      <p:sp>
        <p:nvSpPr>
          <p:cNvPr id="11" name="Text 9"/>
          <p:cNvSpPr/>
          <p:nvPr/>
        </p:nvSpPr>
        <p:spPr>
          <a:xfrm>
            <a:off x="6382512" y="1828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2" name="Text 10"/>
          <p:cNvSpPr/>
          <p:nvPr/>
        </p:nvSpPr>
        <p:spPr>
          <a:xfrm>
            <a:off x="6876288" y="1801368"/>
            <a:ext cx="4297680" cy="292608"/>
          </a:xfrm>
          <a:prstGeom prst="rect">
            <a:avLst/>
          </a:prstGeom>
          <a:noFill/>
          <a:ln/>
        </p:spPr>
        <p:txBody>
          <a:bodyPr wrap="square" lIns="0" tIns="0" rIns="0" bIns="0" rtlCol="0" anchor="t"/>
          <a:lstStyle/>
          <a:p>
            <a:pPr indent="0" marL="0">
              <a:buNone/>
            </a:pPr>
            <a:r>
              <a:rPr lang="en-US" sz="1450" b="1" dirty="0">
                <a:solidFill>
                  <a:srgbClr val="10203A"/>
                </a:solidFill>
                <a:latin typeface="Calibri" pitchFamily="34" charset="0"/>
                <a:ea typeface="Calibri" pitchFamily="34" charset="-122"/>
                <a:cs typeface="Calibri" pitchFamily="34" charset="-120"/>
              </a:rPr>
              <a:t>No verification step</a:t>
            </a:r>
            <a:endParaRPr lang="en-US" sz="1450" dirty="0"/>
          </a:p>
        </p:txBody>
      </p:sp>
      <p:sp>
        <p:nvSpPr>
          <p:cNvPr id="13" name="Text 11"/>
          <p:cNvSpPr/>
          <p:nvPr/>
        </p:nvSpPr>
        <p:spPr>
          <a:xfrm>
            <a:off x="6876288" y="2139696"/>
            <a:ext cx="4297680" cy="1051560"/>
          </a:xfrm>
          <a:prstGeom prst="rect">
            <a:avLst/>
          </a:prstGeom>
          <a:noFill/>
          <a:ln/>
        </p:spPr>
        <p:txBody>
          <a:bodyPr wrap="square" lIns="0" tIns="0" rIns="0" bIns="0" rtlCol="0" anchor="t"/>
          <a:lstStyle/>
          <a:p>
            <a:pPr indent="0" marL="0">
              <a:buNone/>
            </a:pPr>
            <a:r>
              <a:rPr lang="en-US" sz="1150" dirty="0">
                <a:solidFill>
                  <a:srgbClr val="5A6478"/>
                </a:solidFill>
                <a:latin typeface="Calibri" pitchFamily="34" charset="0"/>
                <a:ea typeface="Calibri" pitchFamily="34" charset="-122"/>
                <a:cs typeface="Calibri" pitchFamily="34" charset="-120"/>
              </a:rPr>
              <a:t>The system never asks whether its own answer holds up. Right and wrong answers arrive with identical assurance.</a:t>
            </a:r>
            <a:endParaRPr lang="en-US" sz="1150" dirty="0"/>
          </a:p>
        </p:txBody>
      </p:sp>
      <p:sp>
        <p:nvSpPr>
          <p:cNvPr id="14" name="Shape 12"/>
          <p:cNvSpPr/>
          <p:nvPr/>
        </p:nvSpPr>
        <p:spPr>
          <a:xfrm>
            <a:off x="548640" y="3566160"/>
            <a:ext cx="5303520" cy="1783080"/>
          </a:xfrm>
          <a:prstGeom prst="roundRect">
            <a:avLst>
              <a:gd name="adj" fmla="val 3590"/>
            </a:avLst>
          </a:prstGeom>
          <a:solidFill>
            <a:srgbClr val="F1F4F9"/>
          </a:solidFill>
          <a:ln w="12700">
            <a:solidFill>
              <a:srgbClr val="D6DEEA"/>
            </a:solidFill>
            <a:prstDash val="solid"/>
          </a:ln>
        </p:spPr>
      </p:sp>
      <p:sp>
        <p:nvSpPr>
          <p:cNvPr id="15" name="Shape 13"/>
          <p:cNvSpPr/>
          <p:nvPr/>
        </p:nvSpPr>
        <p:spPr>
          <a:xfrm>
            <a:off x="804672" y="3840480"/>
            <a:ext cx="365760" cy="365760"/>
          </a:xfrm>
          <a:prstGeom prst="ellipse">
            <a:avLst/>
          </a:prstGeom>
          <a:solidFill>
            <a:srgbClr val="1B4A8F"/>
          </a:solidFill>
          <a:ln/>
        </p:spPr>
      </p:sp>
      <p:sp>
        <p:nvSpPr>
          <p:cNvPr id="16" name="Text 14"/>
          <p:cNvSpPr/>
          <p:nvPr/>
        </p:nvSpPr>
        <p:spPr>
          <a:xfrm>
            <a:off x="804672" y="3840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7" name="Text 15"/>
          <p:cNvSpPr/>
          <p:nvPr/>
        </p:nvSpPr>
        <p:spPr>
          <a:xfrm>
            <a:off x="1298448" y="3813048"/>
            <a:ext cx="4297680" cy="292608"/>
          </a:xfrm>
          <a:prstGeom prst="rect">
            <a:avLst/>
          </a:prstGeom>
          <a:noFill/>
          <a:ln/>
        </p:spPr>
        <p:txBody>
          <a:bodyPr wrap="square" lIns="0" tIns="0" rIns="0" bIns="0" rtlCol="0" anchor="t"/>
          <a:lstStyle/>
          <a:p>
            <a:pPr indent="0" marL="0">
              <a:buNone/>
            </a:pPr>
            <a:r>
              <a:rPr lang="en-US" sz="1450" b="1" dirty="0">
                <a:solidFill>
                  <a:srgbClr val="10203A"/>
                </a:solidFill>
                <a:latin typeface="Calibri" pitchFamily="34" charset="0"/>
                <a:ea typeface="Calibri" pitchFamily="34" charset="-122"/>
                <a:cs typeface="Calibri" pitchFamily="34" charset="-120"/>
              </a:rPr>
              <a:t>Confidence carries no information</a:t>
            </a:r>
            <a:endParaRPr lang="en-US" sz="1450" dirty="0"/>
          </a:p>
        </p:txBody>
      </p:sp>
      <p:sp>
        <p:nvSpPr>
          <p:cNvPr id="18" name="Text 16"/>
          <p:cNvSpPr/>
          <p:nvPr/>
        </p:nvSpPr>
        <p:spPr>
          <a:xfrm>
            <a:off x="1298448" y="4151376"/>
            <a:ext cx="4297680" cy="1051560"/>
          </a:xfrm>
          <a:prstGeom prst="rect">
            <a:avLst/>
          </a:prstGeom>
          <a:noFill/>
          <a:ln/>
        </p:spPr>
        <p:txBody>
          <a:bodyPr wrap="square" lIns="0" tIns="0" rIns="0" bIns="0" rtlCol="0" anchor="t"/>
          <a:lstStyle/>
          <a:p>
            <a:pPr indent="0" marL="0">
              <a:buNone/>
            </a:pPr>
            <a:r>
              <a:rPr lang="en-US" sz="1150" dirty="0">
                <a:solidFill>
                  <a:srgbClr val="5A6478"/>
                </a:solidFill>
                <a:latin typeface="Calibri" pitchFamily="34" charset="0"/>
                <a:ea typeface="Calibri" pitchFamily="34" charset="-122"/>
                <a:cs typeface="Calibri" pitchFamily="34" charset="-120"/>
              </a:rPr>
              <a:t>A model that is wrong sounds exactly like a model that is right.</a:t>
            </a:r>
            <a:endParaRPr lang="en-US" sz="1150" dirty="0"/>
          </a:p>
        </p:txBody>
      </p:sp>
      <p:sp>
        <p:nvSpPr>
          <p:cNvPr id="19" name="Shape 17"/>
          <p:cNvSpPr/>
          <p:nvPr/>
        </p:nvSpPr>
        <p:spPr>
          <a:xfrm>
            <a:off x="6126480" y="3566160"/>
            <a:ext cx="5303520" cy="1783080"/>
          </a:xfrm>
          <a:prstGeom prst="roundRect">
            <a:avLst>
              <a:gd name="adj" fmla="val 3590"/>
            </a:avLst>
          </a:prstGeom>
          <a:solidFill>
            <a:srgbClr val="F1F4F9"/>
          </a:solidFill>
          <a:ln w="12700">
            <a:solidFill>
              <a:srgbClr val="D6DEEA"/>
            </a:solidFill>
            <a:prstDash val="solid"/>
          </a:ln>
        </p:spPr>
      </p:sp>
      <p:sp>
        <p:nvSpPr>
          <p:cNvPr id="20" name="Shape 18"/>
          <p:cNvSpPr/>
          <p:nvPr/>
        </p:nvSpPr>
        <p:spPr>
          <a:xfrm>
            <a:off x="6382512" y="3840480"/>
            <a:ext cx="365760" cy="365760"/>
          </a:xfrm>
          <a:prstGeom prst="ellipse">
            <a:avLst/>
          </a:prstGeom>
          <a:solidFill>
            <a:srgbClr val="1B4A8F"/>
          </a:solidFill>
          <a:ln/>
        </p:spPr>
      </p:sp>
      <p:sp>
        <p:nvSpPr>
          <p:cNvPr id="21" name="Text 19"/>
          <p:cNvSpPr/>
          <p:nvPr/>
        </p:nvSpPr>
        <p:spPr>
          <a:xfrm>
            <a:off x="6382512" y="3840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22" name="Text 20"/>
          <p:cNvSpPr/>
          <p:nvPr/>
        </p:nvSpPr>
        <p:spPr>
          <a:xfrm>
            <a:off x="6876288" y="3813048"/>
            <a:ext cx="4297680" cy="292608"/>
          </a:xfrm>
          <a:prstGeom prst="rect">
            <a:avLst/>
          </a:prstGeom>
          <a:noFill/>
          <a:ln/>
        </p:spPr>
        <p:txBody>
          <a:bodyPr wrap="square" lIns="0" tIns="0" rIns="0" bIns="0" rtlCol="0" anchor="t"/>
          <a:lstStyle/>
          <a:p>
            <a:pPr indent="0" marL="0">
              <a:buNone/>
            </a:pPr>
            <a:r>
              <a:rPr lang="en-US" sz="1450" b="1" dirty="0">
                <a:solidFill>
                  <a:srgbClr val="10203A"/>
                </a:solidFill>
                <a:latin typeface="Calibri" pitchFamily="34" charset="0"/>
                <a:ea typeface="Calibri" pitchFamily="34" charset="-122"/>
                <a:cs typeface="Calibri" pitchFamily="34" charset="-120"/>
              </a:rPr>
              <a:t>No inspectable basis</a:t>
            </a:r>
            <a:endParaRPr lang="en-US" sz="1450" dirty="0"/>
          </a:p>
        </p:txBody>
      </p:sp>
      <p:sp>
        <p:nvSpPr>
          <p:cNvPr id="23" name="Text 21"/>
          <p:cNvSpPr/>
          <p:nvPr/>
        </p:nvSpPr>
        <p:spPr>
          <a:xfrm>
            <a:off x="6876288" y="4151376"/>
            <a:ext cx="4297680" cy="1051560"/>
          </a:xfrm>
          <a:prstGeom prst="rect">
            <a:avLst/>
          </a:prstGeom>
          <a:noFill/>
          <a:ln/>
        </p:spPr>
        <p:txBody>
          <a:bodyPr wrap="square" lIns="0" tIns="0" rIns="0" bIns="0" rtlCol="0" anchor="t"/>
          <a:lstStyle/>
          <a:p>
            <a:pPr indent="0" marL="0">
              <a:buNone/>
            </a:pPr>
            <a:r>
              <a:rPr lang="en-US" sz="1150" dirty="0">
                <a:solidFill>
                  <a:srgbClr val="5A6478"/>
                </a:solidFill>
                <a:latin typeface="Calibri" pitchFamily="34" charset="0"/>
                <a:ea typeface="Calibri" pitchFamily="34" charset="-122"/>
                <a:cs typeface="Calibri" pitchFamily="34" charset="-120"/>
              </a:rPr>
              <a:t>The user gets a conclusion with no account of what supported it or where the uncertainty sits.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Project objective</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What the finished system must do — and what Review 1 contributes to it.</a:t>
            </a:r>
            <a:endParaRPr lang="en-US" sz="1350" dirty="0"/>
          </a:p>
        </p:txBody>
      </p:sp>
      <p:sp>
        <p:nvSpPr>
          <p:cNvPr id="4" name="Shape 2"/>
          <p:cNvSpPr/>
          <p:nvPr/>
        </p:nvSpPr>
        <p:spPr>
          <a:xfrm>
            <a:off x="548640" y="1554480"/>
            <a:ext cx="5486400" cy="2286000"/>
          </a:xfrm>
          <a:prstGeom prst="roundRect">
            <a:avLst>
              <a:gd name="adj" fmla="val 2800"/>
            </a:avLst>
          </a:prstGeom>
          <a:solidFill>
            <a:srgbClr val="E8EFFA"/>
          </a:solidFill>
          <a:ln w="12700">
            <a:solidFill>
              <a:srgbClr val="D6DEEA"/>
            </a:solidFill>
            <a:prstDash val="solid"/>
          </a:ln>
        </p:spPr>
      </p:sp>
      <p:sp>
        <p:nvSpPr>
          <p:cNvPr id="5" name="Text 3"/>
          <p:cNvSpPr/>
          <p:nvPr/>
        </p:nvSpPr>
        <p:spPr>
          <a:xfrm>
            <a:off x="868680" y="1755648"/>
            <a:ext cx="4846320" cy="274320"/>
          </a:xfrm>
          <a:prstGeom prst="rect">
            <a:avLst/>
          </a:prstGeom>
          <a:noFill/>
          <a:ln/>
        </p:spPr>
        <p:txBody>
          <a:bodyPr wrap="square" lIns="0" tIns="0" rIns="0" bIns="0" rtlCol="0" anchor="ctr"/>
          <a:lstStyle/>
          <a:p>
            <a:pPr indent="0" marL="0">
              <a:buNone/>
            </a:pPr>
            <a:r>
              <a:rPr lang="en-US" sz="1450" b="1" dirty="0">
                <a:solidFill>
                  <a:srgbClr val="1B4A8F"/>
                </a:solidFill>
                <a:latin typeface="Calibri" pitchFamily="34" charset="0"/>
                <a:ea typeface="Calibri" pitchFamily="34" charset="-122"/>
                <a:cs typeface="Calibri" pitchFamily="34" charset="-120"/>
              </a:rPr>
              <a:t>Overall objective</a:t>
            </a:r>
            <a:endParaRPr lang="en-US" sz="1450" dirty="0"/>
          </a:p>
        </p:txBody>
      </p:sp>
      <p:sp>
        <p:nvSpPr>
          <p:cNvPr id="6" name="Text 4"/>
          <p:cNvSpPr/>
          <p:nvPr/>
        </p:nvSpPr>
        <p:spPr>
          <a:xfrm>
            <a:off x="868680" y="2103120"/>
            <a:ext cx="4846320" cy="1600200"/>
          </a:xfrm>
          <a:prstGeom prst="rect">
            <a:avLst/>
          </a:prstGeom>
          <a:noFill/>
          <a:ln/>
        </p:spPr>
        <p:txBody>
          <a:bodyPr wrap="square" lIns="0" tIns="0" rIns="0" bIns="0" rtlCol="0" anchor="t"/>
          <a:lstStyle/>
          <a:p>
            <a:pPr indent="0" marL="0">
              <a:buNone/>
            </a:pPr>
            <a:r>
              <a:rPr lang="en-US" sz="1250" dirty="0">
                <a:solidFill>
                  <a:srgbClr val="10203A"/>
                </a:solidFill>
                <a:latin typeface="Calibri" pitchFamily="34" charset="0"/>
                <a:ea typeface="Calibri" pitchFamily="34" charset="-122"/>
                <a:cs typeface="Calibri" pitchFamily="34" charset="-120"/>
              </a:rPr>
              <a:t>Build a reasoning system in which several specialised agents solve, criticise and verify the same question, and a coordinator combines them into a final answer together with a machine-readable record of how that answer was reached.</a:t>
            </a:r>
            <a:endParaRPr lang="en-US" sz="1250" dirty="0"/>
          </a:p>
        </p:txBody>
      </p:sp>
      <p:sp>
        <p:nvSpPr>
          <p:cNvPr id="7" name="Shape 5"/>
          <p:cNvSpPr/>
          <p:nvPr/>
        </p:nvSpPr>
        <p:spPr>
          <a:xfrm>
            <a:off x="6309360" y="1554480"/>
            <a:ext cx="5303520" cy="2286000"/>
          </a:xfrm>
          <a:prstGeom prst="roundRect">
            <a:avLst>
              <a:gd name="adj" fmla="val 2800"/>
            </a:avLst>
          </a:prstGeom>
          <a:solidFill>
            <a:srgbClr val="E4F1EA"/>
          </a:solidFill>
          <a:ln w="12700">
            <a:solidFill>
              <a:srgbClr val="D6DEEA"/>
            </a:solidFill>
            <a:prstDash val="solid"/>
          </a:ln>
        </p:spPr>
      </p:sp>
      <p:sp>
        <p:nvSpPr>
          <p:cNvPr id="8" name="Text 6"/>
          <p:cNvSpPr/>
          <p:nvPr/>
        </p:nvSpPr>
        <p:spPr>
          <a:xfrm>
            <a:off x="6629400" y="1755648"/>
            <a:ext cx="4663440" cy="274320"/>
          </a:xfrm>
          <a:prstGeom prst="rect">
            <a:avLst/>
          </a:prstGeom>
          <a:noFill/>
          <a:ln/>
        </p:spPr>
        <p:txBody>
          <a:bodyPr wrap="square" lIns="0" tIns="0" rIns="0" bIns="0" rtlCol="0" anchor="ctr"/>
          <a:lstStyle/>
          <a:p>
            <a:pPr indent="0" marL="0">
              <a:buNone/>
            </a:pPr>
            <a:r>
              <a:rPr lang="en-US" sz="1450" b="1" dirty="0">
                <a:solidFill>
                  <a:srgbClr val="146049"/>
                </a:solidFill>
                <a:latin typeface="Calibri" pitchFamily="34" charset="0"/>
                <a:ea typeface="Calibri" pitchFamily="34" charset="-122"/>
                <a:cs typeface="Calibri" pitchFamily="34" charset="-120"/>
              </a:rPr>
              <a:t>Review 1 objective</a:t>
            </a:r>
            <a:endParaRPr lang="en-US" sz="1450" dirty="0"/>
          </a:p>
        </p:txBody>
      </p:sp>
      <p:sp>
        <p:nvSpPr>
          <p:cNvPr id="9" name="Text 7"/>
          <p:cNvSpPr/>
          <p:nvPr/>
        </p:nvSpPr>
        <p:spPr>
          <a:xfrm>
            <a:off x="6629400" y="2103120"/>
            <a:ext cx="4663440" cy="1600200"/>
          </a:xfrm>
          <a:prstGeom prst="rect">
            <a:avLst/>
          </a:prstGeom>
          <a:noFill/>
          <a:ln/>
        </p:spPr>
        <p:txBody>
          <a:bodyPr wrap="square" lIns="0" tIns="0" rIns="0" bIns="0" rtlCol="0" anchor="t"/>
          <a:lstStyle/>
          <a:p>
            <a:pPr indent="0" marL="0">
              <a:buNone/>
            </a:pPr>
            <a:r>
              <a:rPr lang="en-US" sz="1250" dirty="0">
                <a:solidFill>
                  <a:srgbClr val="14402F"/>
                </a:solidFill>
                <a:latin typeface="Calibri" pitchFamily="34" charset="0"/>
                <a:ea typeface="Calibri" pitchFamily="34" charset="-122"/>
                <a:cs typeface="Calibri" pitchFamily="34" charset="-120"/>
              </a:rPr>
              <a:t>Build the language model those agents will run on — implemented by us, initialised from random weights, and trained from scratch. No pretrained weights at any stage.</a:t>
            </a:r>
            <a:endParaRPr lang="en-US" sz="1250" dirty="0"/>
          </a:p>
        </p:txBody>
      </p:sp>
      <p:sp>
        <p:nvSpPr>
          <p:cNvPr id="10" name="Text 8"/>
          <p:cNvSpPr/>
          <p:nvPr/>
        </p:nvSpPr>
        <p:spPr>
          <a:xfrm>
            <a:off x="548640" y="4069080"/>
            <a:ext cx="7315200" cy="292608"/>
          </a:xfrm>
          <a:prstGeom prst="rect">
            <a:avLst/>
          </a:prstGeom>
          <a:noFill/>
          <a:ln/>
        </p:spPr>
        <p:txBody>
          <a:bodyPr wrap="square" lIns="0" tIns="0" rIns="0" bIns="0" rtlCol="0" anchor="ctr"/>
          <a:lstStyle/>
          <a:p>
            <a:pPr indent="0" marL="0">
              <a:buNone/>
            </a:pPr>
            <a:r>
              <a:rPr lang="en-US" sz="1400" b="1" dirty="0">
                <a:solidFill>
                  <a:srgbClr val="10203A"/>
                </a:solidFill>
                <a:latin typeface="Calibri" pitchFamily="34" charset="0"/>
                <a:ea typeface="Calibri" pitchFamily="34" charset="-122"/>
                <a:cs typeface="Calibri" pitchFamily="34" charset="-120"/>
              </a:rPr>
              <a:t>Six sub-objectives for Review 1</a:t>
            </a:r>
            <a:endParaRPr lang="en-US" sz="1400" dirty="0"/>
          </a:p>
        </p:txBody>
      </p:sp>
      <p:sp>
        <p:nvSpPr>
          <p:cNvPr id="11" name="Shape 9"/>
          <p:cNvSpPr/>
          <p:nvPr/>
        </p:nvSpPr>
        <p:spPr>
          <a:xfrm>
            <a:off x="548640" y="4535424"/>
            <a:ext cx="274320" cy="274320"/>
          </a:xfrm>
          <a:prstGeom prst="ellipse">
            <a:avLst/>
          </a:prstGeom>
          <a:solidFill>
            <a:srgbClr val="E4F1EA"/>
          </a:solidFill>
          <a:ln w="12700">
            <a:solidFill>
              <a:srgbClr val="146049"/>
            </a:solidFill>
            <a:prstDash val="solid"/>
          </a:ln>
        </p:spPr>
      </p:sp>
      <p:sp>
        <p:nvSpPr>
          <p:cNvPr id="12" name="Text 10"/>
          <p:cNvSpPr/>
          <p:nvPr/>
        </p:nvSpPr>
        <p:spPr>
          <a:xfrm>
            <a:off x="548640" y="4535424"/>
            <a:ext cx="274320" cy="274320"/>
          </a:xfrm>
          <a:prstGeom prst="rect">
            <a:avLst/>
          </a:prstGeom>
          <a:noFill/>
          <a:ln/>
        </p:spPr>
        <p:txBody>
          <a:bodyPr wrap="square" lIns="0" tIns="0" rIns="0" bIns="0" rtlCol="0" anchor="ctr"/>
          <a:lstStyle/>
          <a:p>
            <a:pPr algn="ctr" indent="0" marL="0">
              <a:buNone/>
            </a:pPr>
            <a:r>
              <a:rPr lang="en-US" sz="1100" b="1" dirty="0">
                <a:solidFill>
                  <a:srgbClr val="146049"/>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914400" y="4480560"/>
            <a:ext cx="3200400" cy="502920"/>
          </a:xfrm>
          <a:prstGeom prst="rect">
            <a:avLst/>
          </a:prstGeom>
          <a:noFill/>
          <a:ln/>
        </p:spPr>
        <p:txBody>
          <a:bodyPr wrap="square" lIns="0" tIns="0" rIns="0" bIns="0" rtlCol="0" anchor="t"/>
          <a:lstStyle/>
          <a:p>
            <a:pPr indent="0" marL="0">
              <a:buNone/>
            </a:pPr>
            <a:r>
              <a:rPr lang="en-US" sz="1150" dirty="0">
                <a:solidFill>
                  <a:srgbClr val="10203A"/>
                </a:solidFill>
                <a:latin typeface="Calibri" pitchFamily="34" charset="0"/>
                <a:ea typeface="Calibri" pitchFamily="34" charset="-122"/>
                <a:cs typeface="Calibri" pitchFamily="34" charset="-120"/>
              </a:rPr>
              <a:t>Select and preprocess a suitable corpus</a:t>
            </a:r>
            <a:endParaRPr lang="en-US" sz="1150" dirty="0"/>
          </a:p>
        </p:txBody>
      </p:sp>
      <p:sp>
        <p:nvSpPr>
          <p:cNvPr id="14" name="Shape 12"/>
          <p:cNvSpPr/>
          <p:nvPr/>
        </p:nvSpPr>
        <p:spPr>
          <a:xfrm>
            <a:off x="4270248" y="4535424"/>
            <a:ext cx="274320" cy="274320"/>
          </a:xfrm>
          <a:prstGeom prst="ellipse">
            <a:avLst/>
          </a:prstGeom>
          <a:solidFill>
            <a:srgbClr val="E4F1EA"/>
          </a:solidFill>
          <a:ln w="12700">
            <a:solidFill>
              <a:srgbClr val="146049"/>
            </a:solidFill>
            <a:prstDash val="solid"/>
          </a:ln>
        </p:spPr>
      </p:sp>
      <p:sp>
        <p:nvSpPr>
          <p:cNvPr id="15" name="Text 13"/>
          <p:cNvSpPr/>
          <p:nvPr/>
        </p:nvSpPr>
        <p:spPr>
          <a:xfrm>
            <a:off x="4270248" y="4535424"/>
            <a:ext cx="274320" cy="274320"/>
          </a:xfrm>
          <a:prstGeom prst="rect">
            <a:avLst/>
          </a:prstGeom>
          <a:noFill/>
          <a:ln/>
        </p:spPr>
        <p:txBody>
          <a:bodyPr wrap="square" lIns="0" tIns="0" rIns="0" bIns="0" rtlCol="0" anchor="ctr"/>
          <a:lstStyle/>
          <a:p>
            <a:pPr algn="ctr" indent="0" marL="0">
              <a:buNone/>
            </a:pPr>
            <a:r>
              <a:rPr lang="en-US" sz="1100" b="1" dirty="0">
                <a:solidFill>
                  <a:srgbClr val="146049"/>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4636008" y="4480560"/>
            <a:ext cx="3200400" cy="502920"/>
          </a:xfrm>
          <a:prstGeom prst="rect">
            <a:avLst/>
          </a:prstGeom>
          <a:noFill/>
          <a:ln/>
        </p:spPr>
        <p:txBody>
          <a:bodyPr wrap="square" lIns="0" tIns="0" rIns="0" bIns="0" rtlCol="0" anchor="t"/>
          <a:lstStyle/>
          <a:p>
            <a:pPr indent="0" marL="0">
              <a:buNone/>
            </a:pPr>
            <a:r>
              <a:rPr lang="en-US" sz="1150" dirty="0">
                <a:solidFill>
                  <a:srgbClr val="10203A"/>
                </a:solidFill>
                <a:latin typeface="Calibri" pitchFamily="34" charset="0"/>
                <a:ea typeface="Calibri" pitchFamily="34" charset="-122"/>
                <a:cs typeface="Calibri" pitchFamily="34" charset="-120"/>
              </a:rPr>
              <a:t>Implement our own BPE tokenizer</a:t>
            </a:r>
            <a:endParaRPr lang="en-US" sz="1150" dirty="0"/>
          </a:p>
        </p:txBody>
      </p:sp>
      <p:sp>
        <p:nvSpPr>
          <p:cNvPr id="17" name="Shape 15"/>
          <p:cNvSpPr/>
          <p:nvPr/>
        </p:nvSpPr>
        <p:spPr>
          <a:xfrm>
            <a:off x="7991856" y="4535424"/>
            <a:ext cx="274320" cy="274320"/>
          </a:xfrm>
          <a:prstGeom prst="ellipse">
            <a:avLst/>
          </a:prstGeom>
          <a:solidFill>
            <a:srgbClr val="E4F1EA"/>
          </a:solidFill>
          <a:ln w="12700">
            <a:solidFill>
              <a:srgbClr val="146049"/>
            </a:solidFill>
            <a:prstDash val="solid"/>
          </a:ln>
        </p:spPr>
      </p:sp>
      <p:sp>
        <p:nvSpPr>
          <p:cNvPr id="18" name="Text 16"/>
          <p:cNvSpPr/>
          <p:nvPr/>
        </p:nvSpPr>
        <p:spPr>
          <a:xfrm>
            <a:off x="7991856" y="4535424"/>
            <a:ext cx="274320" cy="274320"/>
          </a:xfrm>
          <a:prstGeom prst="rect">
            <a:avLst/>
          </a:prstGeom>
          <a:noFill/>
          <a:ln/>
        </p:spPr>
        <p:txBody>
          <a:bodyPr wrap="square" lIns="0" tIns="0" rIns="0" bIns="0" rtlCol="0" anchor="ctr"/>
          <a:lstStyle/>
          <a:p>
            <a:pPr algn="ctr" indent="0" marL="0">
              <a:buNone/>
            </a:pPr>
            <a:r>
              <a:rPr lang="en-US" sz="1100" b="1" dirty="0">
                <a:solidFill>
                  <a:srgbClr val="146049"/>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8357616" y="4480560"/>
            <a:ext cx="3200400" cy="502920"/>
          </a:xfrm>
          <a:prstGeom prst="rect">
            <a:avLst/>
          </a:prstGeom>
          <a:noFill/>
          <a:ln/>
        </p:spPr>
        <p:txBody>
          <a:bodyPr wrap="square" lIns="0" tIns="0" rIns="0" bIns="0" rtlCol="0" anchor="t"/>
          <a:lstStyle/>
          <a:p>
            <a:pPr indent="0" marL="0">
              <a:buNone/>
            </a:pPr>
            <a:r>
              <a:rPr lang="en-US" sz="1150" dirty="0">
                <a:solidFill>
                  <a:srgbClr val="10203A"/>
                </a:solidFill>
                <a:latin typeface="Calibri" pitchFamily="34" charset="0"/>
                <a:ea typeface="Calibri" pitchFamily="34" charset="-122"/>
                <a:cs typeface="Calibri" pitchFamily="34" charset="-120"/>
              </a:rPr>
              <a:t>Implement a decoder-only Transformer</a:t>
            </a:r>
            <a:endParaRPr lang="en-US" sz="1150" dirty="0"/>
          </a:p>
        </p:txBody>
      </p:sp>
      <p:sp>
        <p:nvSpPr>
          <p:cNvPr id="20" name="Shape 18"/>
          <p:cNvSpPr/>
          <p:nvPr/>
        </p:nvSpPr>
        <p:spPr>
          <a:xfrm>
            <a:off x="548640" y="5221224"/>
            <a:ext cx="274320" cy="274320"/>
          </a:xfrm>
          <a:prstGeom prst="ellipse">
            <a:avLst/>
          </a:prstGeom>
          <a:solidFill>
            <a:srgbClr val="E4F1EA"/>
          </a:solidFill>
          <a:ln w="12700">
            <a:solidFill>
              <a:srgbClr val="146049"/>
            </a:solidFill>
            <a:prstDash val="solid"/>
          </a:ln>
        </p:spPr>
      </p:sp>
      <p:sp>
        <p:nvSpPr>
          <p:cNvPr id="21" name="Text 19"/>
          <p:cNvSpPr/>
          <p:nvPr/>
        </p:nvSpPr>
        <p:spPr>
          <a:xfrm>
            <a:off x="548640" y="5221224"/>
            <a:ext cx="274320" cy="274320"/>
          </a:xfrm>
          <a:prstGeom prst="rect">
            <a:avLst/>
          </a:prstGeom>
          <a:noFill/>
          <a:ln/>
        </p:spPr>
        <p:txBody>
          <a:bodyPr wrap="square" lIns="0" tIns="0" rIns="0" bIns="0" rtlCol="0" anchor="ctr"/>
          <a:lstStyle/>
          <a:p>
            <a:pPr algn="ctr" indent="0" marL="0">
              <a:buNone/>
            </a:pPr>
            <a:r>
              <a:rPr lang="en-US" sz="1100" b="1" dirty="0">
                <a:solidFill>
                  <a:srgbClr val="146049"/>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14400" y="5166360"/>
            <a:ext cx="3200400" cy="502920"/>
          </a:xfrm>
          <a:prstGeom prst="rect">
            <a:avLst/>
          </a:prstGeom>
          <a:noFill/>
          <a:ln/>
        </p:spPr>
        <p:txBody>
          <a:bodyPr wrap="square" lIns="0" tIns="0" rIns="0" bIns="0" rtlCol="0" anchor="t"/>
          <a:lstStyle/>
          <a:p>
            <a:pPr indent="0" marL="0">
              <a:buNone/>
            </a:pPr>
            <a:r>
              <a:rPr lang="en-US" sz="1150" dirty="0">
                <a:solidFill>
                  <a:srgbClr val="10203A"/>
                </a:solidFill>
                <a:latin typeface="Calibri" pitchFamily="34" charset="0"/>
                <a:ea typeface="Calibri" pitchFamily="34" charset="-122"/>
                <a:cs typeface="Calibri" pitchFamily="34" charset="-120"/>
              </a:rPr>
              <a:t>Initialise randomly and train from scratch</a:t>
            </a:r>
            <a:endParaRPr lang="en-US" sz="1150" dirty="0"/>
          </a:p>
        </p:txBody>
      </p:sp>
      <p:sp>
        <p:nvSpPr>
          <p:cNvPr id="23" name="Shape 21"/>
          <p:cNvSpPr/>
          <p:nvPr/>
        </p:nvSpPr>
        <p:spPr>
          <a:xfrm>
            <a:off x="4270248" y="5221224"/>
            <a:ext cx="274320" cy="274320"/>
          </a:xfrm>
          <a:prstGeom prst="ellipse">
            <a:avLst/>
          </a:prstGeom>
          <a:solidFill>
            <a:srgbClr val="E4F1EA"/>
          </a:solidFill>
          <a:ln w="12700">
            <a:solidFill>
              <a:srgbClr val="146049"/>
            </a:solidFill>
            <a:prstDash val="solid"/>
          </a:ln>
        </p:spPr>
      </p:sp>
      <p:sp>
        <p:nvSpPr>
          <p:cNvPr id="24" name="Text 22"/>
          <p:cNvSpPr/>
          <p:nvPr/>
        </p:nvSpPr>
        <p:spPr>
          <a:xfrm>
            <a:off x="4270248" y="5221224"/>
            <a:ext cx="274320" cy="274320"/>
          </a:xfrm>
          <a:prstGeom prst="rect">
            <a:avLst/>
          </a:prstGeom>
          <a:noFill/>
          <a:ln/>
        </p:spPr>
        <p:txBody>
          <a:bodyPr wrap="square" lIns="0" tIns="0" rIns="0" bIns="0" rtlCol="0" anchor="ctr"/>
          <a:lstStyle/>
          <a:p>
            <a:pPr algn="ctr" indent="0" marL="0">
              <a:buNone/>
            </a:pPr>
            <a:r>
              <a:rPr lang="en-US" sz="1100" b="1" dirty="0">
                <a:solidFill>
                  <a:srgbClr val="146049"/>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4636008" y="5166360"/>
            <a:ext cx="3200400" cy="502920"/>
          </a:xfrm>
          <a:prstGeom prst="rect">
            <a:avLst/>
          </a:prstGeom>
          <a:noFill/>
          <a:ln/>
        </p:spPr>
        <p:txBody>
          <a:bodyPr wrap="square" lIns="0" tIns="0" rIns="0" bIns="0" rtlCol="0" anchor="t"/>
          <a:lstStyle/>
          <a:p>
            <a:pPr indent="0" marL="0">
              <a:buNone/>
            </a:pPr>
            <a:r>
              <a:rPr lang="en-US" sz="1150" dirty="0">
                <a:solidFill>
                  <a:srgbClr val="10203A"/>
                </a:solidFill>
                <a:latin typeface="Calibri" pitchFamily="34" charset="0"/>
                <a:ea typeface="Calibri" pitchFamily="34" charset="-122"/>
                <a:cs typeface="Calibri" pitchFamily="34" charset="-120"/>
              </a:rPr>
              <a:t>Validate, checkpoint and reload</a:t>
            </a:r>
            <a:endParaRPr lang="en-US" sz="1150" dirty="0"/>
          </a:p>
        </p:txBody>
      </p:sp>
      <p:sp>
        <p:nvSpPr>
          <p:cNvPr id="26" name="Shape 24"/>
          <p:cNvSpPr/>
          <p:nvPr/>
        </p:nvSpPr>
        <p:spPr>
          <a:xfrm>
            <a:off x="7991856" y="5221224"/>
            <a:ext cx="274320" cy="274320"/>
          </a:xfrm>
          <a:prstGeom prst="ellipse">
            <a:avLst/>
          </a:prstGeom>
          <a:solidFill>
            <a:srgbClr val="E4F1EA"/>
          </a:solidFill>
          <a:ln w="12700">
            <a:solidFill>
              <a:srgbClr val="146049"/>
            </a:solidFill>
            <a:prstDash val="solid"/>
          </a:ln>
        </p:spPr>
      </p:sp>
      <p:sp>
        <p:nvSpPr>
          <p:cNvPr id="27" name="Text 25"/>
          <p:cNvSpPr/>
          <p:nvPr/>
        </p:nvSpPr>
        <p:spPr>
          <a:xfrm>
            <a:off x="7991856" y="5221224"/>
            <a:ext cx="274320" cy="274320"/>
          </a:xfrm>
          <a:prstGeom prst="rect">
            <a:avLst/>
          </a:prstGeom>
          <a:noFill/>
          <a:ln/>
        </p:spPr>
        <p:txBody>
          <a:bodyPr wrap="square" lIns="0" tIns="0" rIns="0" bIns="0" rtlCol="0" anchor="ctr"/>
          <a:lstStyle/>
          <a:p>
            <a:pPr algn="ctr" indent="0" marL="0">
              <a:buNone/>
            </a:pPr>
            <a:r>
              <a:rPr lang="en-US" sz="1100" b="1" dirty="0">
                <a:solidFill>
                  <a:srgbClr val="146049"/>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8357616" y="5166360"/>
            <a:ext cx="3200400" cy="502920"/>
          </a:xfrm>
          <a:prstGeom prst="rect">
            <a:avLst/>
          </a:prstGeom>
          <a:noFill/>
          <a:ln/>
        </p:spPr>
        <p:txBody>
          <a:bodyPr wrap="square" lIns="0" tIns="0" rIns="0" bIns="0" rtlCol="0" anchor="t"/>
          <a:lstStyle/>
          <a:p>
            <a:pPr indent="0" marL="0">
              <a:buNone/>
            </a:pPr>
            <a:r>
              <a:rPr lang="en-US" sz="1150" dirty="0">
                <a:solidFill>
                  <a:srgbClr val="10203A"/>
                </a:solidFill>
                <a:latin typeface="Calibri" pitchFamily="34" charset="0"/>
                <a:ea typeface="Calibri" pitchFamily="34" charset="-122"/>
                <a:cs typeface="Calibri" pitchFamily="34" charset="-120"/>
              </a:rPr>
              <a:t>Generate text and measure loss + perplexity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Final project vision</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Where this is going. One slide only — the detail belongs to Reviews 3 and 4.</a:t>
            </a:r>
            <a:endParaRPr lang="en-US" sz="1350" dirty="0"/>
          </a:p>
        </p:txBody>
      </p:sp>
      <p:sp>
        <p:nvSpPr>
          <p:cNvPr id="4" name="Shape 2"/>
          <p:cNvSpPr/>
          <p:nvPr/>
        </p:nvSpPr>
        <p:spPr>
          <a:xfrm>
            <a:off x="548640" y="2788920"/>
            <a:ext cx="1005840" cy="502920"/>
          </a:xfrm>
          <a:prstGeom prst="roundRect">
            <a:avLst>
              <a:gd name="adj" fmla="val 12727"/>
            </a:avLst>
          </a:prstGeom>
          <a:solidFill>
            <a:srgbClr val="FFFFFF"/>
          </a:solidFill>
          <a:ln w="12700">
            <a:solidFill>
              <a:srgbClr val="D6DEEA"/>
            </a:solidFill>
            <a:prstDash val="solid"/>
          </a:ln>
        </p:spPr>
      </p:sp>
      <p:sp>
        <p:nvSpPr>
          <p:cNvPr id="5" name="Text 3"/>
          <p:cNvSpPr/>
          <p:nvPr/>
        </p:nvSpPr>
        <p:spPr>
          <a:xfrm>
            <a:off x="548640" y="2788920"/>
            <a:ext cx="1005840" cy="502920"/>
          </a:xfrm>
          <a:prstGeom prst="rect">
            <a:avLst/>
          </a:prstGeom>
          <a:noFill/>
          <a:ln/>
        </p:spPr>
        <p:txBody>
          <a:bodyPr wrap="square" lIns="0" tIns="0" rIns="0" bIns="0" rtlCol="0" anchor="ctr"/>
          <a:lstStyle/>
          <a:p>
            <a:pPr algn="ctr" indent="0" marL="0">
              <a:buNone/>
            </a:pPr>
            <a:r>
              <a:rPr lang="en-US" sz="1200" dirty="0">
                <a:solidFill>
                  <a:srgbClr val="10203A"/>
                </a:solidFill>
                <a:latin typeface="Calibri" pitchFamily="34" charset="0"/>
                <a:ea typeface="Calibri" pitchFamily="34" charset="-122"/>
                <a:cs typeface="Calibri" pitchFamily="34" charset="-120"/>
              </a:rPr>
              <a:t>question</a:t>
            </a:r>
            <a:endParaRPr lang="en-US" sz="1200" dirty="0"/>
          </a:p>
        </p:txBody>
      </p:sp>
      <p:sp>
        <p:nvSpPr>
          <p:cNvPr id="6" name="Shape 4"/>
          <p:cNvSpPr/>
          <p:nvPr/>
        </p:nvSpPr>
        <p:spPr>
          <a:xfrm>
            <a:off x="1737360" y="2084832"/>
            <a:ext cx="0" cy="2286000"/>
          </a:xfrm>
          <a:prstGeom prst="line">
            <a:avLst/>
          </a:prstGeom>
          <a:noFill/>
          <a:ln w="15875">
            <a:solidFill>
              <a:srgbClr val="5A6478"/>
            </a:solidFill>
            <a:prstDash val="solid"/>
          </a:ln>
        </p:spPr>
      </p:sp>
      <p:sp>
        <p:nvSpPr>
          <p:cNvPr id="7" name="Shape 5"/>
          <p:cNvSpPr/>
          <p:nvPr/>
        </p:nvSpPr>
        <p:spPr>
          <a:xfrm>
            <a:off x="1554480" y="3035808"/>
            <a:ext cx="182880" cy="0"/>
          </a:xfrm>
          <a:prstGeom prst="line">
            <a:avLst/>
          </a:prstGeom>
          <a:noFill/>
          <a:ln w="15875">
            <a:solidFill>
              <a:srgbClr val="5A6478"/>
            </a:solidFill>
            <a:prstDash val="solid"/>
            <a:tailEnd type="triangle"/>
          </a:ln>
        </p:spPr>
      </p:sp>
      <p:sp>
        <p:nvSpPr>
          <p:cNvPr id="8" name="Shape 6"/>
          <p:cNvSpPr/>
          <p:nvPr/>
        </p:nvSpPr>
        <p:spPr>
          <a:xfrm>
            <a:off x="2011680" y="1828800"/>
            <a:ext cx="1920240" cy="548640"/>
          </a:xfrm>
          <a:prstGeom prst="roundRect">
            <a:avLst>
              <a:gd name="adj" fmla="val 11667"/>
            </a:avLst>
          </a:prstGeom>
          <a:solidFill>
            <a:srgbClr val="FFFFFF"/>
          </a:solidFill>
          <a:ln w="12700">
            <a:solidFill>
              <a:srgbClr val="D6DEEA"/>
            </a:solidFill>
            <a:prstDash val="solid"/>
          </a:ln>
        </p:spPr>
      </p:sp>
      <p:sp>
        <p:nvSpPr>
          <p:cNvPr id="9" name="Text 7"/>
          <p:cNvSpPr/>
          <p:nvPr/>
        </p:nvSpPr>
        <p:spPr>
          <a:xfrm>
            <a:off x="2011680" y="1828800"/>
            <a:ext cx="1920240" cy="548640"/>
          </a:xfrm>
          <a:prstGeom prst="rect">
            <a:avLst/>
          </a:prstGeom>
          <a:noFill/>
          <a:ln/>
        </p:spPr>
        <p:txBody>
          <a:bodyPr wrap="square" lIns="0" tIns="0" rIns="0" bIns="0" rtlCol="0" anchor="ctr"/>
          <a:lstStyle/>
          <a:p>
            <a:pPr algn="ctr" indent="0" marL="0">
              <a:buNone/>
            </a:pPr>
            <a:r>
              <a:rPr lang="en-US" sz="1050" dirty="0">
                <a:solidFill>
                  <a:srgbClr val="10203A"/>
                </a:solidFill>
                <a:latin typeface="Courier New" pitchFamily="34" charset="0"/>
                <a:ea typeface="Courier New" pitchFamily="34" charset="-122"/>
                <a:cs typeface="Courier New" pitchFamily="34" charset="-120"/>
              </a:rPr>
              <a:t>&lt;|solver|&gt;</a:t>
            </a:r>
            <a:endParaRPr lang="en-US" sz="1050" dirty="0"/>
          </a:p>
        </p:txBody>
      </p:sp>
      <p:sp>
        <p:nvSpPr>
          <p:cNvPr id="10" name="Shape 8"/>
          <p:cNvSpPr/>
          <p:nvPr/>
        </p:nvSpPr>
        <p:spPr>
          <a:xfrm>
            <a:off x="1737360" y="2103120"/>
            <a:ext cx="237744" cy="0"/>
          </a:xfrm>
          <a:prstGeom prst="line">
            <a:avLst/>
          </a:prstGeom>
          <a:noFill/>
          <a:ln w="15875">
            <a:solidFill>
              <a:srgbClr val="5A6478"/>
            </a:solidFill>
            <a:prstDash val="solid"/>
            <a:tailEnd type="triangle"/>
          </a:ln>
        </p:spPr>
      </p:sp>
      <p:sp>
        <p:nvSpPr>
          <p:cNvPr id="11" name="Shape 9"/>
          <p:cNvSpPr/>
          <p:nvPr/>
        </p:nvSpPr>
        <p:spPr>
          <a:xfrm>
            <a:off x="3931920" y="2103120"/>
            <a:ext cx="365760" cy="0"/>
          </a:xfrm>
          <a:prstGeom prst="line">
            <a:avLst/>
          </a:prstGeom>
          <a:noFill/>
          <a:ln w="15875">
            <a:solidFill>
              <a:srgbClr val="5A6478"/>
            </a:solidFill>
            <a:prstDash val="solid"/>
            <a:tailEnd type="triangle"/>
          </a:ln>
        </p:spPr>
      </p:sp>
      <p:sp>
        <p:nvSpPr>
          <p:cNvPr id="12" name="Shape 10"/>
          <p:cNvSpPr/>
          <p:nvPr/>
        </p:nvSpPr>
        <p:spPr>
          <a:xfrm>
            <a:off x="2011680" y="2587752"/>
            <a:ext cx="1920240" cy="548640"/>
          </a:xfrm>
          <a:prstGeom prst="roundRect">
            <a:avLst>
              <a:gd name="adj" fmla="val 11667"/>
            </a:avLst>
          </a:prstGeom>
          <a:solidFill>
            <a:srgbClr val="FFFFFF"/>
          </a:solidFill>
          <a:ln w="12700">
            <a:solidFill>
              <a:srgbClr val="D6DEEA"/>
            </a:solidFill>
            <a:prstDash val="solid"/>
          </a:ln>
        </p:spPr>
      </p:sp>
      <p:sp>
        <p:nvSpPr>
          <p:cNvPr id="13" name="Text 11"/>
          <p:cNvSpPr/>
          <p:nvPr/>
        </p:nvSpPr>
        <p:spPr>
          <a:xfrm>
            <a:off x="2011680" y="2587752"/>
            <a:ext cx="1920240" cy="548640"/>
          </a:xfrm>
          <a:prstGeom prst="rect">
            <a:avLst/>
          </a:prstGeom>
          <a:noFill/>
          <a:ln/>
        </p:spPr>
        <p:txBody>
          <a:bodyPr wrap="square" lIns="0" tIns="0" rIns="0" bIns="0" rtlCol="0" anchor="ctr"/>
          <a:lstStyle/>
          <a:p>
            <a:pPr algn="ctr" indent="0" marL="0">
              <a:buNone/>
            </a:pPr>
            <a:r>
              <a:rPr lang="en-US" sz="1050" dirty="0">
                <a:solidFill>
                  <a:srgbClr val="10203A"/>
                </a:solidFill>
                <a:latin typeface="Courier New" pitchFamily="34" charset="0"/>
                <a:ea typeface="Courier New" pitchFamily="34" charset="-122"/>
                <a:cs typeface="Courier New" pitchFamily="34" charset="-120"/>
              </a:rPr>
              <a:t>&lt;|critic|&gt;</a:t>
            </a:r>
            <a:endParaRPr lang="en-US" sz="1050" dirty="0"/>
          </a:p>
        </p:txBody>
      </p:sp>
      <p:sp>
        <p:nvSpPr>
          <p:cNvPr id="14" name="Shape 12"/>
          <p:cNvSpPr/>
          <p:nvPr/>
        </p:nvSpPr>
        <p:spPr>
          <a:xfrm>
            <a:off x="1737360" y="2862072"/>
            <a:ext cx="237744" cy="0"/>
          </a:xfrm>
          <a:prstGeom prst="line">
            <a:avLst/>
          </a:prstGeom>
          <a:noFill/>
          <a:ln w="15875">
            <a:solidFill>
              <a:srgbClr val="5A6478"/>
            </a:solidFill>
            <a:prstDash val="solid"/>
            <a:tailEnd type="triangle"/>
          </a:ln>
        </p:spPr>
      </p:sp>
      <p:sp>
        <p:nvSpPr>
          <p:cNvPr id="15" name="Shape 13"/>
          <p:cNvSpPr/>
          <p:nvPr/>
        </p:nvSpPr>
        <p:spPr>
          <a:xfrm>
            <a:off x="3931920" y="2862072"/>
            <a:ext cx="365760" cy="0"/>
          </a:xfrm>
          <a:prstGeom prst="line">
            <a:avLst/>
          </a:prstGeom>
          <a:noFill/>
          <a:ln w="15875">
            <a:solidFill>
              <a:srgbClr val="5A6478"/>
            </a:solidFill>
            <a:prstDash val="solid"/>
            <a:tailEnd type="triangle"/>
          </a:ln>
        </p:spPr>
      </p:sp>
      <p:sp>
        <p:nvSpPr>
          <p:cNvPr id="16" name="Shape 14"/>
          <p:cNvSpPr/>
          <p:nvPr/>
        </p:nvSpPr>
        <p:spPr>
          <a:xfrm>
            <a:off x="2011680" y="3346704"/>
            <a:ext cx="1920240" cy="548640"/>
          </a:xfrm>
          <a:prstGeom prst="roundRect">
            <a:avLst>
              <a:gd name="adj" fmla="val 11667"/>
            </a:avLst>
          </a:prstGeom>
          <a:solidFill>
            <a:srgbClr val="FFFFFF"/>
          </a:solidFill>
          <a:ln w="12700">
            <a:solidFill>
              <a:srgbClr val="D6DEEA"/>
            </a:solidFill>
            <a:prstDash val="solid"/>
          </a:ln>
        </p:spPr>
      </p:sp>
      <p:sp>
        <p:nvSpPr>
          <p:cNvPr id="17" name="Text 15"/>
          <p:cNvSpPr/>
          <p:nvPr/>
        </p:nvSpPr>
        <p:spPr>
          <a:xfrm>
            <a:off x="2011680" y="3346704"/>
            <a:ext cx="1920240" cy="548640"/>
          </a:xfrm>
          <a:prstGeom prst="rect">
            <a:avLst/>
          </a:prstGeom>
          <a:noFill/>
          <a:ln/>
        </p:spPr>
        <p:txBody>
          <a:bodyPr wrap="square" lIns="0" tIns="0" rIns="0" bIns="0" rtlCol="0" anchor="ctr"/>
          <a:lstStyle/>
          <a:p>
            <a:pPr algn="ctr" indent="0" marL="0">
              <a:buNone/>
            </a:pPr>
            <a:r>
              <a:rPr lang="en-US" sz="1050" dirty="0">
                <a:solidFill>
                  <a:srgbClr val="10203A"/>
                </a:solidFill>
                <a:latin typeface="Courier New" pitchFamily="34" charset="0"/>
                <a:ea typeface="Courier New" pitchFamily="34" charset="-122"/>
                <a:cs typeface="Courier New" pitchFamily="34" charset="-120"/>
              </a:rPr>
              <a:t>&lt;|verifier|&gt;</a:t>
            </a:r>
            <a:endParaRPr lang="en-US" sz="1050" dirty="0"/>
          </a:p>
        </p:txBody>
      </p:sp>
      <p:sp>
        <p:nvSpPr>
          <p:cNvPr id="18" name="Shape 16"/>
          <p:cNvSpPr/>
          <p:nvPr/>
        </p:nvSpPr>
        <p:spPr>
          <a:xfrm>
            <a:off x="1737360" y="3621024"/>
            <a:ext cx="237744" cy="0"/>
          </a:xfrm>
          <a:prstGeom prst="line">
            <a:avLst/>
          </a:prstGeom>
          <a:noFill/>
          <a:ln w="15875">
            <a:solidFill>
              <a:srgbClr val="5A6478"/>
            </a:solidFill>
            <a:prstDash val="solid"/>
            <a:tailEnd type="triangle"/>
          </a:ln>
        </p:spPr>
      </p:sp>
      <p:sp>
        <p:nvSpPr>
          <p:cNvPr id="19" name="Shape 17"/>
          <p:cNvSpPr/>
          <p:nvPr/>
        </p:nvSpPr>
        <p:spPr>
          <a:xfrm>
            <a:off x="3931920" y="3621024"/>
            <a:ext cx="365760" cy="0"/>
          </a:xfrm>
          <a:prstGeom prst="line">
            <a:avLst/>
          </a:prstGeom>
          <a:noFill/>
          <a:ln w="15875">
            <a:solidFill>
              <a:srgbClr val="5A6478"/>
            </a:solidFill>
            <a:prstDash val="solid"/>
            <a:tailEnd type="triangle"/>
          </a:ln>
        </p:spPr>
      </p:sp>
      <p:sp>
        <p:nvSpPr>
          <p:cNvPr id="20" name="Shape 18"/>
          <p:cNvSpPr/>
          <p:nvPr/>
        </p:nvSpPr>
        <p:spPr>
          <a:xfrm>
            <a:off x="2011680" y="4105656"/>
            <a:ext cx="1920240" cy="548640"/>
          </a:xfrm>
          <a:prstGeom prst="roundRect">
            <a:avLst>
              <a:gd name="adj" fmla="val 11667"/>
            </a:avLst>
          </a:prstGeom>
          <a:solidFill>
            <a:srgbClr val="FFFFFF"/>
          </a:solidFill>
          <a:ln w="12700">
            <a:solidFill>
              <a:srgbClr val="D6DEEA"/>
            </a:solidFill>
            <a:prstDash val="solid"/>
          </a:ln>
        </p:spPr>
      </p:sp>
      <p:sp>
        <p:nvSpPr>
          <p:cNvPr id="21" name="Text 19"/>
          <p:cNvSpPr/>
          <p:nvPr/>
        </p:nvSpPr>
        <p:spPr>
          <a:xfrm>
            <a:off x="2011680" y="4105656"/>
            <a:ext cx="1920240" cy="548640"/>
          </a:xfrm>
          <a:prstGeom prst="rect">
            <a:avLst/>
          </a:prstGeom>
          <a:noFill/>
          <a:ln/>
        </p:spPr>
        <p:txBody>
          <a:bodyPr wrap="square" lIns="0" tIns="0" rIns="0" bIns="0" rtlCol="0" anchor="ctr"/>
          <a:lstStyle/>
          <a:p>
            <a:pPr algn="ctr" indent="0" marL="0">
              <a:buNone/>
            </a:pPr>
            <a:r>
              <a:rPr lang="en-US" sz="1050" dirty="0">
                <a:solidFill>
                  <a:srgbClr val="10203A"/>
                </a:solidFill>
                <a:latin typeface="Courier New" pitchFamily="34" charset="0"/>
                <a:ea typeface="Courier New" pitchFamily="34" charset="-122"/>
                <a:cs typeface="Courier New" pitchFamily="34" charset="-120"/>
              </a:rPr>
              <a:t>&lt;|alternative|&gt;</a:t>
            </a:r>
            <a:endParaRPr lang="en-US" sz="1050" dirty="0"/>
          </a:p>
        </p:txBody>
      </p:sp>
      <p:sp>
        <p:nvSpPr>
          <p:cNvPr id="22" name="Shape 20"/>
          <p:cNvSpPr/>
          <p:nvPr/>
        </p:nvSpPr>
        <p:spPr>
          <a:xfrm>
            <a:off x="1737360" y="4379976"/>
            <a:ext cx="237744" cy="0"/>
          </a:xfrm>
          <a:prstGeom prst="line">
            <a:avLst/>
          </a:prstGeom>
          <a:noFill/>
          <a:ln w="15875">
            <a:solidFill>
              <a:srgbClr val="5A6478"/>
            </a:solidFill>
            <a:prstDash val="solid"/>
            <a:tailEnd type="triangle"/>
          </a:ln>
        </p:spPr>
      </p:sp>
      <p:sp>
        <p:nvSpPr>
          <p:cNvPr id="23" name="Shape 21"/>
          <p:cNvSpPr/>
          <p:nvPr/>
        </p:nvSpPr>
        <p:spPr>
          <a:xfrm>
            <a:off x="3931920" y="4379976"/>
            <a:ext cx="365760" cy="0"/>
          </a:xfrm>
          <a:prstGeom prst="line">
            <a:avLst/>
          </a:prstGeom>
          <a:noFill/>
          <a:ln w="15875">
            <a:solidFill>
              <a:srgbClr val="5A6478"/>
            </a:solidFill>
            <a:prstDash val="solid"/>
            <a:tailEnd type="triangle"/>
          </a:ln>
        </p:spPr>
      </p:sp>
      <p:sp>
        <p:nvSpPr>
          <p:cNvPr id="24" name="Shape 22"/>
          <p:cNvSpPr/>
          <p:nvPr/>
        </p:nvSpPr>
        <p:spPr>
          <a:xfrm>
            <a:off x="4389120" y="1783080"/>
            <a:ext cx="2194560" cy="3063240"/>
          </a:xfrm>
          <a:prstGeom prst="roundRect">
            <a:avLst>
              <a:gd name="adj" fmla="val 2917"/>
            </a:avLst>
          </a:prstGeom>
          <a:solidFill>
            <a:srgbClr val="FFFFFF"/>
          </a:solidFill>
          <a:ln w="12700">
            <a:solidFill>
              <a:srgbClr val="D6DEEA"/>
            </a:solidFill>
            <a:prstDash val="solid"/>
          </a:ln>
        </p:spPr>
      </p:sp>
      <p:sp>
        <p:nvSpPr>
          <p:cNvPr id="25" name="Text 23"/>
          <p:cNvSpPr/>
          <p:nvPr/>
        </p:nvSpPr>
        <p:spPr>
          <a:xfrm>
            <a:off x="4389120" y="2880360"/>
            <a:ext cx="2194560" cy="365760"/>
          </a:xfrm>
          <a:prstGeom prst="rect">
            <a:avLst/>
          </a:prstGeom>
          <a:noFill/>
          <a:ln/>
        </p:spPr>
        <p:txBody>
          <a:bodyPr wrap="square" lIns="0" tIns="0" rIns="0" bIns="0" rtlCol="0" anchor="ctr"/>
          <a:lstStyle/>
          <a:p>
            <a:pPr algn="ctr" indent="0" marL="0">
              <a:buNone/>
            </a:pPr>
            <a:r>
              <a:rPr lang="en-US" sz="1800" b="1" dirty="0">
                <a:solidFill>
                  <a:srgbClr val="10203A"/>
                </a:solidFill>
                <a:latin typeface="Cambria" pitchFamily="34" charset="0"/>
                <a:ea typeface="Cambria" pitchFamily="34" charset="-122"/>
                <a:cs typeface="Cambria" pitchFamily="34" charset="-120"/>
              </a:rPr>
              <a:t>MAX-LM</a:t>
            </a:r>
            <a:endParaRPr lang="en-US" sz="1800" dirty="0"/>
          </a:p>
        </p:txBody>
      </p:sp>
      <p:sp>
        <p:nvSpPr>
          <p:cNvPr id="26" name="Text 24"/>
          <p:cNvSpPr/>
          <p:nvPr/>
        </p:nvSpPr>
        <p:spPr>
          <a:xfrm>
            <a:off x="4389120" y="3246120"/>
            <a:ext cx="2194560" cy="548640"/>
          </a:xfrm>
          <a:prstGeom prst="rect">
            <a:avLst/>
          </a:prstGeom>
          <a:noFill/>
          <a:ln/>
        </p:spPr>
        <p:txBody>
          <a:bodyPr wrap="square" lIns="0" tIns="0" rIns="0" bIns="0" rtlCol="0" anchor="ctr"/>
          <a:lstStyle/>
          <a:p>
            <a:pPr algn="ctr" indent="0" marL="0">
              <a:buNone/>
            </a:pPr>
            <a:r>
              <a:rPr lang="en-US" sz="1100" dirty="0">
                <a:solidFill>
                  <a:srgbClr val="5A6478"/>
                </a:solidFill>
                <a:latin typeface="Calibri" pitchFamily="34" charset="0"/>
                <a:ea typeface="Calibri" pitchFamily="34" charset="-122"/>
                <a:cs typeface="Calibri" pitchFamily="34" charset="-120"/>
              </a:rPr>
              <a:t>one checkpoint</a:t>
            </a:r>
            <a:endParaRPr lang="en-US" sz="1100" dirty="0"/>
          </a:p>
          <a:p>
            <a:pPr algn="ctr" indent="0" marL="0">
              <a:buNone/>
            </a:pPr>
            <a:r>
              <a:rPr lang="en-US" sz="1100" dirty="0">
                <a:solidFill>
                  <a:srgbClr val="5A6478"/>
                </a:solidFill>
                <a:latin typeface="Calibri" pitchFamily="34" charset="0"/>
                <a:ea typeface="Calibri" pitchFamily="34" charset="-122"/>
                <a:cs typeface="Calibri" pitchFamily="34" charset="-120"/>
              </a:rPr>
              <a:t>weights frozen</a:t>
            </a:r>
            <a:endParaRPr lang="en-US" sz="1100" dirty="0"/>
          </a:p>
        </p:txBody>
      </p:sp>
      <p:sp>
        <p:nvSpPr>
          <p:cNvPr id="27" name="Text 25"/>
          <p:cNvSpPr/>
          <p:nvPr/>
        </p:nvSpPr>
        <p:spPr>
          <a:xfrm>
            <a:off x="4389120" y="3767328"/>
            <a:ext cx="2194560" cy="274320"/>
          </a:xfrm>
          <a:prstGeom prst="rect">
            <a:avLst/>
          </a:prstGeom>
          <a:noFill/>
          <a:ln/>
        </p:spPr>
        <p:txBody>
          <a:bodyPr wrap="square" lIns="0" tIns="0" rIns="0" bIns="0" rtlCol="0" anchor="ctr"/>
          <a:lstStyle/>
          <a:p>
            <a:pPr algn="ctr" indent="0" marL="0">
              <a:buNone/>
            </a:pPr>
            <a:r>
              <a:rPr lang="en-US" sz="1050" dirty="0">
                <a:solidFill>
                  <a:srgbClr val="146049"/>
                </a:solidFill>
                <a:latin typeface="Calibri" pitchFamily="34" charset="0"/>
                <a:ea typeface="Calibri" pitchFamily="34" charset="-122"/>
                <a:cs typeface="Calibri" pitchFamily="34" charset="-120"/>
              </a:rPr>
              <a:t>built in Review 1</a:t>
            </a:r>
            <a:endParaRPr lang="en-US" sz="1050" dirty="0"/>
          </a:p>
        </p:txBody>
      </p:sp>
      <p:sp>
        <p:nvSpPr>
          <p:cNvPr id="28" name="Shape 26"/>
          <p:cNvSpPr/>
          <p:nvPr/>
        </p:nvSpPr>
        <p:spPr>
          <a:xfrm>
            <a:off x="6949440" y="1828800"/>
            <a:ext cx="1600200" cy="548640"/>
          </a:xfrm>
          <a:prstGeom prst="roundRect">
            <a:avLst>
              <a:gd name="adj" fmla="val 11667"/>
            </a:avLst>
          </a:prstGeom>
          <a:solidFill>
            <a:srgbClr val="FFFFFF"/>
          </a:solidFill>
          <a:ln w="12700">
            <a:solidFill>
              <a:srgbClr val="D6DEEA"/>
            </a:solidFill>
            <a:prstDash val="solid"/>
          </a:ln>
        </p:spPr>
      </p:sp>
      <p:sp>
        <p:nvSpPr>
          <p:cNvPr id="29" name="Text 27"/>
          <p:cNvSpPr/>
          <p:nvPr/>
        </p:nvSpPr>
        <p:spPr>
          <a:xfrm>
            <a:off x="6949440" y="1828800"/>
            <a:ext cx="1600200" cy="548640"/>
          </a:xfrm>
          <a:prstGeom prst="rect">
            <a:avLst/>
          </a:prstGeom>
          <a:noFill/>
          <a:ln/>
        </p:spPr>
        <p:txBody>
          <a:bodyPr wrap="square" lIns="0" tIns="0" rIns="0" bIns="0" rtlCol="0" anchor="ctr"/>
          <a:lstStyle/>
          <a:p>
            <a:pPr algn="ctr" indent="0" marL="0">
              <a:buNone/>
            </a:pPr>
            <a:r>
              <a:rPr lang="en-US" sz="850" dirty="0">
                <a:solidFill>
                  <a:srgbClr val="10203A"/>
                </a:solidFill>
                <a:latin typeface="Calibri" pitchFamily="34" charset="0"/>
                <a:ea typeface="Calibri" pitchFamily="34" charset="-122"/>
                <a:cs typeface="Calibri" pitchFamily="34" charset="-120"/>
              </a:rPr>
              <a:t>answer + confidence</a:t>
            </a:r>
            <a:endParaRPr lang="en-US" sz="850" dirty="0"/>
          </a:p>
        </p:txBody>
      </p:sp>
      <p:sp>
        <p:nvSpPr>
          <p:cNvPr id="30" name="Shape 28"/>
          <p:cNvSpPr/>
          <p:nvPr/>
        </p:nvSpPr>
        <p:spPr>
          <a:xfrm>
            <a:off x="6583680" y="2103120"/>
            <a:ext cx="329184" cy="0"/>
          </a:xfrm>
          <a:prstGeom prst="line">
            <a:avLst/>
          </a:prstGeom>
          <a:noFill/>
          <a:ln w="15875">
            <a:solidFill>
              <a:srgbClr val="5A6478"/>
            </a:solidFill>
            <a:prstDash val="solid"/>
            <a:tailEnd type="triangle"/>
          </a:ln>
        </p:spPr>
      </p:sp>
      <p:sp>
        <p:nvSpPr>
          <p:cNvPr id="31" name="Shape 29"/>
          <p:cNvSpPr/>
          <p:nvPr/>
        </p:nvSpPr>
        <p:spPr>
          <a:xfrm>
            <a:off x="6949440" y="2587752"/>
            <a:ext cx="1600200" cy="548640"/>
          </a:xfrm>
          <a:prstGeom prst="roundRect">
            <a:avLst>
              <a:gd name="adj" fmla="val 11667"/>
            </a:avLst>
          </a:prstGeom>
          <a:solidFill>
            <a:srgbClr val="FFFFFF"/>
          </a:solidFill>
          <a:ln w="12700">
            <a:solidFill>
              <a:srgbClr val="D6DEEA"/>
            </a:solidFill>
            <a:prstDash val="solid"/>
          </a:ln>
        </p:spPr>
      </p:sp>
      <p:sp>
        <p:nvSpPr>
          <p:cNvPr id="32" name="Text 30"/>
          <p:cNvSpPr/>
          <p:nvPr/>
        </p:nvSpPr>
        <p:spPr>
          <a:xfrm>
            <a:off x="6949440" y="2587752"/>
            <a:ext cx="1600200" cy="548640"/>
          </a:xfrm>
          <a:prstGeom prst="rect">
            <a:avLst/>
          </a:prstGeom>
          <a:noFill/>
          <a:ln/>
        </p:spPr>
        <p:txBody>
          <a:bodyPr wrap="square" lIns="0" tIns="0" rIns="0" bIns="0" rtlCol="0" anchor="ctr"/>
          <a:lstStyle/>
          <a:p>
            <a:pPr algn="ctr" indent="0" marL="0">
              <a:buNone/>
            </a:pPr>
            <a:r>
              <a:rPr lang="en-US" sz="850" dirty="0">
                <a:solidFill>
                  <a:srgbClr val="10203A"/>
                </a:solidFill>
                <a:latin typeface="Calibri" pitchFamily="34" charset="0"/>
                <a:ea typeface="Calibri" pitchFamily="34" charset="-122"/>
                <a:cs typeface="Calibri" pitchFamily="34" charset="-120"/>
              </a:rPr>
              <a:t>answer + confidence</a:t>
            </a:r>
            <a:endParaRPr lang="en-US" sz="850" dirty="0"/>
          </a:p>
        </p:txBody>
      </p:sp>
      <p:sp>
        <p:nvSpPr>
          <p:cNvPr id="33" name="Shape 31"/>
          <p:cNvSpPr/>
          <p:nvPr/>
        </p:nvSpPr>
        <p:spPr>
          <a:xfrm>
            <a:off x="6583680" y="2862072"/>
            <a:ext cx="329184" cy="0"/>
          </a:xfrm>
          <a:prstGeom prst="line">
            <a:avLst/>
          </a:prstGeom>
          <a:noFill/>
          <a:ln w="15875">
            <a:solidFill>
              <a:srgbClr val="5A6478"/>
            </a:solidFill>
            <a:prstDash val="solid"/>
            <a:tailEnd type="triangle"/>
          </a:ln>
        </p:spPr>
      </p:sp>
      <p:sp>
        <p:nvSpPr>
          <p:cNvPr id="34" name="Shape 32"/>
          <p:cNvSpPr/>
          <p:nvPr/>
        </p:nvSpPr>
        <p:spPr>
          <a:xfrm>
            <a:off x="6949440" y="3346704"/>
            <a:ext cx="1600200" cy="548640"/>
          </a:xfrm>
          <a:prstGeom prst="roundRect">
            <a:avLst>
              <a:gd name="adj" fmla="val 11667"/>
            </a:avLst>
          </a:prstGeom>
          <a:solidFill>
            <a:srgbClr val="FFFFFF"/>
          </a:solidFill>
          <a:ln w="12700">
            <a:solidFill>
              <a:srgbClr val="D6DEEA"/>
            </a:solidFill>
            <a:prstDash val="solid"/>
          </a:ln>
        </p:spPr>
      </p:sp>
      <p:sp>
        <p:nvSpPr>
          <p:cNvPr id="35" name="Text 33"/>
          <p:cNvSpPr/>
          <p:nvPr/>
        </p:nvSpPr>
        <p:spPr>
          <a:xfrm>
            <a:off x="6949440" y="3346704"/>
            <a:ext cx="1600200" cy="548640"/>
          </a:xfrm>
          <a:prstGeom prst="rect">
            <a:avLst/>
          </a:prstGeom>
          <a:noFill/>
          <a:ln/>
        </p:spPr>
        <p:txBody>
          <a:bodyPr wrap="square" lIns="0" tIns="0" rIns="0" bIns="0" rtlCol="0" anchor="ctr"/>
          <a:lstStyle/>
          <a:p>
            <a:pPr algn="ctr" indent="0" marL="0">
              <a:buNone/>
            </a:pPr>
            <a:r>
              <a:rPr lang="en-US" sz="850" dirty="0">
                <a:solidFill>
                  <a:srgbClr val="10203A"/>
                </a:solidFill>
                <a:latin typeface="Calibri" pitchFamily="34" charset="0"/>
                <a:ea typeface="Calibri" pitchFamily="34" charset="-122"/>
                <a:cs typeface="Calibri" pitchFamily="34" charset="-120"/>
              </a:rPr>
              <a:t>answer + confidence</a:t>
            </a:r>
            <a:endParaRPr lang="en-US" sz="850" dirty="0"/>
          </a:p>
        </p:txBody>
      </p:sp>
      <p:sp>
        <p:nvSpPr>
          <p:cNvPr id="36" name="Shape 34"/>
          <p:cNvSpPr/>
          <p:nvPr/>
        </p:nvSpPr>
        <p:spPr>
          <a:xfrm>
            <a:off x="6583680" y="3621024"/>
            <a:ext cx="329184" cy="0"/>
          </a:xfrm>
          <a:prstGeom prst="line">
            <a:avLst/>
          </a:prstGeom>
          <a:noFill/>
          <a:ln w="15875">
            <a:solidFill>
              <a:srgbClr val="5A6478"/>
            </a:solidFill>
            <a:prstDash val="solid"/>
            <a:tailEnd type="triangle"/>
          </a:ln>
        </p:spPr>
      </p:sp>
      <p:sp>
        <p:nvSpPr>
          <p:cNvPr id="37" name="Shape 35"/>
          <p:cNvSpPr/>
          <p:nvPr/>
        </p:nvSpPr>
        <p:spPr>
          <a:xfrm>
            <a:off x="6949440" y="4105656"/>
            <a:ext cx="1600200" cy="548640"/>
          </a:xfrm>
          <a:prstGeom prst="roundRect">
            <a:avLst>
              <a:gd name="adj" fmla="val 11667"/>
            </a:avLst>
          </a:prstGeom>
          <a:solidFill>
            <a:srgbClr val="FFFFFF"/>
          </a:solidFill>
          <a:ln w="12700">
            <a:solidFill>
              <a:srgbClr val="D6DEEA"/>
            </a:solidFill>
            <a:prstDash val="solid"/>
          </a:ln>
        </p:spPr>
      </p:sp>
      <p:sp>
        <p:nvSpPr>
          <p:cNvPr id="38" name="Text 36"/>
          <p:cNvSpPr/>
          <p:nvPr/>
        </p:nvSpPr>
        <p:spPr>
          <a:xfrm>
            <a:off x="6949440" y="4105656"/>
            <a:ext cx="1600200" cy="548640"/>
          </a:xfrm>
          <a:prstGeom prst="rect">
            <a:avLst/>
          </a:prstGeom>
          <a:noFill/>
          <a:ln/>
        </p:spPr>
        <p:txBody>
          <a:bodyPr wrap="square" lIns="0" tIns="0" rIns="0" bIns="0" rtlCol="0" anchor="ctr"/>
          <a:lstStyle/>
          <a:p>
            <a:pPr algn="ctr" indent="0" marL="0">
              <a:buNone/>
            </a:pPr>
            <a:r>
              <a:rPr lang="en-US" sz="850" dirty="0">
                <a:solidFill>
                  <a:srgbClr val="10203A"/>
                </a:solidFill>
                <a:latin typeface="Calibri" pitchFamily="34" charset="0"/>
                <a:ea typeface="Calibri" pitchFamily="34" charset="-122"/>
                <a:cs typeface="Calibri" pitchFamily="34" charset="-120"/>
              </a:rPr>
              <a:t>answer + confidence</a:t>
            </a:r>
            <a:endParaRPr lang="en-US" sz="850" dirty="0"/>
          </a:p>
        </p:txBody>
      </p:sp>
      <p:sp>
        <p:nvSpPr>
          <p:cNvPr id="39" name="Shape 37"/>
          <p:cNvSpPr/>
          <p:nvPr/>
        </p:nvSpPr>
        <p:spPr>
          <a:xfrm>
            <a:off x="6583680" y="4379976"/>
            <a:ext cx="329184" cy="0"/>
          </a:xfrm>
          <a:prstGeom prst="line">
            <a:avLst/>
          </a:prstGeom>
          <a:noFill/>
          <a:ln w="15875">
            <a:solidFill>
              <a:srgbClr val="5A6478"/>
            </a:solidFill>
            <a:prstDash val="solid"/>
            <a:tailEnd type="triangle"/>
          </a:ln>
        </p:spPr>
      </p:sp>
      <p:sp>
        <p:nvSpPr>
          <p:cNvPr id="40" name="Shape 38"/>
          <p:cNvSpPr/>
          <p:nvPr/>
        </p:nvSpPr>
        <p:spPr>
          <a:xfrm>
            <a:off x="9006840" y="2468880"/>
            <a:ext cx="2606040" cy="1188720"/>
          </a:xfrm>
          <a:prstGeom prst="roundRect">
            <a:avLst>
              <a:gd name="adj" fmla="val 5385"/>
            </a:avLst>
          </a:prstGeom>
          <a:solidFill>
            <a:srgbClr val="E8EFFA"/>
          </a:solidFill>
          <a:ln w="12700">
            <a:solidFill>
              <a:srgbClr val="D6DEEA"/>
            </a:solidFill>
            <a:prstDash val="solid"/>
          </a:ln>
        </p:spPr>
      </p:sp>
      <p:sp>
        <p:nvSpPr>
          <p:cNvPr id="41" name="Text 39"/>
          <p:cNvSpPr/>
          <p:nvPr/>
        </p:nvSpPr>
        <p:spPr>
          <a:xfrm>
            <a:off x="9006840" y="2651760"/>
            <a:ext cx="2606040" cy="274320"/>
          </a:xfrm>
          <a:prstGeom prst="rect">
            <a:avLst/>
          </a:prstGeom>
          <a:noFill/>
          <a:ln/>
        </p:spPr>
        <p:txBody>
          <a:bodyPr wrap="square" lIns="0" tIns="0" rIns="0" bIns="0" rtlCol="0" anchor="ctr"/>
          <a:lstStyle/>
          <a:p>
            <a:pPr algn="ctr" indent="0" marL="0">
              <a:buNone/>
            </a:pPr>
            <a:r>
              <a:rPr lang="en-US" sz="1250" b="1" dirty="0">
                <a:solidFill>
                  <a:srgbClr val="1B4A8F"/>
                </a:solidFill>
                <a:latin typeface="Calibri" pitchFamily="34" charset="0"/>
                <a:ea typeface="Calibri" pitchFamily="34" charset="-122"/>
                <a:cs typeface="Calibri" pitchFamily="34" charset="-120"/>
              </a:rPr>
              <a:t>COORDINATOR</a:t>
            </a:r>
            <a:endParaRPr lang="en-US" sz="1250" dirty="0"/>
          </a:p>
        </p:txBody>
      </p:sp>
      <p:sp>
        <p:nvSpPr>
          <p:cNvPr id="42" name="Text 40"/>
          <p:cNvSpPr/>
          <p:nvPr/>
        </p:nvSpPr>
        <p:spPr>
          <a:xfrm>
            <a:off x="9006840" y="2926080"/>
            <a:ext cx="2606040" cy="548640"/>
          </a:xfrm>
          <a:prstGeom prst="rect">
            <a:avLst/>
          </a:prstGeom>
          <a:noFill/>
          <a:ln/>
        </p:spPr>
        <p:txBody>
          <a:bodyPr wrap="square" lIns="0" tIns="0" rIns="0" bIns="0" rtlCol="0" anchor="ctr"/>
          <a:lstStyle/>
          <a:p>
            <a:pPr algn="ctr" indent="0" marL="0">
              <a:buNone/>
            </a:pPr>
            <a:r>
              <a:rPr lang="en-US" sz="1050" dirty="0">
                <a:solidFill>
                  <a:srgbClr val="1B4A8F"/>
                </a:solidFill>
                <a:latin typeface="Calibri" pitchFamily="34" charset="0"/>
                <a:ea typeface="Calibri" pitchFamily="34" charset="-122"/>
                <a:cs typeface="Calibri" pitchFamily="34" charset="-120"/>
              </a:rPr>
              <a:t>combines the agents'</a:t>
            </a:r>
            <a:endParaRPr lang="en-US" sz="1050" dirty="0"/>
          </a:p>
          <a:p>
            <a:pPr algn="ctr" indent="0" marL="0">
              <a:buNone/>
            </a:pPr>
            <a:r>
              <a:rPr lang="en-US" sz="1050" dirty="0">
                <a:solidFill>
                  <a:srgbClr val="1B4A8F"/>
                </a:solidFill>
                <a:latin typeface="Calibri" pitchFamily="34" charset="0"/>
                <a:ea typeface="Calibri" pitchFamily="34" charset="-122"/>
                <a:cs typeface="Calibri" pitchFamily="34" charset="-120"/>
              </a:rPr>
              <a:t>views into one answer</a:t>
            </a:r>
            <a:endParaRPr lang="en-US" sz="1050" dirty="0"/>
          </a:p>
        </p:txBody>
      </p:sp>
      <p:sp>
        <p:nvSpPr>
          <p:cNvPr id="43" name="Shape 41"/>
          <p:cNvSpPr/>
          <p:nvPr/>
        </p:nvSpPr>
        <p:spPr>
          <a:xfrm>
            <a:off x="8549640" y="3063240"/>
            <a:ext cx="402336" cy="0"/>
          </a:xfrm>
          <a:prstGeom prst="line">
            <a:avLst/>
          </a:prstGeom>
          <a:noFill/>
          <a:ln w="15875">
            <a:solidFill>
              <a:srgbClr val="1B4A8F"/>
            </a:solidFill>
            <a:prstDash val="solid"/>
            <a:tailEnd type="triangle"/>
          </a:ln>
        </p:spPr>
      </p:sp>
      <p:sp>
        <p:nvSpPr>
          <p:cNvPr id="44" name="Shape 42"/>
          <p:cNvSpPr/>
          <p:nvPr/>
        </p:nvSpPr>
        <p:spPr>
          <a:xfrm>
            <a:off x="10305288" y="3657600"/>
            <a:ext cx="0" cy="384048"/>
          </a:xfrm>
          <a:prstGeom prst="line">
            <a:avLst/>
          </a:prstGeom>
          <a:noFill/>
          <a:ln w="15875">
            <a:solidFill>
              <a:srgbClr val="1B4A8F"/>
            </a:solidFill>
            <a:prstDash val="solid"/>
            <a:tailEnd type="triangle"/>
          </a:ln>
        </p:spPr>
      </p:sp>
      <p:sp>
        <p:nvSpPr>
          <p:cNvPr id="45" name="Shape 43"/>
          <p:cNvSpPr/>
          <p:nvPr/>
        </p:nvSpPr>
        <p:spPr>
          <a:xfrm>
            <a:off x="9006840" y="4069080"/>
            <a:ext cx="2606040" cy="777240"/>
          </a:xfrm>
          <a:prstGeom prst="roundRect">
            <a:avLst>
              <a:gd name="adj" fmla="val 8235"/>
            </a:avLst>
          </a:prstGeom>
          <a:solidFill>
            <a:srgbClr val="FFFFFF"/>
          </a:solidFill>
          <a:ln w="12700">
            <a:solidFill>
              <a:srgbClr val="D6DEEA"/>
            </a:solidFill>
            <a:prstDash val="solid"/>
          </a:ln>
        </p:spPr>
      </p:sp>
      <p:sp>
        <p:nvSpPr>
          <p:cNvPr id="46" name="Text 44"/>
          <p:cNvSpPr/>
          <p:nvPr/>
        </p:nvSpPr>
        <p:spPr>
          <a:xfrm>
            <a:off x="9006840" y="4069080"/>
            <a:ext cx="2606040" cy="777240"/>
          </a:xfrm>
          <a:prstGeom prst="rect">
            <a:avLst/>
          </a:prstGeom>
          <a:noFill/>
          <a:ln/>
        </p:spPr>
        <p:txBody>
          <a:bodyPr wrap="square" lIns="0" tIns="0" rIns="0" bIns="0" rtlCol="0" anchor="ctr"/>
          <a:lstStyle/>
          <a:p>
            <a:pPr algn="ctr" indent="0" marL="0">
              <a:buNone/>
            </a:pPr>
            <a:r>
              <a:rPr lang="en-US" sz="1150" b="1" dirty="0">
                <a:solidFill>
                  <a:srgbClr val="10203A"/>
                </a:solidFill>
                <a:latin typeface="Calibri" pitchFamily="34" charset="0"/>
                <a:ea typeface="Calibri" pitchFamily="34" charset="-122"/>
                <a:cs typeface="Calibri" pitchFamily="34" charset="-120"/>
              </a:rPr>
              <a:t>final answer</a:t>
            </a:r>
            <a:endParaRPr lang="en-US" sz="1150" dirty="0"/>
          </a:p>
          <a:p>
            <a:pPr algn="ctr" indent="0" marL="0">
              <a:buNone/>
            </a:pPr>
            <a:r>
              <a:rPr lang="en-US" sz="1150" b="1" dirty="0">
                <a:solidFill>
                  <a:srgbClr val="10203A"/>
                </a:solidFill>
                <a:latin typeface="Calibri" pitchFamily="34" charset="0"/>
                <a:ea typeface="Calibri" pitchFamily="34" charset="-122"/>
                <a:cs typeface="Calibri" pitchFamily="34" charset="-120"/>
              </a:rPr>
              <a:t>+ decision record</a:t>
            </a:r>
            <a:endParaRPr lang="en-US" sz="1150" dirty="0"/>
          </a:p>
        </p:txBody>
      </p:sp>
      <p:sp>
        <p:nvSpPr>
          <p:cNvPr id="47" name="Text 45"/>
          <p:cNvSpPr/>
          <p:nvPr/>
        </p:nvSpPr>
        <p:spPr>
          <a:xfrm>
            <a:off x="548640" y="5989320"/>
            <a:ext cx="11064240" cy="548640"/>
          </a:xfrm>
          <a:prstGeom prst="rect">
            <a:avLst/>
          </a:prstGeom>
          <a:noFill/>
          <a:ln/>
        </p:spPr>
        <p:txBody>
          <a:bodyPr wrap="square" lIns="0" tIns="0" rIns="0" bIns="0" rtlCol="0" anchor="t"/>
          <a:lstStyle/>
          <a:p>
            <a:pPr indent="0" marL="0">
              <a:buNone/>
            </a:pPr>
            <a:r>
              <a:rPr lang="en-US" sz="1200" dirty="0">
                <a:solidFill>
                  <a:srgbClr val="10203A"/>
                </a:solidFill>
                <a:latin typeface="Calibri" pitchFamily="34" charset="0"/>
                <a:ea typeface="Calibri" pitchFamily="34" charset="-122"/>
                <a:cs typeface="Calibri" pitchFamily="34" charset="-120"/>
              </a:rPr>
              <a:t>Every agent is the SAME model addressed by a different role token — no agent has parameters of its own. That is what makes five agents affordable on student hardware, and it is why Review 1 (the model) had to come first.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Review 1 scope</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Say the boundary out loud. It makes you look in control.</a:t>
            </a:r>
            <a:endParaRPr lang="en-US" sz="1350" dirty="0"/>
          </a:p>
        </p:txBody>
      </p:sp>
      <p:sp>
        <p:nvSpPr>
          <p:cNvPr id="4" name="Shape 2"/>
          <p:cNvSpPr/>
          <p:nvPr/>
        </p:nvSpPr>
        <p:spPr>
          <a:xfrm>
            <a:off x="548640" y="1554480"/>
            <a:ext cx="5486400" cy="3931920"/>
          </a:xfrm>
          <a:prstGeom prst="roundRect">
            <a:avLst>
              <a:gd name="adj" fmla="val 1628"/>
            </a:avLst>
          </a:prstGeom>
          <a:solidFill>
            <a:srgbClr val="E4F1EA"/>
          </a:solidFill>
          <a:ln w="12700">
            <a:solidFill>
              <a:srgbClr val="D6DEEA"/>
            </a:solidFill>
            <a:prstDash val="solid"/>
          </a:ln>
        </p:spPr>
      </p:sp>
      <p:sp>
        <p:nvSpPr>
          <p:cNvPr id="5" name="Text 3"/>
          <p:cNvSpPr/>
          <p:nvPr/>
        </p:nvSpPr>
        <p:spPr>
          <a:xfrm>
            <a:off x="868680" y="1755648"/>
            <a:ext cx="4846320" cy="292608"/>
          </a:xfrm>
          <a:prstGeom prst="rect">
            <a:avLst/>
          </a:prstGeom>
          <a:noFill/>
          <a:ln/>
        </p:spPr>
        <p:txBody>
          <a:bodyPr wrap="square" lIns="0" tIns="0" rIns="0" bIns="0" rtlCol="0" anchor="ctr"/>
          <a:lstStyle/>
          <a:p>
            <a:pPr indent="0" marL="0">
              <a:buNone/>
            </a:pPr>
            <a:r>
              <a:rPr lang="en-US" sz="1500" b="1" dirty="0">
                <a:solidFill>
                  <a:srgbClr val="146049"/>
                </a:solidFill>
                <a:latin typeface="Calibri" pitchFamily="34" charset="0"/>
                <a:ea typeface="Calibri" pitchFamily="34" charset="-122"/>
                <a:cs typeface="Calibri" pitchFamily="34" charset="-120"/>
              </a:rPr>
              <a:t>Review 1 IS this</a:t>
            </a:r>
            <a:endParaRPr lang="en-US" sz="1500" dirty="0"/>
          </a:p>
        </p:txBody>
      </p:sp>
      <p:sp>
        <p:nvSpPr>
          <p:cNvPr id="6" name="Text 4"/>
          <p:cNvSpPr/>
          <p:nvPr/>
        </p:nvSpPr>
        <p:spPr>
          <a:xfrm>
            <a:off x="868680" y="2148840"/>
            <a:ext cx="4846320" cy="3108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402F"/>
                </a:solidFill>
                <a:latin typeface="Calibri" pitchFamily="34" charset="0"/>
                <a:ea typeface="Calibri" pitchFamily="34" charset="-122"/>
                <a:cs typeface="Calibri" pitchFamily="34" charset="-120"/>
              </a:rPr>
              <a:t>Choose and clean a dataset</a:t>
            </a:r>
            <a:endParaRPr lang="en-US" sz="1250" dirty="0"/>
          </a:p>
          <a:p>
            <a:pPr marL="342900" indent="-342900">
              <a:spcAft>
                <a:spcPts val="600"/>
              </a:spcAft>
              <a:buSzPct val="100000"/>
              <a:buChar char="•"/>
            </a:pPr>
            <a:r>
              <a:rPr lang="en-US" sz="1250" dirty="0">
                <a:solidFill>
                  <a:srgbClr val="14402F"/>
                </a:solidFill>
                <a:latin typeface="Calibri" pitchFamily="34" charset="0"/>
                <a:ea typeface="Calibri" pitchFamily="34" charset="-122"/>
                <a:cs typeface="Calibri" pitchFamily="34" charset="-120"/>
              </a:rPr>
              <a:t>Build our own BPE tokenizer</a:t>
            </a:r>
            <a:endParaRPr lang="en-US" sz="1250" dirty="0"/>
          </a:p>
          <a:p>
            <a:pPr marL="342900" indent="-342900">
              <a:spcAft>
                <a:spcPts val="600"/>
              </a:spcAft>
              <a:buSzPct val="100000"/>
              <a:buChar char="•"/>
            </a:pPr>
            <a:r>
              <a:rPr lang="en-US" sz="1250" dirty="0">
                <a:solidFill>
                  <a:srgbClr val="14402F"/>
                </a:solidFill>
                <a:latin typeface="Calibri" pitchFamily="34" charset="0"/>
                <a:ea typeface="Calibri" pitchFamily="34" charset="-122"/>
                <a:cs typeface="Calibri" pitchFamily="34" charset="-120"/>
              </a:rPr>
              <a:t>Implement our own decoder-only Transformer</a:t>
            </a:r>
            <a:endParaRPr lang="en-US" sz="1250" dirty="0"/>
          </a:p>
          <a:p>
            <a:pPr marL="342900" indent="-342900">
              <a:spcAft>
                <a:spcPts val="600"/>
              </a:spcAft>
              <a:buSzPct val="100000"/>
              <a:buChar char="•"/>
            </a:pPr>
            <a:r>
              <a:rPr lang="en-US" sz="1250" dirty="0">
                <a:solidFill>
                  <a:srgbClr val="14402F"/>
                </a:solidFill>
                <a:latin typeface="Calibri" pitchFamily="34" charset="0"/>
                <a:ea typeface="Calibri" pitchFamily="34" charset="-122"/>
                <a:cs typeface="Calibri" pitchFamily="34" charset="-120"/>
              </a:rPr>
              <a:t>Initialise it with random weights</a:t>
            </a:r>
            <a:endParaRPr lang="en-US" sz="1250" dirty="0"/>
          </a:p>
          <a:p>
            <a:pPr marL="342900" indent="-342900">
              <a:spcAft>
                <a:spcPts val="600"/>
              </a:spcAft>
              <a:buSzPct val="100000"/>
              <a:buChar char="•"/>
            </a:pPr>
            <a:r>
              <a:rPr lang="en-US" sz="1250" dirty="0">
                <a:solidFill>
                  <a:srgbClr val="14402F"/>
                </a:solidFill>
                <a:latin typeface="Calibri" pitchFamily="34" charset="0"/>
                <a:ea typeface="Calibri" pitchFamily="34" charset="-122"/>
                <a:cs typeface="Calibri" pitchFamily="34" charset="-120"/>
              </a:rPr>
              <a:t>Train it from scratch</a:t>
            </a:r>
            <a:endParaRPr lang="en-US" sz="1250" dirty="0"/>
          </a:p>
          <a:p>
            <a:pPr marL="342900" indent="-342900">
              <a:spcAft>
                <a:spcPts val="600"/>
              </a:spcAft>
              <a:buSzPct val="100000"/>
              <a:buChar char="•"/>
            </a:pPr>
            <a:r>
              <a:rPr lang="en-US" sz="1250" dirty="0">
                <a:solidFill>
                  <a:srgbClr val="14402F"/>
                </a:solidFill>
                <a:latin typeface="Calibri" pitchFamily="34" charset="0"/>
                <a:ea typeface="Calibri" pitchFamily="34" charset="-122"/>
                <a:cs typeface="Calibri" pitchFamily="34" charset="-120"/>
              </a:rPr>
              <a:t>Validate, checkpoint, reload</a:t>
            </a:r>
            <a:endParaRPr lang="en-US" sz="1250" dirty="0"/>
          </a:p>
          <a:p>
            <a:pPr marL="342900" indent="-342900">
              <a:spcAft>
                <a:spcPts val="600"/>
              </a:spcAft>
              <a:buSzPct val="100000"/>
              <a:buChar char="•"/>
            </a:pPr>
            <a:r>
              <a:rPr lang="en-US" sz="1250" dirty="0">
                <a:solidFill>
                  <a:srgbClr val="14402F"/>
                </a:solidFill>
                <a:latin typeface="Calibri" pitchFamily="34" charset="0"/>
                <a:ea typeface="Calibri" pitchFamily="34" charset="-122"/>
                <a:cs typeface="Calibri" pitchFamily="34" charset="-120"/>
              </a:rPr>
              <a:t>Generate text, measure loss and perplexity</a:t>
            </a:r>
            <a:endParaRPr lang="en-US" sz="1250" dirty="0"/>
          </a:p>
        </p:txBody>
      </p:sp>
      <p:sp>
        <p:nvSpPr>
          <p:cNvPr id="7" name="Shape 5"/>
          <p:cNvSpPr/>
          <p:nvPr/>
        </p:nvSpPr>
        <p:spPr>
          <a:xfrm>
            <a:off x="6309360" y="1554480"/>
            <a:ext cx="5303520" cy="3931920"/>
          </a:xfrm>
          <a:prstGeom prst="roundRect">
            <a:avLst>
              <a:gd name="adj" fmla="val 1628"/>
            </a:avLst>
          </a:prstGeom>
          <a:solidFill>
            <a:srgbClr val="FBF0E4"/>
          </a:solidFill>
          <a:ln w="12700">
            <a:solidFill>
              <a:srgbClr val="D6DEEA"/>
            </a:solidFill>
            <a:prstDash val="solid"/>
          </a:ln>
        </p:spPr>
      </p:sp>
      <p:sp>
        <p:nvSpPr>
          <p:cNvPr id="8" name="Text 6"/>
          <p:cNvSpPr/>
          <p:nvPr/>
        </p:nvSpPr>
        <p:spPr>
          <a:xfrm>
            <a:off x="6629400" y="1755648"/>
            <a:ext cx="4663440" cy="292608"/>
          </a:xfrm>
          <a:prstGeom prst="rect">
            <a:avLst/>
          </a:prstGeom>
          <a:noFill/>
          <a:ln/>
        </p:spPr>
        <p:txBody>
          <a:bodyPr wrap="square" lIns="0" tIns="0" rIns="0" bIns="0" rtlCol="0" anchor="ctr"/>
          <a:lstStyle/>
          <a:p>
            <a:pPr indent="0" marL="0">
              <a:buNone/>
            </a:pPr>
            <a:r>
              <a:rPr lang="en-US" sz="1500" b="1" dirty="0">
                <a:solidFill>
                  <a:srgbClr val="B4610F"/>
                </a:solidFill>
                <a:latin typeface="Calibri" pitchFamily="34" charset="0"/>
                <a:ea typeface="Calibri" pitchFamily="34" charset="-122"/>
                <a:cs typeface="Calibri" pitchFamily="34" charset="-120"/>
              </a:rPr>
              <a:t>Review 1 is NOT this</a:t>
            </a:r>
            <a:endParaRPr lang="en-US" sz="1500" dirty="0"/>
          </a:p>
        </p:txBody>
      </p:sp>
      <p:sp>
        <p:nvSpPr>
          <p:cNvPr id="9" name="Text 7"/>
          <p:cNvSpPr/>
          <p:nvPr/>
        </p:nvSpPr>
        <p:spPr>
          <a:xfrm>
            <a:off x="6629400" y="2148840"/>
            <a:ext cx="4663440" cy="3108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6B3D10"/>
                </a:solidFill>
                <a:latin typeface="Calibri" pitchFamily="34" charset="0"/>
                <a:ea typeface="Calibri" pitchFamily="34" charset="-122"/>
                <a:cs typeface="Calibri" pitchFamily="34" charset="-120"/>
              </a:rPr>
              <a:t>Not the multi-agent system</a:t>
            </a:r>
            <a:endParaRPr lang="en-US" sz="1250" dirty="0"/>
          </a:p>
          <a:p>
            <a:pPr marL="342900" indent="-342900">
              <a:spcAft>
                <a:spcPts val="600"/>
              </a:spcAft>
              <a:buSzPct val="100000"/>
              <a:buChar char="•"/>
            </a:pPr>
            <a:r>
              <a:rPr lang="en-US" sz="1250" dirty="0">
                <a:solidFill>
                  <a:srgbClr val="6B3D10"/>
                </a:solidFill>
                <a:latin typeface="Calibri" pitchFamily="34" charset="0"/>
                <a:ea typeface="Calibri" pitchFamily="34" charset="-122"/>
                <a:cs typeface="Calibri" pitchFamily="34" charset="-120"/>
              </a:rPr>
              <a:t>Not reasoning training</a:t>
            </a:r>
            <a:endParaRPr lang="en-US" sz="1250" dirty="0"/>
          </a:p>
          <a:p>
            <a:pPr marL="342900" indent="-342900">
              <a:spcAft>
                <a:spcPts val="600"/>
              </a:spcAft>
              <a:buSzPct val="100000"/>
              <a:buChar char="•"/>
            </a:pPr>
            <a:r>
              <a:rPr lang="en-US" sz="1250" dirty="0">
                <a:solidFill>
                  <a:srgbClr val="6B3D10"/>
                </a:solidFill>
                <a:latin typeface="Calibri" pitchFamily="34" charset="0"/>
                <a:ea typeface="Calibri" pitchFamily="34" charset="-122"/>
                <a:cs typeface="Calibri" pitchFamily="34" charset="-120"/>
              </a:rPr>
              <a:t>Not the explainability engine</a:t>
            </a:r>
            <a:endParaRPr lang="en-US" sz="1250" dirty="0"/>
          </a:p>
          <a:p>
            <a:pPr marL="342900" indent="-342900">
              <a:spcAft>
                <a:spcPts val="600"/>
              </a:spcAft>
              <a:buSzPct val="100000"/>
              <a:buChar char="•"/>
            </a:pPr>
            <a:r>
              <a:rPr lang="en-US" sz="1250" dirty="0">
                <a:solidFill>
                  <a:srgbClr val="6B3D10"/>
                </a:solidFill>
                <a:latin typeface="Calibri" pitchFamily="34" charset="0"/>
                <a:ea typeface="Calibri" pitchFamily="34" charset="-122"/>
                <a:cs typeface="Calibri" pitchFamily="34" charset="-120"/>
              </a:rPr>
              <a:t>Not the web application</a:t>
            </a:r>
            <a:endParaRPr lang="en-US" sz="1250" dirty="0"/>
          </a:p>
          <a:p>
            <a:pPr marL="342900" indent="-342900">
              <a:spcAft>
                <a:spcPts val="600"/>
              </a:spcAft>
              <a:buSzPct val="100000"/>
              <a:buChar char="•"/>
            </a:pPr>
            <a:r>
              <a:rPr lang="en-US" sz="1250" dirty="0">
                <a:solidFill>
                  <a:srgbClr val="6B3D10"/>
                </a:solidFill>
                <a:latin typeface="Calibri" pitchFamily="34" charset="0"/>
                <a:ea typeface="Calibri" pitchFamily="34" charset="-122"/>
                <a:cs typeface="Calibri" pitchFamily="34" charset="-120"/>
              </a:rPr>
              <a:t>Not fine-tuning GPT-2, Llama or anything else</a:t>
            </a:r>
            <a:endParaRPr lang="en-US" sz="1250" dirty="0"/>
          </a:p>
          <a:p>
            <a:pPr marL="342900" indent="-342900">
              <a:spcAft>
                <a:spcPts val="600"/>
              </a:spcAft>
              <a:buSzPct val="100000"/>
              <a:buChar char="•"/>
            </a:pPr>
            <a:r>
              <a:rPr lang="en-US" sz="1250" dirty="0">
                <a:solidFill>
                  <a:srgbClr val="6B3D10"/>
                </a:solidFill>
                <a:latin typeface="Calibri" pitchFamily="34" charset="0"/>
                <a:ea typeface="Calibri" pitchFamily="34" charset="-122"/>
                <a:cs typeface="Calibri" pitchFamily="34" charset="-120"/>
              </a:rPr>
              <a:t>Not a model that can answer questions</a:t>
            </a:r>
            <a:endParaRPr lang="en-US" sz="1250" dirty="0"/>
          </a:p>
        </p:txBody>
      </p:sp>
      <p:sp>
        <p:nvSpPr>
          <p:cNvPr id="10" name="Text 8"/>
          <p:cNvSpPr/>
          <p:nvPr/>
        </p:nvSpPr>
        <p:spPr>
          <a:xfrm>
            <a:off x="548640" y="5989320"/>
            <a:ext cx="11064240" cy="548640"/>
          </a:xfrm>
          <a:prstGeom prst="rect">
            <a:avLst/>
          </a:prstGeom>
          <a:noFill/>
          <a:ln/>
        </p:spPr>
        <p:txBody>
          <a:bodyPr wrap="square" lIns="0" tIns="0" rIns="0" bIns="0" rtlCol="0" anchor="t"/>
          <a:lstStyle/>
          <a:p>
            <a:pPr indent="0" marL="0">
              <a:buNone/>
            </a:pPr>
            <a:r>
              <a:rPr lang="en-US" sz="1200" dirty="0">
                <a:solidFill>
                  <a:srgbClr val="10203A"/>
                </a:solidFill>
                <a:latin typeface="Calibri" pitchFamily="34" charset="0"/>
                <a:ea typeface="Calibri" pitchFamily="34" charset="-122"/>
                <a:cs typeface="Calibri" pitchFamily="34" charset="-120"/>
              </a:rPr>
              <a:t>A 1.33M-parameter model trained only on next-token prediction learns to continue text, not to answer questions. Naming that boundary is not a weakness — it is evidence we understand our own milestone.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Review 1 architecture — the pipeline</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Twelve stages. Data flows left to right, top row then bottom row.</a:t>
            </a:r>
            <a:endParaRPr lang="en-US" sz="1350" dirty="0"/>
          </a:p>
        </p:txBody>
      </p:sp>
      <p:sp>
        <p:nvSpPr>
          <p:cNvPr id="4" name="Shape 2"/>
          <p:cNvSpPr/>
          <p:nvPr/>
        </p:nvSpPr>
        <p:spPr>
          <a:xfrm>
            <a:off x="548640" y="1874520"/>
            <a:ext cx="1691640" cy="502920"/>
          </a:xfrm>
          <a:prstGeom prst="roundRect">
            <a:avLst>
              <a:gd name="adj" fmla="val 12727"/>
            </a:avLst>
          </a:prstGeom>
          <a:solidFill>
            <a:srgbClr val="FFFFFF"/>
          </a:solidFill>
          <a:ln w="12700">
            <a:solidFill>
              <a:srgbClr val="D6DEEA"/>
            </a:solidFill>
            <a:prstDash val="solid"/>
          </a:ln>
        </p:spPr>
      </p:sp>
      <p:sp>
        <p:nvSpPr>
          <p:cNvPr id="5" name="Text 3"/>
          <p:cNvSpPr/>
          <p:nvPr/>
        </p:nvSpPr>
        <p:spPr>
          <a:xfrm>
            <a:off x="548640" y="187452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raw dataset</a:t>
            </a:r>
            <a:endParaRPr lang="en-US" sz="1050" dirty="0"/>
          </a:p>
        </p:txBody>
      </p:sp>
      <p:sp>
        <p:nvSpPr>
          <p:cNvPr id="6" name="Shape 4"/>
          <p:cNvSpPr/>
          <p:nvPr/>
        </p:nvSpPr>
        <p:spPr>
          <a:xfrm>
            <a:off x="2240280" y="2130552"/>
            <a:ext cx="182880" cy="0"/>
          </a:xfrm>
          <a:prstGeom prst="line">
            <a:avLst/>
          </a:prstGeom>
          <a:noFill/>
          <a:ln w="15875">
            <a:solidFill>
              <a:srgbClr val="5A6478"/>
            </a:solidFill>
            <a:prstDash val="solid"/>
            <a:tailEnd type="triangle"/>
          </a:ln>
        </p:spPr>
      </p:sp>
      <p:sp>
        <p:nvSpPr>
          <p:cNvPr id="7" name="Shape 5"/>
          <p:cNvSpPr/>
          <p:nvPr/>
        </p:nvSpPr>
        <p:spPr>
          <a:xfrm>
            <a:off x="2423160" y="1874520"/>
            <a:ext cx="1691640" cy="502920"/>
          </a:xfrm>
          <a:prstGeom prst="roundRect">
            <a:avLst>
              <a:gd name="adj" fmla="val 12727"/>
            </a:avLst>
          </a:prstGeom>
          <a:solidFill>
            <a:srgbClr val="FFFFFF"/>
          </a:solidFill>
          <a:ln w="12700">
            <a:solidFill>
              <a:srgbClr val="D6DEEA"/>
            </a:solidFill>
            <a:prstDash val="solid"/>
          </a:ln>
        </p:spPr>
      </p:sp>
      <p:sp>
        <p:nvSpPr>
          <p:cNvPr id="8" name="Text 6"/>
          <p:cNvSpPr/>
          <p:nvPr/>
        </p:nvSpPr>
        <p:spPr>
          <a:xfrm>
            <a:off x="2423160" y="187452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clean + dedup</a:t>
            </a:r>
            <a:endParaRPr lang="en-US" sz="1050" dirty="0"/>
          </a:p>
        </p:txBody>
      </p:sp>
      <p:sp>
        <p:nvSpPr>
          <p:cNvPr id="9" name="Shape 7"/>
          <p:cNvSpPr/>
          <p:nvPr/>
        </p:nvSpPr>
        <p:spPr>
          <a:xfrm>
            <a:off x="4114800" y="2130552"/>
            <a:ext cx="182880" cy="0"/>
          </a:xfrm>
          <a:prstGeom prst="line">
            <a:avLst/>
          </a:prstGeom>
          <a:noFill/>
          <a:ln w="15875">
            <a:solidFill>
              <a:srgbClr val="5A6478"/>
            </a:solidFill>
            <a:prstDash val="solid"/>
            <a:tailEnd type="triangle"/>
          </a:ln>
        </p:spPr>
      </p:sp>
      <p:sp>
        <p:nvSpPr>
          <p:cNvPr id="10" name="Shape 8"/>
          <p:cNvSpPr/>
          <p:nvPr/>
        </p:nvSpPr>
        <p:spPr>
          <a:xfrm>
            <a:off x="4297680" y="1874520"/>
            <a:ext cx="1691640" cy="502920"/>
          </a:xfrm>
          <a:prstGeom prst="roundRect">
            <a:avLst>
              <a:gd name="adj" fmla="val 12727"/>
            </a:avLst>
          </a:prstGeom>
          <a:solidFill>
            <a:srgbClr val="FFFFFF"/>
          </a:solidFill>
          <a:ln w="12700">
            <a:solidFill>
              <a:srgbClr val="D6DEEA"/>
            </a:solidFill>
            <a:prstDash val="solid"/>
          </a:ln>
        </p:spPr>
      </p:sp>
      <p:sp>
        <p:nvSpPr>
          <p:cNvPr id="11" name="Text 9"/>
          <p:cNvSpPr/>
          <p:nvPr/>
        </p:nvSpPr>
        <p:spPr>
          <a:xfrm>
            <a:off x="4297680" y="187452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train / val split</a:t>
            </a:r>
            <a:endParaRPr lang="en-US" sz="1050" dirty="0"/>
          </a:p>
        </p:txBody>
      </p:sp>
      <p:sp>
        <p:nvSpPr>
          <p:cNvPr id="12" name="Shape 10"/>
          <p:cNvSpPr/>
          <p:nvPr/>
        </p:nvSpPr>
        <p:spPr>
          <a:xfrm>
            <a:off x="5989320" y="2130552"/>
            <a:ext cx="182880" cy="0"/>
          </a:xfrm>
          <a:prstGeom prst="line">
            <a:avLst/>
          </a:prstGeom>
          <a:noFill/>
          <a:ln w="15875">
            <a:solidFill>
              <a:srgbClr val="5A6478"/>
            </a:solidFill>
            <a:prstDash val="solid"/>
            <a:tailEnd type="triangle"/>
          </a:ln>
        </p:spPr>
      </p:sp>
      <p:sp>
        <p:nvSpPr>
          <p:cNvPr id="13" name="Shape 11"/>
          <p:cNvSpPr/>
          <p:nvPr/>
        </p:nvSpPr>
        <p:spPr>
          <a:xfrm>
            <a:off x="6172200" y="1874520"/>
            <a:ext cx="1691640" cy="502920"/>
          </a:xfrm>
          <a:prstGeom prst="roundRect">
            <a:avLst>
              <a:gd name="adj" fmla="val 12727"/>
            </a:avLst>
          </a:prstGeom>
          <a:solidFill>
            <a:srgbClr val="FFFFFF"/>
          </a:solidFill>
          <a:ln w="12700">
            <a:solidFill>
              <a:srgbClr val="D6DEEA"/>
            </a:solidFill>
            <a:prstDash val="solid"/>
          </a:ln>
        </p:spPr>
      </p:sp>
      <p:sp>
        <p:nvSpPr>
          <p:cNvPr id="14" name="Text 12"/>
          <p:cNvSpPr/>
          <p:nvPr/>
        </p:nvSpPr>
        <p:spPr>
          <a:xfrm>
            <a:off x="6172200" y="187452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train BPE tokenizer</a:t>
            </a:r>
            <a:endParaRPr lang="en-US" sz="1050" dirty="0"/>
          </a:p>
        </p:txBody>
      </p:sp>
      <p:sp>
        <p:nvSpPr>
          <p:cNvPr id="15" name="Shape 13"/>
          <p:cNvSpPr/>
          <p:nvPr/>
        </p:nvSpPr>
        <p:spPr>
          <a:xfrm>
            <a:off x="7863840" y="2130552"/>
            <a:ext cx="182880" cy="0"/>
          </a:xfrm>
          <a:prstGeom prst="line">
            <a:avLst/>
          </a:prstGeom>
          <a:noFill/>
          <a:ln w="15875">
            <a:solidFill>
              <a:srgbClr val="5A6478"/>
            </a:solidFill>
            <a:prstDash val="solid"/>
            <a:tailEnd type="triangle"/>
          </a:ln>
        </p:spPr>
      </p:sp>
      <p:sp>
        <p:nvSpPr>
          <p:cNvPr id="16" name="Shape 14"/>
          <p:cNvSpPr/>
          <p:nvPr/>
        </p:nvSpPr>
        <p:spPr>
          <a:xfrm>
            <a:off x="8046720" y="1874520"/>
            <a:ext cx="1691640" cy="502920"/>
          </a:xfrm>
          <a:prstGeom prst="roundRect">
            <a:avLst>
              <a:gd name="adj" fmla="val 12727"/>
            </a:avLst>
          </a:prstGeom>
          <a:solidFill>
            <a:srgbClr val="FFFFFF"/>
          </a:solidFill>
          <a:ln w="12700">
            <a:solidFill>
              <a:srgbClr val="D6DEEA"/>
            </a:solidFill>
            <a:prstDash val="solid"/>
          </a:ln>
        </p:spPr>
      </p:sp>
      <p:sp>
        <p:nvSpPr>
          <p:cNvPr id="17" name="Text 15"/>
          <p:cNvSpPr/>
          <p:nvPr/>
        </p:nvSpPr>
        <p:spPr>
          <a:xfrm>
            <a:off x="8046720" y="187452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encode → IDs</a:t>
            </a:r>
            <a:endParaRPr lang="en-US" sz="1050" dirty="0"/>
          </a:p>
        </p:txBody>
      </p:sp>
      <p:sp>
        <p:nvSpPr>
          <p:cNvPr id="18" name="Shape 16"/>
          <p:cNvSpPr/>
          <p:nvPr/>
        </p:nvSpPr>
        <p:spPr>
          <a:xfrm>
            <a:off x="9738360" y="2130552"/>
            <a:ext cx="182880" cy="0"/>
          </a:xfrm>
          <a:prstGeom prst="line">
            <a:avLst/>
          </a:prstGeom>
          <a:noFill/>
          <a:ln w="15875">
            <a:solidFill>
              <a:srgbClr val="5A6478"/>
            </a:solidFill>
            <a:prstDash val="solid"/>
            <a:tailEnd type="triangle"/>
          </a:ln>
        </p:spPr>
      </p:sp>
      <p:sp>
        <p:nvSpPr>
          <p:cNvPr id="19" name="Shape 17"/>
          <p:cNvSpPr/>
          <p:nvPr/>
        </p:nvSpPr>
        <p:spPr>
          <a:xfrm>
            <a:off x="9921240" y="1874520"/>
            <a:ext cx="1691640" cy="502920"/>
          </a:xfrm>
          <a:prstGeom prst="roundRect">
            <a:avLst>
              <a:gd name="adj" fmla="val 12727"/>
            </a:avLst>
          </a:prstGeom>
          <a:solidFill>
            <a:srgbClr val="FFFFFF"/>
          </a:solidFill>
          <a:ln w="12700">
            <a:solidFill>
              <a:srgbClr val="D6DEEA"/>
            </a:solidFill>
            <a:prstDash val="solid"/>
          </a:ln>
        </p:spPr>
      </p:sp>
      <p:sp>
        <p:nvSpPr>
          <p:cNvPr id="20" name="Text 18"/>
          <p:cNvSpPr/>
          <p:nvPr/>
        </p:nvSpPr>
        <p:spPr>
          <a:xfrm>
            <a:off x="9921240" y="187452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model definition</a:t>
            </a:r>
            <a:endParaRPr lang="en-US" sz="1050" dirty="0"/>
          </a:p>
        </p:txBody>
      </p:sp>
      <p:sp>
        <p:nvSpPr>
          <p:cNvPr id="21" name="Shape 19"/>
          <p:cNvSpPr/>
          <p:nvPr/>
        </p:nvSpPr>
        <p:spPr>
          <a:xfrm>
            <a:off x="548640" y="3429000"/>
            <a:ext cx="1691640" cy="502920"/>
          </a:xfrm>
          <a:prstGeom prst="roundRect">
            <a:avLst>
              <a:gd name="adj" fmla="val 12727"/>
            </a:avLst>
          </a:prstGeom>
          <a:solidFill>
            <a:srgbClr val="FBF0E4"/>
          </a:solidFill>
          <a:ln w="12700">
            <a:solidFill>
              <a:srgbClr val="D6DEEA"/>
            </a:solidFill>
            <a:prstDash val="solid"/>
          </a:ln>
        </p:spPr>
      </p:sp>
      <p:sp>
        <p:nvSpPr>
          <p:cNvPr id="22" name="Text 20"/>
          <p:cNvSpPr/>
          <p:nvPr/>
        </p:nvSpPr>
        <p:spPr>
          <a:xfrm>
            <a:off x="548640" y="3429000"/>
            <a:ext cx="1691640" cy="502920"/>
          </a:xfrm>
          <a:prstGeom prst="rect">
            <a:avLst/>
          </a:prstGeom>
          <a:noFill/>
          <a:ln/>
        </p:spPr>
        <p:txBody>
          <a:bodyPr wrap="square" lIns="0" tIns="0" rIns="0" bIns="0" rtlCol="0" anchor="ctr"/>
          <a:lstStyle/>
          <a:p>
            <a:pPr algn="ctr" indent="0" marL="0">
              <a:buNone/>
            </a:pPr>
            <a:r>
              <a:rPr lang="en-US" sz="950" b="1" dirty="0">
                <a:solidFill>
                  <a:srgbClr val="B4610F"/>
                </a:solidFill>
                <a:latin typeface="Courier New" pitchFamily="34" charset="0"/>
                <a:ea typeface="Courier New" pitchFamily="34" charset="-122"/>
                <a:cs typeface="Courier New" pitchFamily="34" charset="-120"/>
              </a:rPr>
              <a:t>RANDOM INIT</a:t>
            </a:r>
            <a:endParaRPr lang="en-US" sz="950" dirty="0"/>
          </a:p>
        </p:txBody>
      </p:sp>
      <p:sp>
        <p:nvSpPr>
          <p:cNvPr id="23" name="Shape 21"/>
          <p:cNvSpPr/>
          <p:nvPr/>
        </p:nvSpPr>
        <p:spPr>
          <a:xfrm>
            <a:off x="2240280" y="3685032"/>
            <a:ext cx="182880" cy="0"/>
          </a:xfrm>
          <a:prstGeom prst="line">
            <a:avLst/>
          </a:prstGeom>
          <a:noFill/>
          <a:ln w="15875">
            <a:solidFill>
              <a:srgbClr val="5A6478"/>
            </a:solidFill>
            <a:prstDash val="solid"/>
            <a:tailEnd type="triangle"/>
          </a:ln>
        </p:spPr>
      </p:sp>
      <p:sp>
        <p:nvSpPr>
          <p:cNvPr id="24" name="Shape 22"/>
          <p:cNvSpPr/>
          <p:nvPr/>
        </p:nvSpPr>
        <p:spPr>
          <a:xfrm>
            <a:off x="2423160" y="3429000"/>
            <a:ext cx="1691640" cy="502920"/>
          </a:xfrm>
          <a:prstGeom prst="roundRect">
            <a:avLst>
              <a:gd name="adj" fmla="val 12727"/>
            </a:avLst>
          </a:prstGeom>
          <a:solidFill>
            <a:srgbClr val="FFFFFF"/>
          </a:solidFill>
          <a:ln w="12700">
            <a:solidFill>
              <a:srgbClr val="D6DEEA"/>
            </a:solidFill>
            <a:prstDash val="solid"/>
          </a:ln>
        </p:spPr>
      </p:sp>
      <p:sp>
        <p:nvSpPr>
          <p:cNvPr id="25" name="Text 23"/>
          <p:cNvSpPr/>
          <p:nvPr/>
        </p:nvSpPr>
        <p:spPr>
          <a:xfrm>
            <a:off x="2423160" y="342900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training loop</a:t>
            </a:r>
            <a:endParaRPr lang="en-US" sz="1050" dirty="0"/>
          </a:p>
        </p:txBody>
      </p:sp>
      <p:sp>
        <p:nvSpPr>
          <p:cNvPr id="26" name="Shape 24"/>
          <p:cNvSpPr/>
          <p:nvPr/>
        </p:nvSpPr>
        <p:spPr>
          <a:xfrm>
            <a:off x="4114800" y="3685032"/>
            <a:ext cx="182880" cy="0"/>
          </a:xfrm>
          <a:prstGeom prst="line">
            <a:avLst/>
          </a:prstGeom>
          <a:noFill/>
          <a:ln w="15875">
            <a:solidFill>
              <a:srgbClr val="5A6478"/>
            </a:solidFill>
            <a:prstDash val="solid"/>
            <a:tailEnd type="triangle"/>
          </a:ln>
        </p:spPr>
      </p:sp>
      <p:sp>
        <p:nvSpPr>
          <p:cNvPr id="27" name="Shape 25"/>
          <p:cNvSpPr/>
          <p:nvPr/>
        </p:nvSpPr>
        <p:spPr>
          <a:xfrm>
            <a:off x="4297680" y="3429000"/>
            <a:ext cx="1691640" cy="502920"/>
          </a:xfrm>
          <a:prstGeom prst="roundRect">
            <a:avLst>
              <a:gd name="adj" fmla="val 12727"/>
            </a:avLst>
          </a:prstGeom>
          <a:solidFill>
            <a:srgbClr val="FFFFFF"/>
          </a:solidFill>
          <a:ln w="12700">
            <a:solidFill>
              <a:srgbClr val="D6DEEA"/>
            </a:solidFill>
            <a:prstDash val="solid"/>
          </a:ln>
        </p:spPr>
      </p:sp>
      <p:sp>
        <p:nvSpPr>
          <p:cNvPr id="28" name="Text 26"/>
          <p:cNvSpPr/>
          <p:nvPr/>
        </p:nvSpPr>
        <p:spPr>
          <a:xfrm>
            <a:off x="4297680" y="342900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validation</a:t>
            </a:r>
            <a:endParaRPr lang="en-US" sz="1050" dirty="0"/>
          </a:p>
        </p:txBody>
      </p:sp>
      <p:sp>
        <p:nvSpPr>
          <p:cNvPr id="29" name="Shape 27"/>
          <p:cNvSpPr/>
          <p:nvPr/>
        </p:nvSpPr>
        <p:spPr>
          <a:xfrm>
            <a:off x="5989320" y="3685032"/>
            <a:ext cx="182880" cy="0"/>
          </a:xfrm>
          <a:prstGeom prst="line">
            <a:avLst/>
          </a:prstGeom>
          <a:noFill/>
          <a:ln w="15875">
            <a:solidFill>
              <a:srgbClr val="5A6478"/>
            </a:solidFill>
            <a:prstDash val="solid"/>
            <a:tailEnd type="triangle"/>
          </a:ln>
        </p:spPr>
      </p:sp>
      <p:sp>
        <p:nvSpPr>
          <p:cNvPr id="30" name="Shape 28"/>
          <p:cNvSpPr/>
          <p:nvPr/>
        </p:nvSpPr>
        <p:spPr>
          <a:xfrm>
            <a:off x="6172200" y="3429000"/>
            <a:ext cx="1691640" cy="502920"/>
          </a:xfrm>
          <a:prstGeom prst="roundRect">
            <a:avLst>
              <a:gd name="adj" fmla="val 12727"/>
            </a:avLst>
          </a:prstGeom>
          <a:solidFill>
            <a:srgbClr val="FFFFFF"/>
          </a:solidFill>
          <a:ln w="12700">
            <a:solidFill>
              <a:srgbClr val="D6DEEA"/>
            </a:solidFill>
            <a:prstDash val="solid"/>
          </a:ln>
        </p:spPr>
      </p:sp>
      <p:sp>
        <p:nvSpPr>
          <p:cNvPr id="31" name="Text 29"/>
          <p:cNvSpPr/>
          <p:nvPr/>
        </p:nvSpPr>
        <p:spPr>
          <a:xfrm>
            <a:off x="6172200" y="342900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checkpoint</a:t>
            </a:r>
            <a:endParaRPr lang="en-US" sz="1050" dirty="0"/>
          </a:p>
        </p:txBody>
      </p:sp>
      <p:sp>
        <p:nvSpPr>
          <p:cNvPr id="32" name="Shape 30"/>
          <p:cNvSpPr/>
          <p:nvPr/>
        </p:nvSpPr>
        <p:spPr>
          <a:xfrm>
            <a:off x="7863840" y="3685032"/>
            <a:ext cx="182880" cy="0"/>
          </a:xfrm>
          <a:prstGeom prst="line">
            <a:avLst/>
          </a:prstGeom>
          <a:noFill/>
          <a:ln w="15875">
            <a:solidFill>
              <a:srgbClr val="5A6478"/>
            </a:solidFill>
            <a:prstDash val="solid"/>
            <a:tailEnd type="triangle"/>
          </a:ln>
        </p:spPr>
      </p:sp>
      <p:sp>
        <p:nvSpPr>
          <p:cNvPr id="33" name="Shape 31"/>
          <p:cNvSpPr/>
          <p:nvPr/>
        </p:nvSpPr>
        <p:spPr>
          <a:xfrm>
            <a:off x="8046720" y="3429000"/>
            <a:ext cx="1691640" cy="502920"/>
          </a:xfrm>
          <a:prstGeom prst="roundRect">
            <a:avLst>
              <a:gd name="adj" fmla="val 12727"/>
            </a:avLst>
          </a:prstGeom>
          <a:solidFill>
            <a:srgbClr val="E4F1EA"/>
          </a:solidFill>
          <a:ln w="12700">
            <a:solidFill>
              <a:srgbClr val="D6DEEA"/>
            </a:solidFill>
            <a:prstDash val="solid"/>
          </a:ln>
        </p:spPr>
      </p:sp>
      <p:sp>
        <p:nvSpPr>
          <p:cNvPr id="34" name="Text 32"/>
          <p:cNvSpPr/>
          <p:nvPr/>
        </p:nvSpPr>
        <p:spPr>
          <a:xfrm>
            <a:off x="8046720" y="3429000"/>
            <a:ext cx="1691640" cy="502920"/>
          </a:xfrm>
          <a:prstGeom prst="rect">
            <a:avLst/>
          </a:prstGeom>
          <a:noFill/>
          <a:ln/>
        </p:spPr>
        <p:txBody>
          <a:bodyPr wrap="square" lIns="0" tIns="0" rIns="0" bIns="0" rtlCol="0" anchor="ctr"/>
          <a:lstStyle/>
          <a:p>
            <a:pPr algn="ctr" indent="0" marL="0">
              <a:buNone/>
            </a:pPr>
            <a:r>
              <a:rPr lang="en-US" sz="1050" b="1" dirty="0">
                <a:solidFill>
                  <a:srgbClr val="146049"/>
                </a:solidFill>
                <a:latin typeface="Calibri" pitchFamily="34" charset="0"/>
                <a:ea typeface="Calibri" pitchFamily="34" charset="-122"/>
                <a:cs typeface="Calibri" pitchFamily="34" charset="-120"/>
              </a:rPr>
              <a:t>reload &amp; verify</a:t>
            </a:r>
            <a:endParaRPr lang="en-US" sz="1050" dirty="0"/>
          </a:p>
        </p:txBody>
      </p:sp>
      <p:sp>
        <p:nvSpPr>
          <p:cNvPr id="35" name="Shape 33"/>
          <p:cNvSpPr/>
          <p:nvPr/>
        </p:nvSpPr>
        <p:spPr>
          <a:xfrm>
            <a:off x="9738360" y="3685032"/>
            <a:ext cx="182880" cy="0"/>
          </a:xfrm>
          <a:prstGeom prst="line">
            <a:avLst/>
          </a:prstGeom>
          <a:noFill/>
          <a:ln w="15875">
            <a:solidFill>
              <a:srgbClr val="5A6478"/>
            </a:solidFill>
            <a:prstDash val="solid"/>
            <a:tailEnd type="triangle"/>
          </a:ln>
        </p:spPr>
      </p:sp>
      <p:sp>
        <p:nvSpPr>
          <p:cNvPr id="36" name="Shape 34"/>
          <p:cNvSpPr/>
          <p:nvPr/>
        </p:nvSpPr>
        <p:spPr>
          <a:xfrm>
            <a:off x="9921240" y="3429000"/>
            <a:ext cx="1691640" cy="502920"/>
          </a:xfrm>
          <a:prstGeom prst="roundRect">
            <a:avLst>
              <a:gd name="adj" fmla="val 12727"/>
            </a:avLst>
          </a:prstGeom>
          <a:solidFill>
            <a:srgbClr val="FFFFFF"/>
          </a:solidFill>
          <a:ln w="12700">
            <a:solidFill>
              <a:srgbClr val="D6DEEA"/>
            </a:solidFill>
            <a:prstDash val="solid"/>
          </a:ln>
        </p:spPr>
      </p:sp>
      <p:sp>
        <p:nvSpPr>
          <p:cNvPr id="37" name="Text 35"/>
          <p:cNvSpPr/>
          <p:nvPr/>
        </p:nvSpPr>
        <p:spPr>
          <a:xfrm>
            <a:off x="9921240" y="3429000"/>
            <a:ext cx="1691640" cy="50292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generate + evaluate</a:t>
            </a:r>
            <a:endParaRPr lang="en-US" sz="1050" dirty="0"/>
          </a:p>
        </p:txBody>
      </p:sp>
      <p:sp>
        <p:nvSpPr>
          <p:cNvPr id="38" name="Shape 36"/>
          <p:cNvSpPr/>
          <p:nvPr/>
        </p:nvSpPr>
        <p:spPr>
          <a:xfrm>
            <a:off x="10835640" y="2377440"/>
            <a:ext cx="0" cy="502920"/>
          </a:xfrm>
          <a:prstGeom prst="line">
            <a:avLst/>
          </a:prstGeom>
          <a:noFill/>
          <a:ln w="15875">
            <a:solidFill>
              <a:srgbClr val="5A6478"/>
            </a:solidFill>
            <a:prstDash val="solid"/>
          </a:ln>
        </p:spPr>
      </p:sp>
      <p:sp>
        <p:nvSpPr>
          <p:cNvPr id="39" name="Shape 37"/>
          <p:cNvSpPr/>
          <p:nvPr/>
        </p:nvSpPr>
        <p:spPr>
          <a:xfrm>
            <a:off x="1389888" y="2880360"/>
            <a:ext cx="9445752" cy="0"/>
          </a:xfrm>
          <a:prstGeom prst="line">
            <a:avLst/>
          </a:prstGeom>
          <a:noFill/>
          <a:ln w="15875">
            <a:solidFill>
              <a:srgbClr val="5A6478"/>
            </a:solidFill>
            <a:prstDash val="solid"/>
          </a:ln>
        </p:spPr>
      </p:sp>
      <p:sp>
        <p:nvSpPr>
          <p:cNvPr id="40" name="Shape 38"/>
          <p:cNvSpPr/>
          <p:nvPr/>
        </p:nvSpPr>
        <p:spPr>
          <a:xfrm>
            <a:off x="1389888" y="2880360"/>
            <a:ext cx="0" cy="384048"/>
          </a:xfrm>
          <a:prstGeom prst="line">
            <a:avLst/>
          </a:prstGeom>
          <a:noFill/>
          <a:ln w="15875">
            <a:solidFill>
              <a:srgbClr val="5A6478"/>
            </a:solidFill>
            <a:prstDash val="solid"/>
            <a:tailEnd type="triangle"/>
          </a:ln>
        </p:spPr>
      </p:sp>
      <p:sp>
        <p:nvSpPr>
          <p:cNvPr id="41" name="Text 39"/>
          <p:cNvSpPr/>
          <p:nvPr/>
        </p:nvSpPr>
        <p:spPr>
          <a:xfrm>
            <a:off x="548640" y="4434840"/>
            <a:ext cx="2651760" cy="457200"/>
          </a:xfrm>
          <a:prstGeom prst="rect">
            <a:avLst/>
          </a:prstGeom>
          <a:noFill/>
          <a:ln/>
        </p:spPr>
        <p:txBody>
          <a:bodyPr wrap="square" lIns="0" tIns="0" rIns="0" bIns="0" rtlCol="0" anchor="t"/>
          <a:lstStyle/>
          <a:p>
            <a:pPr indent="0" marL="0">
              <a:buNone/>
            </a:pPr>
            <a:r>
              <a:rPr lang="en-US" sz="2400" b="1" dirty="0">
                <a:solidFill>
                  <a:srgbClr val="1B4A8F"/>
                </a:solidFill>
                <a:latin typeface="Courier New" pitchFamily="34" charset="0"/>
                <a:ea typeface="Courier New" pitchFamily="34" charset="-122"/>
                <a:cs typeface="Courier New" pitchFamily="34" charset="-120"/>
              </a:rPr>
              <a:t>226,654</a:t>
            </a:r>
            <a:endParaRPr lang="en-US" sz="2400" dirty="0"/>
          </a:p>
        </p:txBody>
      </p:sp>
      <p:sp>
        <p:nvSpPr>
          <p:cNvPr id="42" name="Text 40"/>
          <p:cNvSpPr/>
          <p:nvPr/>
        </p:nvSpPr>
        <p:spPr>
          <a:xfrm>
            <a:off x="548640" y="4892040"/>
            <a:ext cx="265176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stories after cleaning</a:t>
            </a:r>
            <a:endParaRPr lang="en-US" sz="1100" dirty="0"/>
          </a:p>
        </p:txBody>
      </p:sp>
      <p:sp>
        <p:nvSpPr>
          <p:cNvPr id="43" name="Text 41"/>
          <p:cNvSpPr/>
          <p:nvPr/>
        </p:nvSpPr>
        <p:spPr>
          <a:xfrm>
            <a:off x="3337560" y="4434840"/>
            <a:ext cx="2651760" cy="457200"/>
          </a:xfrm>
          <a:prstGeom prst="rect">
            <a:avLst/>
          </a:prstGeom>
          <a:noFill/>
          <a:ln/>
        </p:spPr>
        <p:txBody>
          <a:bodyPr wrap="square" lIns="0" tIns="0" rIns="0" bIns="0" rtlCol="0" anchor="t"/>
          <a:lstStyle/>
          <a:p>
            <a:pPr indent="0" marL="0">
              <a:buNone/>
            </a:pPr>
            <a:r>
              <a:rPr lang="en-US" sz="2400" b="1" dirty="0">
                <a:solidFill>
                  <a:srgbClr val="1B4A8F"/>
                </a:solidFill>
                <a:latin typeface="Courier New" pitchFamily="34" charset="0"/>
                <a:ea typeface="Courier New" pitchFamily="34" charset="-122"/>
                <a:cs typeface="Courier New" pitchFamily="34" charset="-120"/>
              </a:rPr>
              <a:t>4,096</a:t>
            </a:r>
            <a:endParaRPr lang="en-US" sz="2400" dirty="0"/>
          </a:p>
        </p:txBody>
      </p:sp>
      <p:sp>
        <p:nvSpPr>
          <p:cNvPr id="44" name="Text 42"/>
          <p:cNvSpPr/>
          <p:nvPr/>
        </p:nvSpPr>
        <p:spPr>
          <a:xfrm>
            <a:off x="3337560" y="4892040"/>
            <a:ext cx="265176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token vocabulary</a:t>
            </a:r>
            <a:endParaRPr lang="en-US" sz="1100" dirty="0"/>
          </a:p>
        </p:txBody>
      </p:sp>
      <p:sp>
        <p:nvSpPr>
          <p:cNvPr id="45" name="Text 43"/>
          <p:cNvSpPr/>
          <p:nvPr/>
        </p:nvSpPr>
        <p:spPr>
          <a:xfrm>
            <a:off x="6126480" y="4434840"/>
            <a:ext cx="2651760" cy="457200"/>
          </a:xfrm>
          <a:prstGeom prst="rect">
            <a:avLst/>
          </a:prstGeom>
          <a:noFill/>
          <a:ln/>
        </p:spPr>
        <p:txBody>
          <a:bodyPr wrap="square" lIns="0" tIns="0" rIns="0" bIns="0" rtlCol="0" anchor="t"/>
          <a:lstStyle/>
          <a:p>
            <a:pPr indent="0" marL="0">
              <a:buNone/>
            </a:pPr>
            <a:r>
              <a:rPr lang="en-US" sz="2400" b="1" dirty="0">
                <a:solidFill>
                  <a:srgbClr val="1B4A8F"/>
                </a:solidFill>
                <a:latin typeface="Courier New" pitchFamily="34" charset="0"/>
                <a:ea typeface="Courier New" pitchFamily="34" charset="-122"/>
                <a:cs typeface="Courier New" pitchFamily="34" charset="-120"/>
              </a:rPr>
              <a:t>51,601,430</a:t>
            </a:r>
            <a:endParaRPr lang="en-US" sz="2400" dirty="0"/>
          </a:p>
        </p:txBody>
      </p:sp>
      <p:sp>
        <p:nvSpPr>
          <p:cNvPr id="46" name="Text 44"/>
          <p:cNvSpPr/>
          <p:nvPr/>
        </p:nvSpPr>
        <p:spPr>
          <a:xfrm>
            <a:off x="6126480" y="4892040"/>
            <a:ext cx="265176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training tokens</a:t>
            </a:r>
            <a:endParaRPr lang="en-US" sz="1100" dirty="0"/>
          </a:p>
        </p:txBody>
      </p:sp>
      <p:sp>
        <p:nvSpPr>
          <p:cNvPr id="47" name="Text 45"/>
          <p:cNvSpPr/>
          <p:nvPr/>
        </p:nvSpPr>
        <p:spPr>
          <a:xfrm>
            <a:off x="8915400" y="4434840"/>
            <a:ext cx="2651760" cy="457200"/>
          </a:xfrm>
          <a:prstGeom prst="rect">
            <a:avLst/>
          </a:prstGeom>
          <a:noFill/>
          <a:ln/>
        </p:spPr>
        <p:txBody>
          <a:bodyPr wrap="square" lIns="0" tIns="0" rIns="0" bIns="0" rtlCol="0" anchor="t"/>
          <a:lstStyle/>
          <a:p>
            <a:pPr indent="0" marL="0">
              <a:buNone/>
            </a:pPr>
            <a:r>
              <a:rPr lang="en-US" sz="2400" b="1" dirty="0">
                <a:solidFill>
                  <a:srgbClr val="1B4A8F"/>
                </a:solidFill>
                <a:latin typeface="Courier New" pitchFamily="34" charset="0"/>
                <a:ea typeface="Courier New" pitchFamily="34" charset="-122"/>
                <a:cs typeface="Courier New" pitchFamily="34" charset="-120"/>
              </a:rPr>
              <a:t>1,331,968</a:t>
            </a:r>
            <a:endParaRPr lang="en-US" sz="2400" dirty="0"/>
          </a:p>
        </p:txBody>
      </p:sp>
      <p:sp>
        <p:nvSpPr>
          <p:cNvPr id="48" name="Text 46"/>
          <p:cNvSpPr/>
          <p:nvPr/>
        </p:nvSpPr>
        <p:spPr>
          <a:xfrm>
            <a:off x="8915400" y="4892040"/>
            <a:ext cx="265176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parameters</a:t>
            </a:r>
            <a:endParaRPr lang="en-US" sz="1100" dirty="0"/>
          </a:p>
        </p:txBody>
      </p:sp>
      <p:sp>
        <p:nvSpPr>
          <p:cNvPr id="49" name="Text 47"/>
          <p:cNvSpPr/>
          <p:nvPr/>
        </p:nvSpPr>
        <p:spPr>
          <a:xfrm>
            <a:off x="548640" y="5989320"/>
            <a:ext cx="11064240" cy="548640"/>
          </a:xfrm>
          <a:prstGeom prst="rect">
            <a:avLst/>
          </a:prstGeom>
          <a:noFill/>
          <a:ln/>
        </p:spPr>
        <p:txBody>
          <a:bodyPr wrap="square" lIns="0" tIns="0" rIns="0" bIns="0" rtlCol="0" anchor="t"/>
          <a:lstStyle/>
          <a:p>
            <a:pPr indent="0" marL="0">
              <a:buNone/>
            </a:pPr>
            <a:r>
              <a:rPr lang="en-US" sz="1200" dirty="0">
                <a:solidFill>
                  <a:srgbClr val="10203A"/>
                </a:solidFill>
                <a:latin typeface="Calibri" pitchFamily="34" charset="0"/>
                <a:ea typeface="Calibri" pitchFamily="34" charset="-122"/>
                <a:cs typeface="Calibri" pitchFamily="34" charset="-120"/>
              </a:rPr>
              <a:t>The amber box is the moment the model is created with random weights. The green box is the check that proves the saved checkpoint is a real, portable artefact — it reloaded in a fresh process and reproduced the score exactly.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Dataset</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TinyStories — chosen because it is the corpus at which a model our size is known to work.</a:t>
            </a:r>
            <a:endParaRPr lang="en-US" sz="1350" dirty="0"/>
          </a:p>
        </p:txBody>
      </p:sp>
      <p:sp>
        <p:nvSpPr>
          <p:cNvPr id="4" name="Shape 2"/>
          <p:cNvSpPr/>
          <p:nvPr/>
        </p:nvSpPr>
        <p:spPr>
          <a:xfrm>
            <a:off x="548640" y="1600200"/>
            <a:ext cx="5577840" cy="310896"/>
          </a:xfrm>
          <a:prstGeom prst="rect">
            <a:avLst/>
          </a:prstGeom>
          <a:solidFill>
            <a:srgbClr val="F1F4F9"/>
          </a:solidFill>
          <a:ln w="9525">
            <a:solidFill>
              <a:srgbClr val="D6DEEA"/>
            </a:solidFill>
            <a:prstDash val="solid"/>
          </a:ln>
        </p:spPr>
      </p:sp>
      <p:sp>
        <p:nvSpPr>
          <p:cNvPr id="5" name="Text 3"/>
          <p:cNvSpPr/>
          <p:nvPr/>
        </p:nvSpPr>
        <p:spPr>
          <a:xfrm>
            <a:off x="621792" y="1600200"/>
            <a:ext cx="2048256" cy="310896"/>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Property</a:t>
            </a:r>
            <a:endParaRPr lang="en-US" sz="950" dirty="0"/>
          </a:p>
        </p:txBody>
      </p:sp>
      <p:sp>
        <p:nvSpPr>
          <p:cNvPr id="6" name="Text 4"/>
          <p:cNvSpPr/>
          <p:nvPr/>
        </p:nvSpPr>
        <p:spPr>
          <a:xfrm>
            <a:off x="2816352" y="1600200"/>
            <a:ext cx="3236976" cy="310896"/>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Value</a:t>
            </a:r>
            <a:endParaRPr lang="en-US" sz="950" dirty="0"/>
          </a:p>
        </p:txBody>
      </p:sp>
      <p:sp>
        <p:nvSpPr>
          <p:cNvPr id="7" name="Shape 5"/>
          <p:cNvSpPr/>
          <p:nvPr/>
        </p:nvSpPr>
        <p:spPr>
          <a:xfrm>
            <a:off x="548640" y="1911096"/>
            <a:ext cx="5577840" cy="310896"/>
          </a:xfrm>
          <a:prstGeom prst="rect">
            <a:avLst/>
          </a:prstGeom>
          <a:solidFill>
            <a:srgbClr val="FFFFFF"/>
          </a:solidFill>
          <a:ln w="9525">
            <a:solidFill>
              <a:srgbClr val="D6DEEA"/>
            </a:solidFill>
            <a:prstDash val="solid"/>
          </a:ln>
        </p:spPr>
      </p:sp>
      <p:sp>
        <p:nvSpPr>
          <p:cNvPr id="8" name="Text 6"/>
          <p:cNvSpPr/>
          <p:nvPr/>
        </p:nvSpPr>
        <p:spPr>
          <a:xfrm>
            <a:off x="621792" y="1911096"/>
            <a:ext cx="20482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Source</a:t>
            </a:r>
            <a:endParaRPr lang="en-US" sz="1100" dirty="0"/>
          </a:p>
        </p:txBody>
      </p:sp>
      <p:sp>
        <p:nvSpPr>
          <p:cNvPr id="9" name="Text 7"/>
          <p:cNvSpPr/>
          <p:nvPr/>
        </p:nvSpPr>
        <p:spPr>
          <a:xfrm>
            <a:off x="2816352" y="1911096"/>
            <a:ext cx="32369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ourier New" pitchFamily="34" charset="0"/>
                <a:ea typeface="Courier New" pitchFamily="34" charset="-122"/>
                <a:cs typeface="Courier New" pitchFamily="34" charset="-120"/>
              </a:rPr>
              <a:t>roneneldan/TinyStories</a:t>
            </a:r>
            <a:endParaRPr lang="en-US" sz="1100" dirty="0"/>
          </a:p>
        </p:txBody>
      </p:sp>
      <p:sp>
        <p:nvSpPr>
          <p:cNvPr id="10" name="Shape 8"/>
          <p:cNvSpPr/>
          <p:nvPr/>
        </p:nvSpPr>
        <p:spPr>
          <a:xfrm>
            <a:off x="548640" y="2221992"/>
            <a:ext cx="5577840" cy="310896"/>
          </a:xfrm>
          <a:prstGeom prst="rect">
            <a:avLst/>
          </a:prstGeom>
          <a:solidFill>
            <a:srgbClr val="FFFFFF"/>
          </a:solidFill>
          <a:ln w="9525">
            <a:solidFill>
              <a:srgbClr val="D6DEEA"/>
            </a:solidFill>
            <a:prstDash val="solid"/>
          </a:ln>
        </p:spPr>
      </p:sp>
      <p:sp>
        <p:nvSpPr>
          <p:cNvPr id="11" name="Text 9"/>
          <p:cNvSpPr/>
          <p:nvPr/>
        </p:nvSpPr>
        <p:spPr>
          <a:xfrm>
            <a:off x="621792" y="2221992"/>
            <a:ext cx="20482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License</a:t>
            </a:r>
            <a:endParaRPr lang="en-US" sz="1100" dirty="0"/>
          </a:p>
        </p:txBody>
      </p:sp>
      <p:sp>
        <p:nvSpPr>
          <p:cNvPr id="12" name="Text 10"/>
          <p:cNvSpPr/>
          <p:nvPr/>
        </p:nvSpPr>
        <p:spPr>
          <a:xfrm>
            <a:off x="2816352" y="2221992"/>
            <a:ext cx="32369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ourier New" pitchFamily="34" charset="0"/>
                <a:ea typeface="Courier New" pitchFamily="34" charset="-122"/>
                <a:cs typeface="Courier New" pitchFamily="34" charset="-120"/>
              </a:rPr>
              <a:t>CDLA-Sharing-1.0</a:t>
            </a:r>
            <a:endParaRPr lang="en-US" sz="1100" dirty="0"/>
          </a:p>
        </p:txBody>
      </p:sp>
      <p:sp>
        <p:nvSpPr>
          <p:cNvPr id="13" name="Shape 11"/>
          <p:cNvSpPr/>
          <p:nvPr/>
        </p:nvSpPr>
        <p:spPr>
          <a:xfrm>
            <a:off x="548640" y="2532888"/>
            <a:ext cx="5577840" cy="310896"/>
          </a:xfrm>
          <a:prstGeom prst="rect">
            <a:avLst/>
          </a:prstGeom>
          <a:solidFill>
            <a:srgbClr val="FFFFFF"/>
          </a:solidFill>
          <a:ln w="9525">
            <a:solidFill>
              <a:srgbClr val="D6DEEA"/>
            </a:solidFill>
            <a:prstDash val="solid"/>
          </a:ln>
        </p:spPr>
      </p:sp>
      <p:sp>
        <p:nvSpPr>
          <p:cNvPr id="14" name="Text 12"/>
          <p:cNvSpPr/>
          <p:nvPr/>
        </p:nvSpPr>
        <p:spPr>
          <a:xfrm>
            <a:off x="621792" y="2532888"/>
            <a:ext cx="20482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Content</a:t>
            </a:r>
            <a:endParaRPr lang="en-US" sz="1100" dirty="0"/>
          </a:p>
        </p:txBody>
      </p:sp>
      <p:sp>
        <p:nvSpPr>
          <p:cNvPr id="15" name="Text 13"/>
          <p:cNvSpPr/>
          <p:nvPr/>
        </p:nvSpPr>
        <p:spPr>
          <a:xfrm>
            <a:off x="2816352" y="2532888"/>
            <a:ext cx="32369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ourier New" pitchFamily="34" charset="0"/>
                <a:ea typeface="Courier New" pitchFamily="34" charset="-122"/>
                <a:cs typeface="Courier New" pitchFamily="34" charset="-120"/>
              </a:rPr>
              <a:t>short children's stories, simple vocabulary</a:t>
            </a:r>
            <a:endParaRPr lang="en-US" sz="1100" dirty="0"/>
          </a:p>
        </p:txBody>
      </p:sp>
      <p:sp>
        <p:nvSpPr>
          <p:cNvPr id="16" name="Shape 14"/>
          <p:cNvSpPr/>
          <p:nvPr/>
        </p:nvSpPr>
        <p:spPr>
          <a:xfrm>
            <a:off x="548640" y="2843784"/>
            <a:ext cx="5577840" cy="310896"/>
          </a:xfrm>
          <a:prstGeom prst="rect">
            <a:avLst/>
          </a:prstGeom>
          <a:solidFill>
            <a:srgbClr val="FFFFFF"/>
          </a:solidFill>
          <a:ln w="9525">
            <a:solidFill>
              <a:srgbClr val="D6DEEA"/>
            </a:solidFill>
            <a:prstDash val="solid"/>
          </a:ln>
        </p:spPr>
      </p:sp>
      <p:sp>
        <p:nvSpPr>
          <p:cNvPr id="17" name="Text 15"/>
          <p:cNvSpPr/>
          <p:nvPr/>
        </p:nvSpPr>
        <p:spPr>
          <a:xfrm>
            <a:off x="621792" y="2843784"/>
            <a:ext cx="20482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Documents loaded</a:t>
            </a:r>
            <a:endParaRPr lang="en-US" sz="1100" dirty="0"/>
          </a:p>
        </p:txBody>
      </p:sp>
      <p:sp>
        <p:nvSpPr>
          <p:cNvPr id="18" name="Text 16"/>
          <p:cNvSpPr/>
          <p:nvPr/>
        </p:nvSpPr>
        <p:spPr>
          <a:xfrm>
            <a:off x="2816352" y="2843784"/>
            <a:ext cx="32369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ourier New" pitchFamily="34" charset="0"/>
                <a:ea typeface="Courier New" pitchFamily="34" charset="-122"/>
                <a:cs typeface="Courier New" pitchFamily="34" charset="-120"/>
              </a:rPr>
              <a:t>230,000</a:t>
            </a:r>
            <a:endParaRPr lang="en-US" sz="1100" dirty="0"/>
          </a:p>
        </p:txBody>
      </p:sp>
      <p:sp>
        <p:nvSpPr>
          <p:cNvPr id="19" name="Shape 17"/>
          <p:cNvSpPr/>
          <p:nvPr/>
        </p:nvSpPr>
        <p:spPr>
          <a:xfrm>
            <a:off x="548640" y="3154680"/>
            <a:ext cx="5577840" cy="310896"/>
          </a:xfrm>
          <a:prstGeom prst="rect">
            <a:avLst/>
          </a:prstGeom>
          <a:solidFill>
            <a:srgbClr val="FFFFFF"/>
          </a:solidFill>
          <a:ln w="9525">
            <a:solidFill>
              <a:srgbClr val="D6DEEA"/>
            </a:solidFill>
            <a:prstDash val="solid"/>
          </a:ln>
        </p:spPr>
      </p:sp>
      <p:sp>
        <p:nvSpPr>
          <p:cNvPr id="20" name="Text 18"/>
          <p:cNvSpPr/>
          <p:nvPr/>
        </p:nvSpPr>
        <p:spPr>
          <a:xfrm>
            <a:off x="621792" y="3154680"/>
            <a:ext cx="20482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After clean + dedup</a:t>
            </a:r>
            <a:endParaRPr lang="en-US" sz="1100" dirty="0"/>
          </a:p>
        </p:txBody>
      </p:sp>
      <p:sp>
        <p:nvSpPr>
          <p:cNvPr id="21" name="Text 19"/>
          <p:cNvSpPr/>
          <p:nvPr/>
        </p:nvSpPr>
        <p:spPr>
          <a:xfrm>
            <a:off x="2816352" y="3154680"/>
            <a:ext cx="32369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ourier New" pitchFamily="34" charset="0"/>
                <a:ea typeface="Courier New" pitchFamily="34" charset="-122"/>
                <a:cs typeface="Courier New" pitchFamily="34" charset="-120"/>
              </a:rPr>
              <a:t>226,654</a:t>
            </a:r>
            <a:endParaRPr lang="en-US" sz="1100" dirty="0"/>
          </a:p>
        </p:txBody>
      </p:sp>
      <p:sp>
        <p:nvSpPr>
          <p:cNvPr id="22" name="Shape 20"/>
          <p:cNvSpPr/>
          <p:nvPr/>
        </p:nvSpPr>
        <p:spPr>
          <a:xfrm>
            <a:off x="548640" y="3465576"/>
            <a:ext cx="5577840" cy="310896"/>
          </a:xfrm>
          <a:prstGeom prst="rect">
            <a:avLst/>
          </a:prstGeom>
          <a:solidFill>
            <a:srgbClr val="FFFFFF"/>
          </a:solidFill>
          <a:ln w="9525">
            <a:solidFill>
              <a:srgbClr val="D6DEEA"/>
            </a:solidFill>
            <a:prstDash val="solid"/>
          </a:ln>
        </p:spPr>
      </p:sp>
      <p:sp>
        <p:nvSpPr>
          <p:cNvPr id="23" name="Text 21"/>
          <p:cNvSpPr/>
          <p:nvPr/>
        </p:nvSpPr>
        <p:spPr>
          <a:xfrm>
            <a:off x="621792" y="3465576"/>
            <a:ext cx="20482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Characters</a:t>
            </a:r>
            <a:endParaRPr lang="en-US" sz="1100" dirty="0"/>
          </a:p>
        </p:txBody>
      </p:sp>
      <p:sp>
        <p:nvSpPr>
          <p:cNvPr id="24" name="Text 22"/>
          <p:cNvSpPr/>
          <p:nvPr/>
        </p:nvSpPr>
        <p:spPr>
          <a:xfrm>
            <a:off x="2816352" y="3465576"/>
            <a:ext cx="32369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ourier New" pitchFamily="34" charset="0"/>
                <a:ea typeface="Courier New" pitchFamily="34" charset="-122"/>
                <a:cs typeface="Courier New" pitchFamily="34" charset="-120"/>
              </a:rPr>
              <a:t>204,352,155</a:t>
            </a:r>
            <a:endParaRPr lang="en-US" sz="1100" dirty="0"/>
          </a:p>
        </p:txBody>
      </p:sp>
      <p:sp>
        <p:nvSpPr>
          <p:cNvPr id="25" name="Shape 23"/>
          <p:cNvSpPr/>
          <p:nvPr/>
        </p:nvSpPr>
        <p:spPr>
          <a:xfrm>
            <a:off x="548640" y="3776472"/>
            <a:ext cx="5577840" cy="310896"/>
          </a:xfrm>
          <a:prstGeom prst="rect">
            <a:avLst/>
          </a:prstGeom>
          <a:solidFill>
            <a:srgbClr val="FFFFFF"/>
          </a:solidFill>
          <a:ln w="9525">
            <a:solidFill>
              <a:srgbClr val="D6DEEA"/>
            </a:solidFill>
            <a:prstDash val="solid"/>
          </a:ln>
        </p:spPr>
      </p:sp>
      <p:sp>
        <p:nvSpPr>
          <p:cNvPr id="26" name="Text 24"/>
          <p:cNvSpPr/>
          <p:nvPr/>
        </p:nvSpPr>
        <p:spPr>
          <a:xfrm>
            <a:off x="621792" y="3776472"/>
            <a:ext cx="20482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Split</a:t>
            </a:r>
            <a:endParaRPr lang="en-US" sz="1100" dirty="0"/>
          </a:p>
        </p:txBody>
      </p:sp>
      <p:sp>
        <p:nvSpPr>
          <p:cNvPr id="27" name="Text 25"/>
          <p:cNvSpPr/>
          <p:nvPr/>
        </p:nvSpPr>
        <p:spPr>
          <a:xfrm>
            <a:off x="2816352" y="3776472"/>
            <a:ext cx="32369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ourier New" pitchFamily="34" charset="0"/>
                <a:ea typeface="Courier New" pitchFamily="34" charset="-122"/>
                <a:cs typeface="Courier New" pitchFamily="34" charset="-120"/>
              </a:rPr>
              <a:t>98 / 1 / 1  (seed 1337)</a:t>
            </a:r>
            <a:endParaRPr lang="en-US" sz="1100" dirty="0"/>
          </a:p>
        </p:txBody>
      </p:sp>
      <p:sp>
        <p:nvSpPr>
          <p:cNvPr id="28" name="Shape 26"/>
          <p:cNvSpPr/>
          <p:nvPr/>
        </p:nvSpPr>
        <p:spPr>
          <a:xfrm>
            <a:off x="6400800" y="1600200"/>
            <a:ext cx="5212080" cy="2194560"/>
          </a:xfrm>
          <a:prstGeom prst="roundRect">
            <a:avLst>
              <a:gd name="adj" fmla="val 2917"/>
            </a:avLst>
          </a:prstGeom>
          <a:solidFill>
            <a:srgbClr val="E4F1EA"/>
          </a:solidFill>
          <a:ln w="12700">
            <a:solidFill>
              <a:srgbClr val="D6DEEA"/>
            </a:solidFill>
            <a:prstDash val="solid"/>
          </a:ln>
        </p:spPr>
      </p:sp>
      <p:sp>
        <p:nvSpPr>
          <p:cNvPr id="29" name="Text 27"/>
          <p:cNvSpPr/>
          <p:nvPr/>
        </p:nvSpPr>
        <p:spPr>
          <a:xfrm>
            <a:off x="6720840" y="1783080"/>
            <a:ext cx="4572000" cy="274320"/>
          </a:xfrm>
          <a:prstGeom prst="rect">
            <a:avLst/>
          </a:prstGeom>
          <a:noFill/>
          <a:ln/>
        </p:spPr>
        <p:txBody>
          <a:bodyPr wrap="square" lIns="0" tIns="0" rIns="0" bIns="0" rtlCol="0" anchor="ctr"/>
          <a:lstStyle/>
          <a:p>
            <a:pPr indent="0" marL="0">
              <a:buNone/>
            </a:pPr>
            <a:r>
              <a:rPr lang="en-US" sz="1450" b="1" dirty="0">
                <a:solidFill>
                  <a:srgbClr val="146049"/>
                </a:solidFill>
                <a:latin typeface="Calibri" pitchFamily="34" charset="0"/>
                <a:ea typeface="Calibri" pitchFamily="34" charset="-122"/>
                <a:cs typeface="Calibri" pitchFamily="34" charset="-120"/>
              </a:rPr>
              <a:t>Why this dataset</a:t>
            </a:r>
            <a:endParaRPr lang="en-US" sz="1450" dirty="0"/>
          </a:p>
        </p:txBody>
      </p:sp>
      <p:sp>
        <p:nvSpPr>
          <p:cNvPr id="30" name="Text 28"/>
          <p:cNvSpPr/>
          <p:nvPr/>
        </p:nvSpPr>
        <p:spPr>
          <a:xfrm>
            <a:off x="6720840" y="2121408"/>
            <a:ext cx="4572000" cy="1554480"/>
          </a:xfrm>
          <a:prstGeom prst="rect">
            <a:avLst/>
          </a:prstGeom>
          <a:noFill/>
          <a:ln/>
        </p:spPr>
        <p:txBody>
          <a:bodyPr wrap="square" lIns="0" tIns="0" rIns="0" bIns="0" rtlCol="0" anchor="t"/>
          <a:lstStyle/>
          <a:p>
            <a:pPr indent="0" marL="0">
              <a:buNone/>
            </a:pPr>
            <a:r>
              <a:rPr lang="en-US" sz="1150" dirty="0">
                <a:solidFill>
                  <a:srgbClr val="14402F"/>
                </a:solidFill>
                <a:latin typeface="Calibri" pitchFamily="34" charset="0"/>
                <a:ea typeface="Calibri" pitchFamily="34" charset="-122"/>
                <a:cs typeface="Calibri" pitchFamily="34" charset="-120"/>
              </a:rPr>
              <a:t>A 1.33M-parameter model cannot learn full English. Eldan &amp; Li (2023) showed that models in the 1–30M range DO produce fluent English on TinyStories, because its vocabulary and sentence structure are deliberately restricted.</a:t>
            </a:r>
            <a:endParaRPr lang="en-US" sz="1150" dirty="0"/>
          </a:p>
          <a:p>
            <a:pPr indent="0" marL="0">
              <a:buNone/>
            </a:pPr>
            <a:endParaRPr lang="en-US" sz="1150" dirty="0"/>
          </a:p>
          <a:p>
            <a:pPr indent="0" marL="0">
              <a:buNone/>
            </a:pPr>
            <a:r>
              <a:rPr lang="en-US" sz="1150" dirty="0">
                <a:solidFill>
                  <a:srgbClr val="14402F"/>
                </a:solidFill>
                <a:latin typeface="Calibri" pitchFamily="34" charset="0"/>
                <a:ea typeface="Calibri" pitchFamily="34" charset="-122"/>
                <a:cs typeface="Calibri" pitchFamily="34" charset="-120"/>
              </a:rPr>
              <a:t>On Wikipedia at our scale, the output is gibberish.</a:t>
            </a:r>
            <a:endParaRPr lang="en-US" sz="1150" dirty="0"/>
          </a:p>
        </p:txBody>
      </p:sp>
      <p:sp>
        <p:nvSpPr>
          <p:cNvPr id="31" name="Text 29"/>
          <p:cNvSpPr/>
          <p:nvPr/>
        </p:nvSpPr>
        <p:spPr>
          <a:xfrm>
            <a:off x="6400800" y="3931920"/>
            <a:ext cx="5212080" cy="274320"/>
          </a:xfrm>
          <a:prstGeom prst="rect">
            <a:avLst/>
          </a:prstGeom>
          <a:noFill/>
          <a:ln/>
        </p:spPr>
        <p:txBody>
          <a:bodyPr wrap="square" lIns="0" tIns="0" rIns="0" bIns="0" rtlCol="0" anchor="ctr"/>
          <a:lstStyle/>
          <a:p>
            <a:pPr indent="0" marL="0">
              <a:buNone/>
            </a:pPr>
            <a:r>
              <a:rPr lang="en-US" sz="1350" b="1" dirty="0">
                <a:solidFill>
                  <a:srgbClr val="10203A"/>
                </a:solidFill>
                <a:latin typeface="Calibri" pitchFamily="34" charset="0"/>
                <a:ea typeface="Calibri" pitchFamily="34" charset="-122"/>
                <a:cs typeface="Calibri" pitchFamily="34" charset="-120"/>
              </a:rPr>
              <a:t>Preprocessing — and why each step matters</a:t>
            </a:r>
            <a:endParaRPr lang="en-US" sz="1350" dirty="0"/>
          </a:p>
        </p:txBody>
      </p:sp>
      <p:sp>
        <p:nvSpPr>
          <p:cNvPr id="32" name="Text 30"/>
          <p:cNvSpPr/>
          <p:nvPr/>
        </p:nvSpPr>
        <p:spPr>
          <a:xfrm>
            <a:off x="6400800" y="4279392"/>
            <a:ext cx="5212080" cy="17373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5A6478"/>
                </a:solidFill>
                <a:latin typeface="Calibri" pitchFamily="34" charset="0"/>
                <a:ea typeface="Calibri" pitchFamily="34" charset="-122"/>
                <a:cs typeface="Calibri" pitchFamily="34" charset="-120"/>
              </a:rPr>
              <a:t>Deduplicate BEFORE splitting — otherwise a duplicate lands in both train and validation and the score is falsely good</a:t>
            </a:r>
            <a:endParaRPr lang="en-US" sz="1050" dirty="0"/>
          </a:p>
          <a:p>
            <a:pPr marL="342900" indent="-342900">
              <a:spcAft>
                <a:spcPts val="500"/>
              </a:spcAft>
              <a:buSzPct val="100000"/>
              <a:buChar char="•"/>
            </a:pPr>
            <a:r>
              <a:rPr lang="en-US" sz="1050" dirty="0">
                <a:solidFill>
                  <a:srgbClr val="5A6478"/>
                </a:solidFill>
                <a:latin typeface="Calibri" pitchFamily="34" charset="0"/>
                <a:ea typeface="Calibri" pitchFamily="34" charset="-122"/>
                <a:cs typeface="Calibri" pitchFamily="34" charset="-120"/>
              </a:rPr>
              <a:t>Fit the tokenizer on the TRAIN split only — fitting on everything leaks validation statistics into the vocabulary</a:t>
            </a:r>
            <a:endParaRPr lang="en-US" sz="1050" dirty="0"/>
          </a:p>
          <a:p>
            <a:pPr marL="342900" indent="-342900">
              <a:spcAft>
                <a:spcPts val="500"/>
              </a:spcAft>
              <a:buSzPct val="100000"/>
              <a:buChar char="•"/>
            </a:pPr>
            <a:r>
              <a:rPr lang="en-US" sz="1050" dirty="0">
                <a:solidFill>
                  <a:srgbClr val="5A6478"/>
                </a:solidFill>
                <a:latin typeface="Calibri" pitchFamily="34" charset="0"/>
                <a:ea typeface="Calibri" pitchFamily="34" charset="-122"/>
                <a:cs typeface="Calibri" pitchFamily="34" charset="-120"/>
              </a:rPr>
              <a:t>Pack, do not pad — padding a 128-token window would waste a large part of a small compute budget</a:t>
            </a:r>
            <a:endParaRPr lang="en-US" sz="1050" dirty="0"/>
          </a:p>
        </p:txBody>
      </p:sp>
      <p:sp>
        <p:nvSpPr>
          <p:cNvPr id="33" name="Text 31"/>
          <p:cNvSpPr/>
          <p:nvPr/>
        </p:nvSpPr>
        <p:spPr>
          <a:xfrm>
            <a:off x="548640" y="4206240"/>
            <a:ext cx="5577840" cy="274320"/>
          </a:xfrm>
          <a:prstGeom prst="rect">
            <a:avLst/>
          </a:prstGeom>
          <a:noFill/>
          <a:ln/>
        </p:spPr>
        <p:txBody>
          <a:bodyPr wrap="square" lIns="0" tIns="0" rIns="0" bIns="0" rtlCol="0" anchor="ctr"/>
          <a:lstStyle/>
          <a:p>
            <a:pPr indent="0" marL="0">
              <a:buNone/>
            </a:pPr>
            <a:r>
              <a:rPr lang="en-US" sz="1350" b="1" dirty="0">
                <a:solidFill>
                  <a:srgbClr val="10203A"/>
                </a:solidFill>
                <a:latin typeface="Calibri" pitchFamily="34" charset="0"/>
                <a:ea typeface="Calibri" pitchFamily="34" charset="-122"/>
                <a:cs typeface="Calibri" pitchFamily="34" charset="-120"/>
              </a:rPr>
              <a:t>Text → training data</a:t>
            </a:r>
            <a:endParaRPr lang="en-US" sz="1350" dirty="0"/>
          </a:p>
        </p:txBody>
      </p:sp>
      <p:sp>
        <p:nvSpPr>
          <p:cNvPr id="34" name="Text 32"/>
          <p:cNvSpPr/>
          <p:nvPr/>
        </p:nvSpPr>
        <p:spPr>
          <a:xfrm>
            <a:off x="548640" y="4553712"/>
            <a:ext cx="5577840" cy="1463040"/>
          </a:xfrm>
          <a:prstGeom prst="rect">
            <a:avLst/>
          </a:prstGeom>
          <a:noFill/>
          <a:ln/>
        </p:spPr>
        <p:txBody>
          <a:bodyPr wrap="square" lIns="0" tIns="0" rIns="0" bIns="0" rtlCol="0" anchor="t"/>
          <a:lstStyle/>
          <a:p>
            <a:pPr indent="0" marL="0">
              <a:buNone/>
            </a:pPr>
            <a:r>
              <a:rPr lang="en-US" sz="950" dirty="0">
                <a:solidFill>
                  <a:srgbClr val="10203A"/>
                </a:solidFill>
                <a:latin typeface="Courier New" pitchFamily="34" charset="0"/>
                <a:ea typeface="Courier New" pitchFamily="34" charset="-122"/>
                <a:cs typeface="Courier New" pitchFamily="34" charset="-120"/>
              </a:rPr>
              <a:t>"Once upon a time, there was a little girl."</a:t>
            </a: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        ↓  tokenizer</a:t>
            </a: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[1, 3361, 432, 97, 507, 34, 341, 331, 97, 884, ...]</a:t>
            </a: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        ↓  slice into 129-token windows</a:t>
            </a: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input  = window[0:128]</a:t>
            </a: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target = window[1:129]     ← shifted by ONE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Custom BPE tokenizer</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Our own implementation. Vocabulary learned from our corpus, not downloaded.</a:t>
            </a:r>
            <a:endParaRPr lang="en-US" sz="1350" dirty="0"/>
          </a:p>
        </p:txBody>
      </p:sp>
      <p:sp>
        <p:nvSpPr>
          <p:cNvPr id="4" name="Text 2"/>
          <p:cNvSpPr/>
          <p:nvPr/>
        </p:nvSpPr>
        <p:spPr>
          <a:xfrm>
            <a:off x="548640" y="1554480"/>
            <a:ext cx="5669280" cy="274320"/>
          </a:xfrm>
          <a:prstGeom prst="rect">
            <a:avLst/>
          </a:prstGeom>
          <a:noFill/>
          <a:ln/>
        </p:spPr>
        <p:txBody>
          <a:bodyPr wrap="square" lIns="0" tIns="0" rIns="0" bIns="0" rtlCol="0" anchor="ctr"/>
          <a:lstStyle/>
          <a:p>
            <a:pPr indent="0" marL="0">
              <a:buNone/>
            </a:pPr>
            <a:r>
              <a:rPr lang="en-US" sz="1400" b="1" dirty="0">
                <a:solidFill>
                  <a:srgbClr val="10203A"/>
                </a:solidFill>
                <a:latin typeface="Calibri" pitchFamily="34" charset="0"/>
                <a:ea typeface="Calibri" pitchFamily="34" charset="-122"/>
                <a:cs typeface="Calibri" pitchFamily="34" charset="-120"/>
              </a:rPr>
              <a:t>How byte-pair encoding works</a:t>
            </a:r>
            <a:endParaRPr lang="en-US" sz="1400" dirty="0"/>
          </a:p>
        </p:txBody>
      </p:sp>
      <p:sp>
        <p:nvSpPr>
          <p:cNvPr id="5" name="Text 3"/>
          <p:cNvSpPr/>
          <p:nvPr/>
        </p:nvSpPr>
        <p:spPr>
          <a:xfrm>
            <a:off x="548640" y="1883664"/>
            <a:ext cx="5669280" cy="73152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Start with text as single characters. Repeatedly find the most frequent adjacent pair and merge it into one new symbol. Record every merge in order. Stop at the target vocabulary size.</a:t>
            </a:r>
            <a:endParaRPr lang="en-US" sz="1200" dirty="0"/>
          </a:p>
        </p:txBody>
      </p:sp>
      <p:sp>
        <p:nvSpPr>
          <p:cNvPr id="6" name="Shape 4"/>
          <p:cNvSpPr/>
          <p:nvPr/>
        </p:nvSpPr>
        <p:spPr>
          <a:xfrm>
            <a:off x="548640" y="2651760"/>
            <a:ext cx="5669280" cy="2331720"/>
          </a:xfrm>
          <a:prstGeom prst="roundRect">
            <a:avLst>
              <a:gd name="adj" fmla="val 2745"/>
            </a:avLst>
          </a:prstGeom>
          <a:solidFill>
            <a:srgbClr val="FFFFFF"/>
          </a:solidFill>
          <a:ln w="12700">
            <a:solidFill>
              <a:srgbClr val="D6DEEA"/>
            </a:solidFill>
            <a:prstDash val="solid"/>
          </a:ln>
        </p:spPr>
      </p:sp>
      <p:sp>
        <p:nvSpPr>
          <p:cNvPr id="7" name="Text 5"/>
          <p:cNvSpPr/>
          <p:nvPr/>
        </p:nvSpPr>
        <p:spPr>
          <a:xfrm>
            <a:off x="822960" y="2788920"/>
            <a:ext cx="5120640" cy="256032"/>
          </a:xfrm>
          <a:prstGeom prst="rect">
            <a:avLst/>
          </a:prstGeom>
          <a:noFill/>
          <a:ln/>
        </p:spPr>
        <p:txBody>
          <a:bodyPr wrap="square" lIns="0" tIns="0" rIns="0" bIns="0" rtlCol="0" anchor="ctr"/>
          <a:lstStyle/>
          <a:p>
            <a:pPr indent="0" marL="0">
              <a:buNone/>
            </a:pPr>
            <a:r>
              <a:rPr lang="en-US" sz="1200" b="1" dirty="0">
                <a:solidFill>
                  <a:srgbClr val="10203A"/>
                </a:solidFill>
                <a:latin typeface="Calibri" pitchFamily="34" charset="0"/>
                <a:ea typeface="Calibri" pitchFamily="34" charset="-122"/>
                <a:cs typeface="Calibri" pitchFamily="34" charset="-120"/>
              </a:rPr>
              <a:t>Worked example</a:t>
            </a:r>
            <a:endParaRPr lang="en-US" sz="1200" dirty="0"/>
          </a:p>
        </p:txBody>
      </p:sp>
      <p:sp>
        <p:nvSpPr>
          <p:cNvPr id="8" name="Text 6"/>
          <p:cNvSpPr/>
          <p:nvPr/>
        </p:nvSpPr>
        <p:spPr>
          <a:xfrm>
            <a:off x="822960" y="3090672"/>
            <a:ext cx="5120640" cy="1783080"/>
          </a:xfrm>
          <a:prstGeom prst="rect">
            <a:avLst/>
          </a:prstGeom>
          <a:noFill/>
          <a:ln/>
        </p:spPr>
        <p:txBody>
          <a:bodyPr wrap="square" lIns="0" tIns="0" rIns="0" bIns="0" rtlCol="0" anchor="t"/>
          <a:lstStyle/>
          <a:p>
            <a:pPr indent="0" marL="0">
              <a:buNone/>
            </a:pPr>
            <a:r>
              <a:rPr lang="en-US" sz="950" dirty="0">
                <a:solidFill>
                  <a:srgbClr val="10203A"/>
                </a:solidFill>
                <a:latin typeface="Courier New" pitchFamily="34" charset="0"/>
                <a:ea typeface="Courier New" pitchFamily="34" charset="-122"/>
                <a:cs typeface="Courier New" pitchFamily="34" charset="-120"/>
              </a:rPr>
              <a:t>corpus:  low ×5   lower ×2   newest ×6   widest ×3</a:t>
            </a:r>
            <a:endParaRPr lang="en-US" sz="950" dirty="0"/>
          </a:p>
          <a:p>
            <a:pPr indent="0" marL="0">
              <a:buNone/>
            </a:pP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merge 1:  e + s   → es      (count 9)</a:t>
            </a: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merge 2:  es + t  → est     (count 9)</a:t>
            </a: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merge 3:  l + o   → lo      (count 7)</a:t>
            </a: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merge 4:  lo + w  → low     (count 7)</a:t>
            </a:r>
            <a:endParaRPr lang="en-US" sz="950" dirty="0"/>
          </a:p>
          <a:p>
            <a:pPr indent="0" marL="0">
              <a:buNone/>
            </a:pPr>
            <a:endParaRPr lang="en-US" sz="950" dirty="0"/>
          </a:p>
          <a:p>
            <a:pPr indent="0" marL="0">
              <a:buNone/>
            </a:pPr>
            <a:r>
              <a:rPr lang="en-US" sz="950" dirty="0">
                <a:solidFill>
                  <a:srgbClr val="10203A"/>
                </a:solidFill>
                <a:latin typeface="Courier New" pitchFamily="34" charset="0"/>
                <a:ea typeface="Courier New" pitchFamily="34" charset="-122"/>
                <a:cs typeface="Courier New" pitchFamily="34" charset="-120"/>
              </a:rPr>
              <a:t>"low" is now ONE token instead of three.</a:t>
            </a:r>
            <a:endParaRPr lang="en-US" sz="950" dirty="0"/>
          </a:p>
        </p:txBody>
      </p:sp>
      <p:sp>
        <p:nvSpPr>
          <p:cNvPr id="9" name="Shape 7"/>
          <p:cNvSpPr/>
          <p:nvPr/>
        </p:nvSpPr>
        <p:spPr>
          <a:xfrm>
            <a:off x="6400800" y="1600200"/>
            <a:ext cx="5212080" cy="310896"/>
          </a:xfrm>
          <a:prstGeom prst="rect">
            <a:avLst/>
          </a:prstGeom>
          <a:solidFill>
            <a:srgbClr val="F1F4F9"/>
          </a:solidFill>
          <a:ln w="9525">
            <a:solidFill>
              <a:srgbClr val="D6DEEA"/>
            </a:solidFill>
            <a:prstDash val="solid"/>
          </a:ln>
        </p:spPr>
      </p:sp>
      <p:sp>
        <p:nvSpPr>
          <p:cNvPr id="10" name="Text 8"/>
          <p:cNvSpPr/>
          <p:nvPr/>
        </p:nvSpPr>
        <p:spPr>
          <a:xfrm>
            <a:off x="6473952" y="1600200"/>
            <a:ext cx="2505456" cy="310896"/>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Our tokenizer</a:t>
            </a:r>
            <a:endParaRPr lang="en-US" sz="950" dirty="0"/>
          </a:p>
        </p:txBody>
      </p:sp>
      <p:sp>
        <p:nvSpPr>
          <p:cNvPr id="11" name="Text 9"/>
          <p:cNvSpPr/>
          <p:nvPr/>
        </p:nvSpPr>
        <p:spPr>
          <a:xfrm>
            <a:off x="9125712" y="1600200"/>
            <a:ext cx="2414016" cy="310896"/>
          </a:xfrm>
          <a:prstGeom prst="rect">
            <a:avLst/>
          </a:prstGeom>
          <a:noFill/>
          <a:ln/>
        </p:spPr>
        <p:txBody>
          <a:bodyPr wrap="square" lIns="0" tIns="0" rIns="0" bIns="0" rtlCol="0" anchor="ctr"/>
          <a:lstStyle/>
          <a:p>
            <a:pPr algn="r" indent="0" marL="0">
              <a:buNone/>
            </a:pPr>
            <a:r>
              <a:rPr lang="en-US" sz="950" b="1" dirty="0">
                <a:solidFill>
                  <a:srgbClr val="5A6478"/>
                </a:solidFill>
                <a:latin typeface="Calibri" pitchFamily="34" charset="0"/>
                <a:ea typeface="Calibri" pitchFamily="34" charset="-122"/>
                <a:cs typeface="Calibri" pitchFamily="34" charset="-120"/>
              </a:rPr>
              <a:t>Measured</a:t>
            </a:r>
            <a:endParaRPr lang="en-US" sz="950" dirty="0"/>
          </a:p>
        </p:txBody>
      </p:sp>
      <p:sp>
        <p:nvSpPr>
          <p:cNvPr id="12" name="Shape 10"/>
          <p:cNvSpPr/>
          <p:nvPr/>
        </p:nvSpPr>
        <p:spPr>
          <a:xfrm>
            <a:off x="6400800" y="1911096"/>
            <a:ext cx="5212080" cy="310896"/>
          </a:xfrm>
          <a:prstGeom prst="rect">
            <a:avLst/>
          </a:prstGeom>
          <a:solidFill>
            <a:srgbClr val="FFFFFF"/>
          </a:solidFill>
          <a:ln w="9525">
            <a:solidFill>
              <a:srgbClr val="D6DEEA"/>
            </a:solidFill>
            <a:prstDash val="solid"/>
          </a:ln>
        </p:spPr>
      </p:sp>
      <p:sp>
        <p:nvSpPr>
          <p:cNvPr id="13" name="Text 11"/>
          <p:cNvSpPr/>
          <p:nvPr/>
        </p:nvSpPr>
        <p:spPr>
          <a:xfrm>
            <a:off x="6473952" y="1911096"/>
            <a:ext cx="25054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Vocabulary size</a:t>
            </a:r>
            <a:endParaRPr lang="en-US" sz="1100" dirty="0"/>
          </a:p>
        </p:txBody>
      </p:sp>
      <p:sp>
        <p:nvSpPr>
          <p:cNvPr id="14" name="Text 12"/>
          <p:cNvSpPr/>
          <p:nvPr/>
        </p:nvSpPr>
        <p:spPr>
          <a:xfrm>
            <a:off x="9125712" y="1911096"/>
            <a:ext cx="2414016" cy="310896"/>
          </a:xfrm>
          <a:prstGeom prst="rect">
            <a:avLst/>
          </a:prstGeom>
          <a:noFill/>
          <a:ln/>
        </p:spPr>
        <p:txBody>
          <a:bodyPr wrap="square" lIns="0" tIns="0" rIns="0" bIns="0" rtlCol="0" anchor="ctr"/>
          <a:lstStyle/>
          <a:p>
            <a:pPr algn="r" indent="0" marL="0">
              <a:buNone/>
            </a:pPr>
            <a:r>
              <a:rPr lang="en-US" sz="1100" dirty="0">
                <a:solidFill>
                  <a:srgbClr val="10203A"/>
                </a:solidFill>
                <a:latin typeface="Courier New" pitchFamily="34" charset="0"/>
                <a:ea typeface="Courier New" pitchFamily="34" charset="-122"/>
                <a:cs typeface="Courier New" pitchFamily="34" charset="-120"/>
              </a:rPr>
              <a:t>4,096</a:t>
            </a:r>
            <a:endParaRPr lang="en-US" sz="1100" dirty="0"/>
          </a:p>
        </p:txBody>
      </p:sp>
      <p:sp>
        <p:nvSpPr>
          <p:cNvPr id="15" name="Shape 13"/>
          <p:cNvSpPr/>
          <p:nvPr/>
        </p:nvSpPr>
        <p:spPr>
          <a:xfrm>
            <a:off x="6400800" y="2221992"/>
            <a:ext cx="5212080" cy="310896"/>
          </a:xfrm>
          <a:prstGeom prst="rect">
            <a:avLst/>
          </a:prstGeom>
          <a:solidFill>
            <a:srgbClr val="FFFFFF"/>
          </a:solidFill>
          <a:ln w="9525">
            <a:solidFill>
              <a:srgbClr val="D6DEEA"/>
            </a:solidFill>
            <a:prstDash val="solid"/>
          </a:ln>
        </p:spPr>
      </p:sp>
      <p:sp>
        <p:nvSpPr>
          <p:cNvPr id="16" name="Text 14"/>
          <p:cNvSpPr/>
          <p:nvPr/>
        </p:nvSpPr>
        <p:spPr>
          <a:xfrm>
            <a:off x="6473952" y="2221992"/>
            <a:ext cx="25054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Merges learned</a:t>
            </a:r>
            <a:endParaRPr lang="en-US" sz="1100" dirty="0"/>
          </a:p>
        </p:txBody>
      </p:sp>
      <p:sp>
        <p:nvSpPr>
          <p:cNvPr id="17" name="Text 15"/>
          <p:cNvSpPr/>
          <p:nvPr/>
        </p:nvSpPr>
        <p:spPr>
          <a:xfrm>
            <a:off x="9125712" y="2221992"/>
            <a:ext cx="2414016" cy="310896"/>
          </a:xfrm>
          <a:prstGeom prst="rect">
            <a:avLst/>
          </a:prstGeom>
          <a:noFill/>
          <a:ln/>
        </p:spPr>
        <p:txBody>
          <a:bodyPr wrap="square" lIns="0" tIns="0" rIns="0" bIns="0" rtlCol="0" anchor="ctr"/>
          <a:lstStyle/>
          <a:p>
            <a:pPr algn="r" indent="0" marL="0">
              <a:buNone/>
            </a:pPr>
            <a:r>
              <a:rPr lang="en-US" sz="1100" dirty="0">
                <a:solidFill>
                  <a:srgbClr val="10203A"/>
                </a:solidFill>
                <a:latin typeface="Courier New" pitchFamily="34" charset="0"/>
                <a:ea typeface="Courier New" pitchFamily="34" charset="-122"/>
                <a:cs typeface="Courier New" pitchFamily="34" charset="-120"/>
              </a:rPr>
              <a:t>3,966</a:t>
            </a:r>
            <a:endParaRPr lang="en-US" sz="1100" dirty="0"/>
          </a:p>
        </p:txBody>
      </p:sp>
      <p:sp>
        <p:nvSpPr>
          <p:cNvPr id="18" name="Shape 16"/>
          <p:cNvSpPr/>
          <p:nvPr/>
        </p:nvSpPr>
        <p:spPr>
          <a:xfrm>
            <a:off x="6400800" y="2532888"/>
            <a:ext cx="5212080" cy="310896"/>
          </a:xfrm>
          <a:prstGeom prst="rect">
            <a:avLst/>
          </a:prstGeom>
          <a:solidFill>
            <a:srgbClr val="FFFFFF"/>
          </a:solidFill>
          <a:ln w="9525">
            <a:solidFill>
              <a:srgbClr val="D6DEEA"/>
            </a:solidFill>
            <a:prstDash val="solid"/>
          </a:ln>
        </p:spPr>
      </p:sp>
      <p:sp>
        <p:nvSpPr>
          <p:cNvPr id="19" name="Text 17"/>
          <p:cNvSpPr/>
          <p:nvPr/>
        </p:nvSpPr>
        <p:spPr>
          <a:xfrm>
            <a:off x="6473952" y="2532888"/>
            <a:ext cx="25054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Character alphabet</a:t>
            </a:r>
            <a:endParaRPr lang="en-US" sz="1100" dirty="0"/>
          </a:p>
        </p:txBody>
      </p:sp>
      <p:sp>
        <p:nvSpPr>
          <p:cNvPr id="20" name="Text 18"/>
          <p:cNvSpPr/>
          <p:nvPr/>
        </p:nvSpPr>
        <p:spPr>
          <a:xfrm>
            <a:off x="9125712" y="2532888"/>
            <a:ext cx="2414016" cy="310896"/>
          </a:xfrm>
          <a:prstGeom prst="rect">
            <a:avLst/>
          </a:prstGeom>
          <a:noFill/>
          <a:ln/>
        </p:spPr>
        <p:txBody>
          <a:bodyPr wrap="square" lIns="0" tIns="0" rIns="0" bIns="0" rtlCol="0" anchor="ctr"/>
          <a:lstStyle/>
          <a:p>
            <a:pPr algn="r" indent="0" marL="0">
              <a:buNone/>
            </a:pPr>
            <a:r>
              <a:rPr lang="en-US" sz="1100" dirty="0">
                <a:solidFill>
                  <a:srgbClr val="10203A"/>
                </a:solidFill>
                <a:latin typeface="Courier New" pitchFamily="34" charset="0"/>
                <a:ea typeface="Courier New" pitchFamily="34" charset="-122"/>
                <a:cs typeface="Courier New" pitchFamily="34" charset="-120"/>
              </a:rPr>
              <a:t>98</a:t>
            </a:r>
            <a:endParaRPr lang="en-US" sz="1100" dirty="0"/>
          </a:p>
        </p:txBody>
      </p:sp>
      <p:sp>
        <p:nvSpPr>
          <p:cNvPr id="21" name="Shape 19"/>
          <p:cNvSpPr/>
          <p:nvPr/>
        </p:nvSpPr>
        <p:spPr>
          <a:xfrm>
            <a:off x="6400800" y="2843784"/>
            <a:ext cx="5212080" cy="310896"/>
          </a:xfrm>
          <a:prstGeom prst="rect">
            <a:avLst/>
          </a:prstGeom>
          <a:solidFill>
            <a:srgbClr val="E4F1EA"/>
          </a:solidFill>
          <a:ln w="9525">
            <a:solidFill>
              <a:srgbClr val="D6DEEA"/>
            </a:solidFill>
            <a:prstDash val="solid"/>
          </a:ln>
        </p:spPr>
      </p:sp>
      <p:sp>
        <p:nvSpPr>
          <p:cNvPr id="22" name="Text 20"/>
          <p:cNvSpPr/>
          <p:nvPr/>
        </p:nvSpPr>
        <p:spPr>
          <a:xfrm>
            <a:off x="6473952" y="2843784"/>
            <a:ext cx="25054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Round-trip accuracy</a:t>
            </a:r>
            <a:endParaRPr lang="en-US" sz="1100" dirty="0"/>
          </a:p>
        </p:txBody>
      </p:sp>
      <p:sp>
        <p:nvSpPr>
          <p:cNvPr id="23" name="Text 21"/>
          <p:cNvSpPr/>
          <p:nvPr/>
        </p:nvSpPr>
        <p:spPr>
          <a:xfrm>
            <a:off x="9125712" y="2843784"/>
            <a:ext cx="2414016" cy="310896"/>
          </a:xfrm>
          <a:prstGeom prst="rect">
            <a:avLst/>
          </a:prstGeom>
          <a:noFill/>
          <a:ln/>
        </p:spPr>
        <p:txBody>
          <a:bodyPr wrap="square" lIns="0" tIns="0" rIns="0" bIns="0" rtlCol="0" anchor="ctr"/>
          <a:lstStyle/>
          <a:p>
            <a:pPr algn="r" indent="0" marL="0">
              <a:buNone/>
            </a:pPr>
            <a:r>
              <a:rPr lang="en-US" sz="1100" dirty="0">
                <a:solidFill>
                  <a:srgbClr val="10203A"/>
                </a:solidFill>
                <a:latin typeface="Courier New" pitchFamily="34" charset="0"/>
                <a:ea typeface="Courier New" pitchFamily="34" charset="-122"/>
                <a:cs typeface="Courier New" pitchFamily="34" charset="-120"/>
              </a:rPr>
              <a:t>1000 / 1000  (100%)</a:t>
            </a:r>
            <a:endParaRPr lang="en-US" sz="1100" dirty="0"/>
          </a:p>
        </p:txBody>
      </p:sp>
      <p:sp>
        <p:nvSpPr>
          <p:cNvPr id="24" name="Shape 22"/>
          <p:cNvSpPr/>
          <p:nvPr/>
        </p:nvSpPr>
        <p:spPr>
          <a:xfrm>
            <a:off x="6400800" y="3154680"/>
            <a:ext cx="5212080" cy="310896"/>
          </a:xfrm>
          <a:prstGeom prst="rect">
            <a:avLst/>
          </a:prstGeom>
          <a:solidFill>
            <a:srgbClr val="E4F1EA"/>
          </a:solidFill>
          <a:ln w="9525">
            <a:solidFill>
              <a:srgbClr val="D6DEEA"/>
            </a:solidFill>
            <a:prstDash val="solid"/>
          </a:ln>
        </p:spPr>
      </p:sp>
      <p:sp>
        <p:nvSpPr>
          <p:cNvPr id="25" name="Text 23"/>
          <p:cNvSpPr/>
          <p:nvPr/>
        </p:nvSpPr>
        <p:spPr>
          <a:xfrm>
            <a:off x="6473952" y="3154680"/>
            <a:ext cx="25054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Unknown-token rate</a:t>
            </a:r>
            <a:endParaRPr lang="en-US" sz="1100" dirty="0"/>
          </a:p>
        </p:txBody>
      </p:sp>
      <p:sp>
        <p:nvSpPr>
          <p:cNvPr id="26" name="Text 24"/>
          <p:cNvSpPr/>
          <p:nvPr/>
        </p:nvSpPr>
        <p:spPr>
          <a:xfrm>
            <a:off x="9125712" y="3154680"/>
            <a:ext cx="2414016" cy="310896"/>
          </a:xfrm>
          <a:prstGeom prst="rect">
            <a:avLst/>
          </a:prstGeom>
          <a:noFill/>
          <a:ln/>
        </p:spPr>
        <p:txBody>
          <a:bodyPr wrap="square" lIns="0" tIns="0" rIns="0" bIns="0" rtlCol="0" anchor="ctr"/>
          <a:lstStyle/>
          <a:p>
            <a:pPr algn="r" indent="0" marL="0">
              <a:buNone/>
            </a:pPr>
            <a:r>
              <a:rPr lang="en-US" sz="1100" dirty="0">
                <a:solidFill>
                  <a:srgbClr val="10203A"/>
                </a:solidFill>
                <a:latin typeface="Courier New" pitchFamily="34" charset="0"/>
                <a:ea typeface="Courier New" pitchFamily="34" charset="-122"/>
                <a:cs typeface="Courier New" pitchFamily="34" charset="-120"/>
              </a:rPr>
              <a:t>0.0000%</a:t>
            </a:r>
            <a:endParaRPr lang="en-US" sz="1100" dirty="0"/>
          </a:p>
        </p:txBody>
      </p:sp>
      <p:sp>
        <p:nvSpPr>
          <p:cNvPr id="27" name="Shape 25"/>
          <p:cNvSpPr/>
          <p:nvPr/>
        </p:nvSpPr>
        <p:spPr>
          <a:xfrm>
            <a:off x="6400800" y="3465576"/>
            <a:ext cx="5212080" cy="310896"/>
          </a:xfrm>
          <a:prstGeom prst="rect">
            <a:avLst/>
          </a:prstGeom>
          <a:solidFill>
            <a:srgbClr val="FFFFFF"/>
          </a:solidFill>
          <a:ln w="9525">
            <a:solidFill>
              <a:srgbClr val="D6DEEA"/>
            </a:solidFill>
            <a:prstDash val="solid"/>
          </a:ln>
        </p:spPr>
      </p:sp>
      <p:sp>
        <p:nvSpPr>
          <p:cNvPr id="28" name="Text 26"/>
          <p:cNvSpPr/>
          <p:nvPr/>
        </p:nvSpPr>
        <p:spPr>
          <a:xfrm>
            <a:off x="6473952" y="3465576"/>
            <a:ext cx="25054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Compression</a:t>
            </a:r>
            <a:endParaRPr lang="en-US" sz="1100" dirty="0"/>
          </a:p>
        </p:txBody>
      </p:sp>
      <p:sp>
        <p:nvSpPr>
          <p:cNvPr id="29" name="Text 27"/>
          <p:cNvSpPr/>
          <p:nvPr/>
        </p:nvSpPr>
        <p:spPr>
          <a:xfrm>
            <a:off x="9125712" y="3465576"/>
            <a:ext cx="2414016" cy="310896"/>
          </a:xfrm>
          <a:prstGeom prst="rect">
            <a:avLst/>
          </a:prstGeom>
          <a:noFill/>
          <a:ln/>
        </p:spPr>
        <p:txBody>
          <a:bodyPr wrap="square" lIns="0" tIns="0" rIns="0" bIns="0" rtlCol="0" anchor="ctr"/>
          <a:lstStyle/>
          <a:p>
            <a:pPr algn="r" indent="0" marL="0">
              <a:buNone/>
            </a:pPr>
            <a:r>
              <a:rPr lang="en-US" sz="1100" dirty="0">
                <a:solidFill>
                  <a:srgbClr val="10203A"/>
                </a:solidFill>
                <a:latin typeface="Courier New" pitchFamily="34" charset="0"/>
                <a:ea typeface="Courier New" pitchFamily="34" charset="-122"/>
                <a:cs typeface="Courier New" pitchFamily="34" charset="-120"/>
              </a:rPr>
              <a:t>3.88 chars/token</a:t>
            </a:r>
            <a:endParaRPr lang="en-US" sz="1100" dirty="0"/>
          </a:p>
        </p:txBody>
      </p:sp>
      <p:sp>
        <p:nvSpPr>
          <p:cNvPr id="30" name="Shape 28"/>
          <p:cNvSpPr/>
          <p:nvPr/>
        </p:nvSpPr>
        <p:spPr>
          <a:xfrm>
            <a:off x="6400800" y="3776472"/>
            <a:ext cx="5212080" cy="310896"/>
          </a:xfrm>
          <a:prstGeom prst="rect">
            <a:avLst/>
          </a:prstGeom>
          <a:solidFill>
            <a:srgbClr val="FFFFFF"/>
          </a:solidFill>
          <a:ln w="9525">
            <a:solidFill>
              <a:srgbClr val="D6DEEA"/>
            </a:solidFill>
            <a:prstDash val="solid"/>
          </a:ln>
        </p:spPr>
      </p:sp>
      <p:sp>
        <p:nvSpPr>
          <p:cNvPr id="31" name="Text 29"/>
          <p:cNvSpPr/>
          <p:nvPr/>
        </p:nvSpPr>
        <p:spPr>
          <a:xfrm>
            <a:off x="6473952" y="3776472"/>
            <a:ext cx="25054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Fingerprint</a:t>
            </a:r>
            <a:endParaRPr lang="en-US" sz="1100" dirty="0"/>
          </a:p>
        </p:txBody>
      </p:sp>
      <p:sp>
        <p:nvSpPr>
          <p:cNvPr id="32" name="Text 30"/>
          <p:cNvSpPr/>
          <p:nvPr/>
        </p:nvSpPr>
        <p:spPr>
          <a:xfrm>
            <a:off x="9125712" y="3776472"/>
            <a:ext cx="2414016" cy="310896"/>
          </a:xfrm>
          <a:prstGeom prst="rect">
            <a:avLst/>
          </a:prstGeom>
          <a:noFill/>
          <a:ln/>
        </p:spPr>
        <p:txBody>
          <a:bodyPr wrap="square" lIns="0" tIns="0" rIns="0" bIns="0" rtlCol="0" anchor="ctr"/>
          <a:lstStyle/>
          <a:p>
            <a:pPr algn="r" indent="0" marL="0">
              <a:buNone/>
            </a:pPr>
            <a:r>
              <a:rPr lang="en-US" sz="1100" dirty="0">
                <a:solidFill>
                  <a:srgbClr val="10203A"/>
                </a:solidFill>
                <a:latin typeface="Courier New" pitchFamily="34" charset="0"/>
                <a:ea typeface="Courier New" pitchFamily="34" charset="-122"/>
                <a:cs typeface="Courier New" pitchFamily="34" charset="-120"/>
              </a:rPr>
              <a:t>d6080bac0a9a</a:t>
            </a:r>
            <a:endParaRPr lang="en-US" sz="1100" dirty="0"/>
          </a:p>
        </p:txBody>
      </p:sp>
      <p:sp>
        <p:nvSpPr>
          <p:cNvPr id="33" name="Shape 31"/>
          <p:cNvSpPr/>
          <p:nvPr/>
        </p:nvSpPr>
        <p:spPr>
          <a:xfrm>
            <a:off x="6400800" y="4160520"/>
            <a:ext cx="5212080" cy="1691640"/>
          </a:xfrm>
          <a:prstGeom prst="roundRect">
            <a:avLst>
              <a:gd name="adj" fmla="val 3784"/>
            </a:avLst>
          </a:prstGeom>
          <a:solidFill>
            <a:srgbClr val="E8EFFA"/>
          </a:solidFill>
          <a:ln w="12700">
            <a:solidFill>
              <a:srgbClr val="D6DEEA"/>
            </a:solidFill>
            <a:prstDash val="solid"/>
          </a:ln>
        </p:spPr>
      </p:sp>
      <p:sp>
        <p:nvSpPr>
          <p:cNvPr id="34" name="Text 32"/>
          <p:cNvSpPr/>
          <p:nvPr/>
        </p:nvSpPr>
        <p:spPr>
          <a:xfrm>
            <a:off x="6675120" y="4315968"/>
            <a:ext cx="4663440" cy="274320"/>
          </a:xfrm>
          <a:prstGeom prst="rect">
            <a:avLst/>
          </a:prstGeom>
          <a:noFill/>
          <a:ln/>
        </p:spPr>
        <p:txBody>
          <a:bodyPr wrap="square" lIns="0" tIns="0" rIns="0" bIns="0" rtlCol="0" anchor="ctr"/>
          <a:lstStyle/>
          <a:p>
            <a:pPr indent="0" marL="0">
              <a:buNone/>
            </a:pPr>
            <a:r>
              <a:rPr lang="en-US" sz="1250" b="1" dirty="0">
                <a:solidFill>
                  <a:srgbClr val="1B4A8F"/>
                </a:solidFill>
                <a:latin typeface="Calibri" pitchFamily="34" charset="0"/>
                <a:ea typeface="Calibri" pitchFamily="34" charset="-122"/>
                <a:cs typeface="Calibri" pitchFamily="34" charset="-120"/>
              </a:rPr>
              <a:t>Why we reserved agent tokens now</a:t>
            </a:r>
            <a:endParaRPr lang="en-US" sz="1250" dirty="0"/>
          </a:p>
        </p:txBody>
      </p:sp>
      <p:sp>
        <p:nvSpPr>
          <p:cNvPr id="35" name="Text 33"/>
          <p:cNvSpPr/>
          <p:nvPr/>
        </p:nvSpPr>
        <p:spPr>
          <a:xfrm>
            <a:off x="6675120" y="4617720"/>
            <a:ext cx="4663440" cy="1143000"/>
          </a:xfrm>
          <a:prstGeom prst="rect">
            <a:avLst/>
          </a:prstGeom>
          <a:noFill/>
          <a:ln/>
        </p:spPr>
        <p:txBody>
          <a:bodyPr wrap="square" lIns="0" tIns="0" rIns="0" bIns="0" rtlCol="0" anchor="t"/>
          <a:lstStyle/>
          <a:p>
            <a:pPr indent="0" marL="0">
              <a:buNone/>
            </a:pPr>
            <a:r>
              <a:rPr lang="en-US" sz="1050" dirty="0">
                <a:solidFill>
                  <a:srgbClr val="1B4A8F"/>
                </a:solidFill>
                <a:latin typeface="Calibri" pitchFamily="34" charset="0"/>
                <a:ea typeface="Calibri" pitchFamily="34" charset="-122"/>
                <a:cs typeface="Calibri" pitchFamily="34" charset="-120"/>
              </a:rPr>
              <a:t>IDs 0–31 are reserved: pad, bos, eos, unk, plus &lt;|solver|&gt;, &lt;|critic|&gt;, &lt;|verifier|&gt; for later stages. Adding a token after training means inserting an untrained row into a trained embedding table — it trains badly and invalidates every earlier checkpoint.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Our LLM architecture</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Decoder-only Transformer. Every component implemented by us.</a:t>
            </a:r>
            <a:endParaRPr lang="en-US" sz="1350" dirty="0"/>
          </a:p>
        </p:txBody>
      </p:sp>
      <p:sp>
        <p:nvSpPr>
          <p:cNvPr id="4" name="Shape 2"/>
          <p:cNvSpPr/>
          <p:nvPr/>
        </p:nvSpPr>
        <p:spPr>
          <a:xfrm>
            <a:off x="3108960" y="1536192"/>
            <a:ext cx="5120640" cy="502920"/>
          </a:xfrm>
          <a:prstGeom prst="roundRect">
            <a:avLst>
              <a:gd name="adj" fmla="val 12727"/>
            </a:avLst>
          </a:prstGeom>
          <a:solidFill>
            <a:srgbClr val="FFFFFF"/>
          </a:solidFill>
          <a:ln w="12700">
            <a:solidFill>
              <a:srgbClr val="D6DEEA"/>
            </a:solidFill>
            <a:prstDash val="solid"/>
          </a:ln>
        </p:spPr>
      </p:sp>
      <p:sp>
        <p:nvSpPr>
          <p:cNvPr id="5" name="Text 3"/>
          <p:cNvSpPr/>
          <p:nvPr/>
        </p:nvSpPr>
        <p:spPr>
          <a:xfrm>
            <a:off x="3108960" y="1536192"/>
            <a:ext cx="5120640" cy="502920"/>
          </a:xfrm>
          <a:prstGeom prst="rect">
            <a:avLst/>
          </a:prstGeom>
          <a:noFill/>
          <a:ln/>
        </p:spPr>
        <p:txBody>
          <a:bodyPr wrap="square" lIns="0" tIns="0" rIns="0" bIns="0" rtlCol="0" anchor="ctr"/>
          <a:lstStyle/>
          <a:p>
            <a:pPr algn="ctr" indent="0" marL="0">
              <a:buNone/>
            </a:pPr>
            <a:r>
              <a:rPr lang="en-US" sz="1150" dirty="0">
                <a:solidFill>
                  <a:srgbClr val="10203A"/>
                </a:solidFill>
                <a:latin typeface="Calibri" pitchFamily="34" charset="0"/>
                <a:ea typeface="Calibri" pitchFamily="34" charset="-122"/>
                <a:cs typeface="Calibri" pitchFamily="34" charset="-120"/>
              </a:rPr>
              <a:t>token IDs — 128 integers</a:t>
            </a:r>
            <a:endParaRPr lang="en-US" sz="1150" dirty="0"/>
          </a:p>
        </p:txBody>
      </p:sp>
      <p:sp>
        <p:nvSpPr>
          <p:cNvPr id="6" name="Shape 4"/>
          <p:cNvSpPr/>
          <p:nvPr/>
        </p:nvSpPr>
        <p:spPr>
          <a:xfrm>
            <a:off x="5669280" y="2039112"/>
            <a:ext cx="0" cy="219456"/>
          </a:xfrm>
          <a:prstGeom prst="line">
            <a:avLst/>
          </a:prstGeom>
          <a:noFill/>
          <a:ln w="15875">
            <a:solidFill>
              <a:srgbClr val="5A6478"/>
            </a:solidFill>
            <a:prstDash val="solid"/>
            <a:tailEnd type="triangle"/>
          </a:ln>
        </p:spPr>
      </p:sp>
      <p:sp>
        <p:nvSpPr>
          <p:cNvPr id="7" name="Shape 5"/>
          <p:cNvSpPr/>
          <p:nvPr/>
        </p:nvSpPr>
        <p:spPr>
          <a:xfrm>
            <a:off x="3108960" y="2286000"/>
            <a:ext cx="2423160" cy="457200"/>
          </a:xfrm>
          <a:prstGeom prst="roundRect">
            <a:avLst>
              <a:gd name="adj" fmla="val 14000"/>
            </a:avLst>
          </a:prstGeom>
          <a:solidFill>
            <a:srgbClr val="FFFFFF"/>
          </a:solidFill>
          <a:ln w="12700">
            <a:solidFill>
              <a:srgbClr val="D6DEEA"/>
            </a:solidFill>
            <a:prstDash val="solid"/>
          </a:ln>
        </p:spPr>
      </p:sp>
      <p:sp>
        <p:nvSpPr>
          <p:cNvPr id="8" name="Text 6"/>
          <p:cNvSpPr/>
          <p:nvPr/>
        </p:nvSpPr>
        <p:spPr>
          <a:xfrm>
            <a:off x="3108960" y="2286000"/>
            <a:ext cx="2423160" cy="457200"/>
          </a:xfrm>
          <a:prstGeom prst="rect">
            <a:avLst/>
          </a:prstGeom>
          <a:noFill/>
          <a:ln/>
        </p:spPr>
        <p:txBody>
          <a:bodyPr wrap="square" lIns="0" tIns="0" rIns="0" bIns="0" rtlCol="0" anchor="ctr"/>
          <a:lstStyle/>
          <a:p>
            <a:pPr algn="ctr" indent="0" marL="0">
              <a:buNone/>
            </a:pPr>
            <a:r>
              <a:rPr lang="en-US" sz="1100" dirty="0">
                <a:solidFill>
                  <a:srgbClr val="10203A"/>
                </a:solidFill>
                <a:latin typeface="Calibri" pitchFamily="34" charset="0"/>
                <a:ea typeface="Calibri" pitchFamily="34" charset="-122"/>
                <a:cs typeface="Calibri" pitchFamily="34" charset="-120"/>
              </a:rPr>
              <a:t>token embedding</a:t>
            </a:r>
            <a:endParaRPr lang="en-US" sz="1100" dirty="0"/>
          </a:p>
        </p:txBody>
      </p:sp>
      <p:sp>
        <p:nvSpPr>
          <p:cNvPr id="9" name="Shape 7"/>
          <p:cNvSpPr/>
          <p:nvPr/>
        </p:nvSpPr>
        <p:spPr>
          <a:xfrm>
            <a:off x="5806440" y="2286000"/>
            <a:ext cx="2423160" cy="457200"/>
          </a:xfrm>
          <a:prstGeom prst="roundRect">
            <a:avLst>
              <a:gd name="adj" fmla="val 14000"/>
            </a:avLst>
          </a:prstGeom>
          <a:solidFill>
            <a:srgbClr val="FFFFFF"/>
          </a:solidFill>
          <a:ln w="12700">
            <a:solidFill>
              <a:srgbClr val="D6DEEA"/>
            </a:solidFill>
            <a:prstDash val="solid"/>
          </a:ln>
        </p:spPr>
      </p:sp>
      <p:sp>
        <p:nvSpPr>
          <p:cNvPr id="10" name="Text 8"/>
          <p:cNvSpPr/>
          <p:nvPr/>
        </p:nvSpPr>
        <p:spPr>
          <a:xfrm>
            <a:off x="5806440" y="2286000"/>
            <a:ext cx="2423160" cy="457200"/>
          </a:xfrm>
          <a:prstGeom prst="rect">
            <a:avLst/>
          </a:prstGeom>
          <a:noFill/>
          <a:ln/>
        </p:spPr>
        <p:txBody>
          <a:bodyPr wrap="square" lIns="0" tIns="0" rIns="0" bIns="0" rtlCol="0" anchor="ctr"/>
          <a:lstStyle/>
          <a:p>
            <a:pPr algn="ctr" indent="0" marL="0">
              <a:buNone/>
            </a:pPr>
            <a:r>
              <a:rPr lang="en-US" sz="1100" dirty="0">
                <a:solidFill>
                  <a:srgbClr val="10203A"/>
                </a:solidFill>
                <a:latin typeface="Calibri" pitchFamily="34" charset="0"/>
                <a:ea typeface="Calibri" pitchFamily="34" charset="-122"/>
                <a:cs typeface="Calibri" pitchFamily="34" charset="-120"/>
              </a:rPr>
              <a:t>positional embedding</a:t>
            </a:r>
            <a:endParaRPr lang="en-US" sz="1100" dirty="0"/>
          </a:p>
        </p:txBody>
      </p:sp>
      <p:sp>
        <p:nvSpPr>
          <p:cNvPr id="11" name="Shape 9"/>
          <p:cNvSpPr/>
          <p:nvPr/>
        </p:nvSpPr>
        <p:spPr>
          <a:xfrm>
            <a:off x="5669280" y="2761488"/>
            <a:ext cx="0" cy="219456"/>
          </a:xfrm>
          <a:prstGeom prst="line">
            <a:avLst/>
          </a:prstGeom>
          <a:noFill/>
          <a:ln w="15875">
            <a:solidFill>
              <a:srgbClr val="5A6478"/>
            </a:solidFill>
            <a:prstDash val="solid"/>
            <a:tailEnd type="triangle"/>
          </a:ln>
        </p:spPr>
      </p:sp>
      <p:sp>
        <p:nvSpPr>
          <p:cNvPr id="12" name="Shape 10"/>
          <p:cNvSpPr/>
          <p:nvPr/>
        </p:nvSpPr>
        <p:spPr>
          <a:xfrm>
            <a:off x="3108960" y="3017520"/>
            <a:ext cx="5120640" cy="502920"/>
          </a:xfrm>
          <a:prstGeom prst="roundRect">
            <a:avLst>
              <a:gd name="adj" fmla="val 12727"/>
            </a:avLst>
          </a:prstGeom>
          <a:solidFill>
            <a:srgbClr val="FFFFFF"/>
          </a:solidFill>
          <a:ln w="12700">
            <a:solidFill>
              <a:srgbClr val="D6DEEA"/>
            </a:solidFill>
            <a:prstDash val="solid"/>
          </a:ln>
        </p:spPr>
      </p:sp>
      <p:sp>
        <p:nvSpPr>
          <p:cNvPr id="13" name="Text 11"/>
          <p:cNvSpPr/>
          <p:nvPr/>
        </p:nvSpPr>
        <p:spPr>
          <a:xfrm>
            <a:off x="3108960" y="3017520"/>
            <a:ext cx="5120640" cy="502920"/>
          </a:xfrm>
          <a:prstGeom prst="rect">
            <a:avLst/>
          </a:prstGeom>
          <a:noFill/>
          <a:ln/>
        </p:spPr>
        <p:txBody>
          <a:bodyPr wrap="square" lIns="0" tIns="0" rIns="0" bIns="0" rtlCol="0" anchor="ctr"/>
          <a:lstStyle/>
          <a:p>
            <a:pPr algn="ctr" indent="0" marL="0">
              <a:buNone/>
            </a:pPr>
            <a:r>
              <a:rPr lang="en-US" sz="1150" dirty="0">
                <a:solidFill>
                  <a:srgbClr val="10203A"/>
                </a:solidFill>
                <a:latin typeface="Calibri" pitchFamily="34" charset="0"/>
                <a:ea typeface="Calibri" pitchFamily="34" charset="-122"/>
                <a:cs typeface="Calibri" pitchFamily="34" charset="-120"/>
              </a:rPr>
              <a:t>x  =  token + position</a:t>
            </a:r>
            <a:endParaRPr lang="en-US" sz="1150" dirty="0"/>
          </a:p>
        </p:txBody>
      </p:sp>
      <p:sp>
        <p:nvSpPr>
          <p:cNvPr id="14" name="Shape 12"/>
          <p:cNvSpPr/>
          <p:nvPr/>
        </p:nvSpPr>
        <p:spPr>
          <a:xfrm>
            <a:off x="5669280" y="3520440"/>
            <a:ext cx="0" cy="201168"/>
          </a:xfrm>
          <a:prstGeom prst="line">
            <a:avLst/>
          </a:prstGeom>
          <a:noFill/>
          <a:ln w="15875">
            <a:solidFill>
              <a:srgbClr val="5A6478"/>
            </a:solidFill>
            <a:prstDash val="solid"/>
            <a:tailEnd type="triangle"/>
          </a:ln>
        </p:spPr>
      </p:sp>
      <p:sp>
        <p:nvSpPr>
          <p:cNvPr id="15" name="Shape 13"/>
          <p:cNvSpPr/>
          <p:nvPr/>
        </p:nvSpPr>
        <p:spPr>
          <a:xfrm>
            <a:off x="2834640" y="3749040"/>
            <a:ext cx="5669280" cy="1371600"/>
          </a:xfrm>
          <a:prstGeom prst="roundRect">
            <a:avLst>
              <a:gd name="adj" fmla="val 4667"/>
            </a:avLst>
          </a:prstGeom>
          <a:solidFill>
            <a:srgbClr val="E8EFFA"/>
          </a:solidFill>
          <a:ln w="16510">
            <a:solidFill>
              <a:srgbClr val="1B4A8F"/>
            </a:solidFill>
            <a:prstDash val="solid"/>
          </a:ln>
        </p:spPr>
      </p:sp>
      <p:sp>
        <p:nvSpPr>
          <p:cNvPr id="16" name="Text 14"/>
          <p:cNvSpPr/>
          <p:nvPr/>
        </p:nvSpPr>
        <p:spPr>
          <a:xfrm>
            <a:off x="2971800" y="3840480"/>
            <a:ext cx="3200400" cy="237744"/>
          </a:xfrm>
          <a:prstGeom prst="rect">
            <a:avLst/>
          </a:prstGeom>
          <a:noFill/>
          <a:ln/>
        </p:spPr>
        <p:txBody>
          <a:bodyPr wrap="square" lIns="0" tIns="0" rIns="0" bIns="0" rtlCol="0" anchor="ctr"/>
          <a:lstStyle/>
          <a:p>
            <a:pPr indent="0" marL="0">
              <a:buNone/>
            </a:pPr>
            <a:r>
              <a:rPr lang="en-US" sz="1000" b="1" dirty="0">
                <a:solidFill>
                  <a:srgbClr val="1B4A8F"/>
                </a:solidFill>
                <a:latin typeface="Calibri" pitchFamily="34" charset="0"/>
                <a:ea typeface="Calibri" pitchFamily="34" charset="-122"/>
                <a:cs typeface="Calibri" pitchFamily="34" charset="-120"/>
              </a:rPr>
              <a:t>TRANSFORMER BLOCK  ×4</a:t>
            </a:r>
            <a:endParaRPr lang="en-US" sz="1000" dirty="0"/>
          </a:p>
        </p:txBody>
      </p:sp>
      <p:sp>
        <p:nvSpPr>
          <p:cNvPr id="17" name="Shape 15"/>
          <p:cNvSpPr/>
          <p:nvPr/>
        </p:nvSpPr>
        <p:spPr>
          <a:xfrm>
            <a:off x="3108960" y="4114800"/>
            <a:ext cx="5120640" cy="402336"/>
          </a:xfrm>
          <a:prstGeom prst="roundRect">
            <a:avLst>
              <a:gd name="adj" fmla="val 15909"/>
            </a:avLst>
          </a:prstGeom>
          <a:solidFill>
            <a:srgbClr val="FFFFFF"/>
          </a:solidFill>
          <a:ln w="12700">
            <a:solidFill>
              <a:srgbClr val="D6DEEA"/>
            </a:solidFill>
            <a:prstDash val="solid"/>
          </a:ln>
        </p:spPr>
      </p:sp>
      <p:sp>
        <p:nvSpPr>
          <p:cNvPr id="18" name="Text 16"/>
          <p:cNvSpPr/>
          <p:nvPr/>
        </p:nvSpPr>
        <p:spPr>
          <a:xfrm>
            <a:off x="3108960" y="4114800"/>
            <a:ext cx="5120640" cy="402336"/>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LayerNorm → 4-head causal self-attention → + residual</a:t>
            </a:r>
            <a:endParaRPr lang="en-US" sz="1050" dirty="0"/>
          </a:p>
        </p:txBody>
      </p:sp>
      <p:sp>
        <p:nvSpPr>
          <p:cNvPr id="19" name="Shape 17"/>
          <p:cNvSpPr/>
          <p:nvPr/>
        </p:nvSpPr>
        <p:spPr>
          <a:xfrm>
            <a:off x="3108960" y="4590288"/>
            <a:ext cx="5120640" cy="402336"/>
          </a:xfrm>
          <a:prstGeom prst="roundRect">
            <a:avLst>
              <a:gd name="adj" fmla="val 15909"/>
            </a:avLst>
          </a:prstGeom>
          <a:solidFill>
            <a:srgbClr val="FFFFFF"/>
          </a:solidFill>
          <a:ln w="12700">
            <a:solidFill>
              <a:srgbClr val="D6DEEA"/>
            </a:solidFill>
            <a:prstDash val="solid"/>
          </a:ln>
        </p:spPr>
      </p:sp>
      <p:sp>
        <p:nvSpPr>
          <p:cNvPr id="20" name="Text 18"/>
          <p:cNvSpPr/>
          <p:nvPr/>
        </p:nvSpPr>
        <p:spPr>
          <a:xfrm>
            <a:off x="3108960" y="4590288"/>
            <a:ext cx="5120640" cy="402336"/>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LayerNorm → feed-forward (128→512→128) → + residual</a:t>
            </a:r>
            <a:endParaRPr lang="en-US" sz="1050" dirty="0"/>
          </a:p>
        </p:txBody>
      </p:sp>
      <p:sp>
        <p:nvSpPr>
          <p:cNvPr id="21" name="Shape 19"/>
          <p:cNvSpPr/>
          <p:nvPr/>
        </p:nvSpPr>
        <p:spPr>
          <a:xfrm>
            <a:off x="5669280" y="5138928"/>
            <a:ext cx="0" cy="201168"/>
          </a:xfrm>
          <a:prstGeom prst="line">
            <a:avLst/>
          </a:prstGeom>
          <a:noFill/>
          <a:ln w="15875">
            <a:solidFill>
              <a:srgbClr val="5A6478"/>
            </a:solidFill>
            <a:prstDash val="solid"/>
            <a:tailEnd type="triangle"/>
          </a:ln>
        </p:spPr>
      </p:sp>
      <p:sp>
        <p:nvSpPr>
          <p:cNvPr id="22" name="Shape 20"/>
          <p:cNvSpPr/>
          <p:nvPr/>
        </p:nvSpPr>
        <p:spPr>
          <a:xfrm>
            <a:off x="3108960" y="5358384"/>
            <a:ext cx="5120640" cy="502920"/>
          </a:xfrm>
          <a:prstGeom prst="roundRect">
            <a:avLst>
              <a:gd name="adj" fmla="val 12727"/>
            </a:avLst>
          </a:prstGeom>
          <a:solidFill>
            <a:srgbClr val="FFFFFF"/>
          </a:solidFill>
          <a:ln w="12700">
            <a:solidFill>
              <a:srgbClr val="D6DEEA"/>
            </a:solidFill>
            <a:prstDash val="solid"/>
          </a:ln>
        </p:spPr>
      </p:sp>
      <p:sp>
        <p:nvSpPr>
          <p:cNvPr id="23" name="Text 21"/>
          <p:cNvSpPr/>
          <p:nvPr/>
        </p:nvSpPr>
        <p:spPr>
          <a:xfrm>
            <a:off x="3108960" y="5358384"/>
            <a:ext cx="5120640" cy="502920"/>
          </a:xfrm>
          <a:prstGeom prst="rect">
            <a:avLst/>
          </a:prstGeom>
          <a:noFill/>
          <a:ln/>
        </p:spPr>
        <p:txBody>
          <a:bodyPr wrap="square" lIns="0" tIns="0" rIns="0" bIns="0" rtlCol="0" anchor="ctr"/>
          <a:lstStyle/>
          <a:p>
            <a:pPr algn="ctr" indent="0" marL="0">
              <a:buNone/>
            </a:pPr>
            <a:r>
              <a:rPr lang="en-US" sz="1100" dirty="0">
                <a:solidFill>
                  <a:srgbClr val="10203A"/>
                </a:solidFill>
                <a:latin typeface="Calibri" pitchFamily="34" charset="0"/>
                <a:ea typeface="Calibri" pitchFamily="34" charset="-122"/>
                <a:cs typeface="Calibri" pitchFamily="34" charset="-120"/>
              </a:rPr>
              <a:t>final LayerNorm → LM head → 4,096 logits → softmax</a:t>
            </a:r>
            <a:endParaRPr lang="en-US" sz="1100" dirty="0"/>
          </a:p>
        </p:txBody>
      </p:sp>
      <p:sp>
        <p:nvSpPr>
          <p:cNvPr id="24" name="Text 22"/>
          <p:cNvSpPr/>
          <p:nvPr/>
        </p:nvSpPr>
        <p:spPr>
          <a:xfrm>
            <a:off x="8549640" y="4069080"/>
            <a:ext cx="1371600" cy="822960"/>
          </a:xfrm>
          <a:prstGeom prst="rect">
            <a:avLst/>
          </a:prstGeom>
          <a:noFill/>
          <a:ln/>
        </p:spPr>
        <p:txBody>
          <a:bodyPr wrap="square" lIns="0" tIns="0" rIns="0" bIns="0" rtlCol="0" anchor="t"/>
          <a:lstStyle/>
          <a:p>
            <a:pPr indent="0" marL="0">
              <a:buNone/>
            </a:pPr>
            <a:r>
              <a:rPr lang="en-US" sz="1000" dirty="0">
                <a:solidFill>
                  <a:srgbClr val="1B4A8F"/>
                </a:solidFill>
                <a:latin typeface="Calibri" pitchFamily="34" charset="0"/>
                <a:ea typeface="Calibri" pitchFamily="34" charset="-122"/>
                <a:cs typeface="Calibri" pitchFamily="34" charset="-120"/>
              </a:rPr>
              <a:t>197,760</a:t>
            </a:r>
            <a:endParaRPr lang="en-US" sz="1000" dirty="0"/>
          </a:p>
          <a:p>
            <a:pPr indent="0" marL="0">
              <a:buNone/>
            </a:pPr>
            <a:r>
              <a:rPr lang="en-US" sz="1000" dirty="0">
                <a:solidFill>
                  <a:srgbClr val="1B4A8F"/>
                </a:solidFill>
                <a:latin typeface="Calibri" pitchFamily="34" charset="0"/>
                <a:ea typeface="Calibri" pitchFamily="34" charset="-122"/>
                <a:cs typeface="Calibri" pitchFamily="34" charset="-120"/>
              </a:rPr>
              <a:t>parameters</a:t>
            </a:r>
            <a:endParaRPr lang="en-US" sz="1000" dirty="0"/>
          </a:p>
          <a:p>
            <a:pPr indent="0" marL="0">
              <a:buNone/>
            </a:pPr>
            <a:r>
              <a:rPr lang="en-US" sz="1000" dirty="0">
                <a:solidFill>
                  <a:srgbClr val="1B4A8F"/>
                </a:solidFill>
                <a:latin typeface="Calibri" pitchFamily="34" charset="0"/>
                <a:ea typeface="Calibri" pitchFamily="34" charset="-122"/>
                <a:cs typeface="Calibri" pitchFamily="34" charset="-120"/>
              </a:rPr>
              <a:t>per block</a:t>
            </a:r>
            <a:endParaRPr lang="en-US" sz="1000" dirty="0"/>
          </a:p>
        </p:txBody>
      </p:sp>
      <p:sp>
        <p:nvSpPr>
          <p:cNvPr id="25" name="Text 23"/>
          <p:cNvSpPr/>
          <p:nvPr/>
        </p:nvSpPr>
        <p:spPr>
          <a:xfrm>
            <a:off x="548640" y="1600200"/>
            <a:ext cx="2377440" cy="420624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5A6478"/>
                </a:solidFill>
                <a:latin typeface="Calibri" pitchFamily="34" charset="0"/>
                <a:ea typeface="Calibri" pitchFamily="34" charset="-122"/>
                <a:cs typeface="Calibri" pitchFamily="34" charset="-120"/>
              </a:rPr>
              <a:t>Decoder-only: we continue text left to right, so no encoder is needed</a:t>
            </a:r>
            <a:endParaRPr lang="en-US" sz="1050" dirty="0"/>
          </a:p>
          <a:p>
            <a:pPr marL="342900" indent="-342900">
              <a:spcAft>
                <a:spcPts val="800"/>
              </a:spcAft>
              <a:buSzPct val="100000"/>
              <a:buChar char="•"/>
            </a:pPr>
            <a:r>
              <a:rPr lang="en-US" sz="1050" dirty="0">
                <a:solidFill>
                  <a:srgbClr val="5A6478"/>
                </a:solidFill>
                <a:latin typeface="Calibri" pitchFamily="34" charset="0"/>
                <a:ea typeface="Calibri" pitchFamily="34" charset="-122"/>
                <a:cs typeface="Calibri" pitchFamily="34" charset="-120"/>
              </a:rPr>
              <a:t>Positional embeddings exist because attention has no sense of order</a:t>
            </a:r>
            <a:endParaRPr lang="en-US" sz="1050" dirty="0"/>
          </a:p>
          <a:p>
            <a:pPr marL="342900" indent="-342900">
              <a:spcAft>
                <a:spcPts val="800"/>
              </a:spcAft>
              <a:buSzPct val="100000"/>
              <a:buChar char="•"/>
            </a:pPr>
            <a:r>
              <a:rPr lang="en-US" sz="1050" dirty="0">
                <a:solidFill>
                  <a:srgbClr val="5A6478"/>
                </a:solidFill>
                <a:latin typeface="Calibri" pitchFamily="34" charset="0"/>
                <a:ea typeface="Calibri" pitchFamily="34" charset="-122"/>
                <a:cs typeface="Calibri" pitchFamily="34" charset="-120"/>
              </a:rPr>
              <a:t>Residuals let gradients flow straight back — deep nets need them</a:t>
            </a:r>
            <a:endParaRPr lang="en-US" sz="1050" dirty="0"/>
          </a:p>
          <a:p>
            <a:pPr marL="342900" indent="-342900">
              <a:spcAft>
                <a:spcPts val="800"/>
              </a:spcAft>
              <a:buSzPct val="100000"/>
              <a:buChar char="•"/>
            </a:pPr>
            <a:r>
              <a:rPr lang="en-US" sz="1050" dirty="0">
                <a:solidFill>
                  <a:srgbClr val="5A6478"/>
                </a:solidFill>
                <a:latin typeface="Calibri" pitchFamily="34" charset="0"/>
                <a:ea typeface="Calibri" pitchFamily="34" charset="-122"/>
                <a:cs typeface="Calibri" pitchFamily="34" charset="-120"/>
              </a:rPr>
              <a:t>Pre-LN because post-LN needs a hand-tuned warmup or it diverges</a:t>
            </a:r>
            <a:endParaRPr lang="en-US" sz="1050" dirty="0"/>
          </a:p>
          <a:p>
            <a:pPr marL="342900" indent="-342900">
              <a:spcAft>
                <a:spcPts val="800"/>
              </a:spcAft>
              <a:buSzPct val="100000"/>
              <a:buChar char="•"/>
            </a:pPr>
            <a:r>
              <a:rPr lang="en-US" sz="1050" dirty="0">
                <a:solidFill>
                  <a:srgbClr val="5A6478"/>
                </a:solidFill>
                <a:latin typeface="Calibri" pitchFamily="34" charset="0"/>
                <a:ea typeface="Calibri" pitchFamily="34" charset="-122"/>
                <a:cs typeface="Calibri" pitchFamily="34" charset="-120"/>
              </a:rPr>
              <a:t>LM head TIED to the embedding — saves 524,288 parameters (39%)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Inside one Transformer block</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Attention mixes information between positions. The feed-forward processes each position.</a:t>
            </a:r>
            <a:endParaRPr lang="en-US" sz="1350" dirty="0"/>
          </a:p>
        </p:txBody>
      </p:sp>
      <p:sp>
        <p:nvSpPr>
          <p:cNvPr id="4" name="Text 2"/>
          <p:cNvSpPr/>
          <p:nvPr/>
        </p:nvSpPr>
        <p:spPr>
          <a:xfrm>
            <a:off x="548640" y="1572768"/>
            <a:ext cx="11064240" cy="365760"/>
          </a:xfrm>
          <a:prstGeom prst="rect">
            <a:avLst/>
          </a:prstGeom>
          <a:noFill/>
          <a:ln/>
        </p:spPr>
        <p:txBody>
          <a:bodyPr wrap="square" lIns="0" tIns="0" rIns="0" bIns="0" rtlCol="0" anchor="ctr"/>
          <a:lstStyle/>
          <a:p>
            <a:pPr indent="0" marL="0">
              <a:buNone/>
            </a:pPr>
            <a:r>
              <a:rPr lang="en-US" sz="1400" b="1" dirty="0">
                <a:solidFill>
                  <a:srgbClr val="1B4A8F"/>
                </a:solidFill>
                <a:latin typeface="Courier New" pitchFamily="34" charset="0"/>
                <a:ea typeface="Courier New" pitchFamily="34" charset="-122"/>
                <a:cs typeface="Courier New" pitchFamily="34" charset="-120"/>
              </a:rPr>
              <a:t>x  →  x + Attention(LayerNorm(x))  →  x + FFN(LayerNorm(x))</a:t>
            </a:r>
            <a:endParaRPr lang="en-US" sz="1400" dirty="0"/>
          </a:p>
        </p:txBody>
      </p:sp>
      <p:sp>
        <p:nvSpPr>
          <p:cNvPr id="5" name="Shape 3"/>
          <p:cNvSpPr/>
          <p:nvPr/>
        </p:nvSpPr>
        <p:spPr>
          <a:xfrm>
            <a:off x="548640" y="2103120"/>
            <a:ext cx="11064240" cy="502920"/>
          </a:xfrm>
          <a:prstGeom prst="rect">
            <a:avLst/>
          </a:prstGeom>
          <a:solidFill>
            <a:srgbClr val="F1F4F9"/>
          </a:solidFill>
          <a:ln w="9525">
            <a:solidFill>
              <a:srgbClr val="D6DEEA"/>
            </a:solidFill>
            <a:prstDash val="solid"/>
          </a:ln>
        </p:spPr>
      </p:sp>
      <p:sp>
        <p:nvSpPr>
          <p:cNvPr id="6" name="Text 4"/>
          <p:cNvSpPr/>
          <p:nvPr/>
        </p:nvSpPr>
        <p:spPr>
          <a:xfrm>
            <a:off x="621792" y="2103120"/>
            <a:ext cx="2139696" cy="502920"/>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Component</a:t>
            </a:r>
            <a:endParaRPr lang="en-US" sz="950" dirty="0"/>
          </a:p>
        </p:txBody>
      </p:sp>
      <p:sp>
        <p:nvSpPr>
          <p:cNvPr id="7" name="Text 5"/>
          <p:cNvSpPr/>
          <p:nvPr/>
        </p:nvSpPr>
        <p:spPr>
          <a:xfrm>
            <a:off x="2907792" y="2103120"/>
            <a:ext cx="3145536" cy="502920"/>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What it does</a:t>
            </a:r>
            <a:endParaRPr lang="en-US" sz="950" dirty="0"/>
          </a:p>
        </p:txBody>
      </p:sp>
      <p:sp>
        <p:nvSpPr>
          <p:cNvPr id="8" name="Text 6"/>
          <p:cNvSpPr/>
          <p:nvPr/>
        </p:nvSpPr>
        <p:spPr>
          <a:xfrm>
            <a:off x="6199632" y="2103120"/>
            <a:ext cx="3511296" cy="502920"/>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Why it is there</a:t>
            </a:r>
            <a:endParaRPr lang="en-US" sz="950" dirty="0"/>
          </a:p>
        </p:txBody>
      </p:sp>
      <p:sp>
        <p:nvSpPr>
          <p:cNvPr id="9" name="Text 7"/>
          <p:cNvSpPr/>
          <p:nvPr/>
        </p:nvSpPr>
        <p:spPr>
          <a:xfrm>
            <a:off x="9857232" y="2103120"/>
            <a:ext cx="1682496" cy="502920"/>
          </a:xfrm>
          <a:prstGeom prst="rect">
            <a:avLst/>
          </a:prstGeom>
          <a:noFill/>
          <a:ln/>
        </p:spPr>
        <p:txBody>
          <a:bodyPr wrap="square" lIns="0" tIns="0" rIns="0" bIns="0" rtlCol="0" anchor="ctr"/>
          <a:lstStyle/>
          <a:p>
            <a:pPr algn="r" indent="0" marL="0">
              <a:buNone/>
            </a:pPr>
            <a:r>
              <a:rPr lang="en-US" sz="950" b="1" dirty="0">
                <a:solidFill>
                  <a:srgbClr val="5A6478"/>
                </a:solidFill>
                <a:latin typeface="Calibri" pitchFamily="34" charset="0"/>
                <a:ea typeface="Calibri" pitchFamily="34" charset="-122"/>
                <a:cs typeface="Calibri" pitchFamily="34" charset="-120"/>
              </a:rPr>
              <a:t>Parameters</a:t>
            </a:r>
            <a:endParaRPr lang="en-US" sz="950" dirty="0"/>
          </a:p>
        </p:txBody>
      </p:sp>
      <p:sp>
        <p:nvSpPr>
          <p:cNvPr id="10" name="Shape 8"/>
          <p:cNvSpPr/>
          <p:nvPr/>
        </p:nvSpPr>
        <p:spPr>
          <a:xfrm>
            <a:off x="548640" y="2606040"/>
            <a:ext cx="11064240" cy="502920"/>
          </a:xfrm>
          <a:prstGeom prst="rect">
            <a:avLst/>
          </a:prstGeom>
          <a:solidFill>
            <a:srgbClr val="FFFFFF"/>
          </a:solidFill>
          <a:ln w="9525">
            <a:solidFill>
              <a:srgbClr val="D6DEEA"/>
            </a:solidFill>
            <a:prstDash val="solid"/>
          </a:ln>
        </p:spPr>
      </p:sp>
      <p:sp>
        <p:nvSpPr>
          <p:cNvPr id="11" name="Text 9"/>
          <p:cNvSpPr/>
          <p:nvPr/>
        </p:nvSpPr>
        <p:spPr>
          <a:xfrm>
            <a:off x="621792" y="2606040"/>
            <a:ext cx="21396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Multi-head attention</a:t>
            </a:r>
            <a:endParaRPr lang="en-US" sz="1050" dirty="0"/>
          </a:p>
        </p:txBody>
      </p:sp>
      <p:sp>
        <p:nvSpPr>
          <p:cNvPr id="12" name="Text 10"/>
          <p:cNvSpPr/>
          <p:nvPr/>
        </p:nvSpPr>
        <p:spPr>
          <a:xfrm>
            <a:off x="2907792" y="2606040"/>
            <a:ext cx="314553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Each position looks at earlier positions and pulls in what is relevant</a:t>
            </a:r>
            <a:endParaRPr lang="en-US" sz="1050" dirty="0"/>
          </a:p>
        </p:txBody>
      </p:sp>
      <p:sp>
        <p:nvSpPr>
          <p:cNvPr id="13" name="Text 11"/>
          <p:cNvSpPr/>
          <p:nvPr/>
        </p:nvSpPr>
        <p:spPr>
          <a:xfrm>
            <a:off x="6199632" y="2606040"/>
            <a:ext cx="35112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Mixes information ACROSS positions</a:t>
            </a:r>
            <a:endParaRPr lang="en-US" sz="1050" dirty="0"/>
          </a:p>
        </p:txBody>
      </p:sp>
      <p:sp>
        <p:nvSpPr>
          <p:cNvPr id="14" name="Text 12"/>
          <p:cNvSpPr/>
          <p:nvPr/>
        </p:nvSpPr>
        <p:spPr>
          <a:xfrm>
            <a:off x="9857232" y="2606040"/>
            <a:ext cx="1682496" cy="502920"/>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65,536</a:t>
            </a:r>
            <a:endParaRPr lang="en-US" sz="1050" dirty="0"/>
          </a:p>
        </p:txBody>
      </p:sp>
      <p:sp>
        <p:nvSpPr>
          <p:cNvPr id="15" name="Shape 13"/>
          <p:cNvSpPr/>
          <p:nvPr/>
        </p:nvSpPr>
        <p:spPr>
          <a:xfrm>
            <a:off x="548640" y="3108960"/>
            <a:ext cx="11064240" cy="502920"/>
          </a:xfrm>
          <a:prstGeom prst="rect">
            <a:avLst/>
          </a:prstGeom>
          <a:solidFill>
            <a:srgbClr val="FFFFFF"/>
          </a:solidFill>
          <a:ln w="9525">
            <a:solidFill>
              <a:srgbClr val="D6DEEA"/>
            </a:solidFill>
            <a:prstDash val="solid"/>
          </a:ln>
        </p:spPr>
      </p:sp>
      <p:sp>
        <p:nvSpPr>
          <p:cNvPr id="16" name="Text 14"/>
          <p:cNvSpPr/>
          <p:nvPr/>
        </p:nvSpPr>
        <p:spPr>
          <a:xfrm>
            <a:off x="621792" y="3108960"/>
            <a:ext cx="21396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Causal mask</a:t>
            </a:r>
            <a:endParaRPr lang="en-US" sz="1050" dirty="0"/>
          </a:p>
        </p:txBody>
      </p:sp>
      <p:sp>
        <p:nvSpPr>
          <p:cNvPr id="17" name="Text 15"/>
          <p:cNvSpPr/>
          <p:nvPr/>
        </p:nvSpPr>
        <p:spPr>
          <a:xfrm>
            <a:off x="2907792" y="3108960"/>
            <a:ext cx="314553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Sets future scores to −∞ before softmax</a:t>
            </a:r>
            <a:endParaRPr lang="en-US" sz="1050" dirty="0"/>
          </a:p>
        </p:txBody>
      </p:sp>
      <p:sp>
        <p:nvSpPr>
          <p:cNvPr id="18" name="Text 16"/>
          <p:cNvSpPr/>
          <p:nvPr/>
        </p:nvSpPr>
        <p:spPr>
          <a:xfrm>
            <a:off x="6199632" y="3108960"/>
            <a:ext cx="35112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Stops the model seeing the token it must predict</a:t>
            </a:r>
            <a:endParaRPr lang="en-US" sz="1050" dirty="0"/>
          </a:p>
        </p:txBody>
      </p:sp>
      <p:sp>
        <p:nvSpPr>
          <p:cNvPr id="19" name="Text 17"/>
          <p:cNvSpPr/>
          <p:nvPr/>
        </p:nvSpPr>
        <p:spPr>
          <a:xfrm>
            <a:off x="9857232" y="3108960"/>
            <a:ext cx="1682496" cy="502920"/>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0</a:t>
            </a:r>
            <a:endParaRPr lang="en-US" sz="1050" dirty="0"/>
          </a:p>
        </p:txBody>
      </p:sp>
      <p:sp>
        <p:nvSpPr>
          <p:cNvPr id="20" name="Shape 18"/>
          <p:cNvSpPr/>
          <p:nvPr/>
        </p:nvSpPr>
        <p:spPr>
          <a:xfrm>
            <a:off x="548640" y="3611880"/>
            <a:ext cx="11064240" cy="502920"/>
          </a:xfrm>
          <a:prstGeom prst="rect">
            <a:avLst/>
          </a:prstGeom>
          <a:solidFill>
            <a:srgbClr val="FFFFFF"/>
          </a:solidFill>
          <a:ln w="9525">
            <a:solidFill>
              <a:srgbClr val="D6DEEA"/>
            </a:solidFill>
            <a:prstDash val="solid"/>
          </a:ln>
        </p:spPr>
      </p:sp>
      <p:sp>
        <p:nvSpPr>
          <p:cNvPr id="21" name="Text 19"/>
          <p:cNvSpPr/>
          <p:nvPr/>
        </p:nvSpPr>
        <p:spPr>
          <a:xfrm>
            <a:off x="621792" y="3611880"/>
            <a:ext cx="21396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LayerNorm ×2</a:t>
            </a:r>
            <a:endParaRPr lang="en-US" sz="1050" dirty="0"/>
          </a:p>
        </p:txBody>
      </p:sp>
      <p:sp>
        <p:nvSpPr>
          <p:cNvPr id="22" name="Text 20"/>
          <p:cNvSpPr/>
          <p:nvPr/>
        </p:nvSpPr>
        <p:spPr>
          <a:xfrm>
            <a:off x="2907792" y="3611880"/>
            <a:ext cx="314553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Rescales to mean 0, variance 1, then a learned gain</a:t>
            </a:r>
            <a:endParaRPr lang="en-US" sz="1050" dirty="0"/>
          </a:p>
        </p:txBody>
      </p:sp>
      <p:sp>
        <p:nvSpPr>
          <p:cNvPr id="23" name="Text 21"/>
          <p:cNvSpPr/>
          <p:nvPr/>
        </p:nvSpPr>
        <p:spPr>
          <a:xfrm>
            <a:off x="6199632" y="3611880"/>
            <a:ext cx="35112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Keeps activations numerically stable</a:t>
            </a:r>
            <a:endParaRPr lang="en-US" sz="1050" dirty="0"/>
          </a:p>
        </p:txBody>
      </p:sp>
      <p:sp>
        <p:nvSpPr>
          <p:cNvPr id="24" name="Text 22"/>
          <p:cNvSpPr/>
          <p:nvPr/>
        </p:nvSpPr>
        <p:spPr>
          <a:xfrm>
            <a:off x="9857232" y="3611880"/>
            <a:ext cx="1682496" cy="502920"/>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512</a:t>
            </a:r>
            <a:endParaRPr lang="en-US" sz="1050" dirty="0"/>
          </a:p>
        </p:txBody>
      </p:sp>
      <p:sp>
        <p:nvSpPr>
          <p:cNvPr id="25" name="Shape 23"/>
          <p:cNvSpPr/>
          <p:nvPr/>
        </p:nvSpPr>
        <p:spPr>
          <a:xfrm>
            <a:off x="548640" y="4114800"/>
            <a:ext cx="11064240" cy="502920"/>
          </a:xfrm>
          <a:prstGeom prst="rect">
            <a:avLst/>
          </a:prstGeom>
          <a:solidFill>
            <a:srgbClr val="FFFFFF"/>
          </a:solidFill>
          <a:ln w="9525">
            <a:solidFill>
              <a:srgbClr val="D6DEEA"/>
            </a:solidFill>
            <a:prstDash val="solid"/>
          </a:ln>
        </p:spPr>
      </p:sp>
      <p:sp>
        <p:nvSpPr>
          <p:cNvPr id="26" name="Text 24"/>
          <p:cNvSpPr/>
          <p:nvPr/>
        </p:nvSpPr>
        <p:spPr>
          <a:xfrm>
            <a:off x="621792" y="4114800"/>
            <a:ext cx="21396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Feed-forward 128→512→128</a:t>
            </a:r>
            <a:endParaRPr lang="en-US" sz="1050" dirty="0"/>
          </a:p>
        </p:txBody>
      </p:sp>
      <p:sp>
        <p:nvSpPr>
          <p:cNvPr id="27" name="Text 25"/>
          <p:cNvSpPr/>
          <p:nvPr/>
        </p:nvSpPr>
        <p:spPr>
          <a:xfrm>
            <a:off x="2907792" y="4114800"/>
            <a:ext cx="314553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Two linear layers with GELU between</a:t>
            </a:r>
            <a:endParaRPr lang="en-US" sz="1050" dirty="0"/>
          </a:p>
        </p:txBody>
      </p:sp>
      <p:sp>
        <p:nvSpPr>
          <p:cNvPr id="28" name="Text 26"/>
          <p:cNvSpPr/>
          <p:nvPr/>
        </p:nvSpPr>
        <p:spPr>
          <a:xfrm>
            <a:off x="6199632" y="4114800"/>
            <a:ext cx="35112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Non-linear computation WITHIN each position</a:t>
            </a:r>
            <a:endParaRPr lang="en-US" sz="1050" dirty="0"/>
          </a:p>
        </p:txBody>
      </p:sp>
      <p:sp>
        <p:nvSpPr>
          <p:cNvPr id="29" name="Text 27"/>
          <p:cNvSpPr/>
          <p:nvPr/>
        </p:nvSpPr>
        <p:spPr>
          <a:xfrm>
            <a:off x="9857232" y="4114800"/>
            <a:ext cx="1682496" cy="502920"/>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131,712</a:t>
            </a:r>
            <a:endParaRPr lang="en-US" sz="1050" dirty="0"/>
          </a:p>
        </p:txBody>
      </p:sp>
      <p:sp>
        <p:nvSpPr>
          <p:cNvPr id="30" name="Shape 28"/>
          <p:cNvSpPr/>
          <p:nvPr/>
        </p:nvSpPr>
        <p:spPr>
          <a:xfrm>
            <a:off x="548640" y="4617720"/>
            <a:ext cx="11064240" cy="502920"/>
          </a:xfrm>
          <a:prstGeom prst="rect">
            <a:avLst/>
          </a:prstGeom>
          <a:solidFill>
            <a:srgbClr val="FFFFFF"/>
          </a:solidFill>
          <a:ln w="9525">
            <a:solidFill>
              <a:srgbClr val="D6DEEA"/>
            </a:solidFill>
            <a:prstDash val="solid"/>
          </a:ln>
        </p:spPr>
      </p:sp>
      <p:sp>
        <p:nvSpPr>
          <p:cNvPr id="31" name="Text 29"/>
          <p:cNvSpPr/>
          <p:nvPr/>
        </p:nvSpPr>
        <p:spPr>
          <a:xfrm>
            <a:off x="621792" y="4617720"/>
            <a:ext cx="21396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Residual ×2</a:t>
            </a:r>
            <a:endParaRPr lang="en-US" sz="1050" dirty="0"/>
          </a:p>
        </p:txBody>
      </p:sp>
      <p:sp>
        <p:nvSpPr>
          <p:cNvPr id="32" name="Text 30"/>
          <p:cNvSpPr/>
          <p:nvPr/>
        </p:nvSpPr>
        <p:spPr>
          <a:xfrm>
            <a:off x="2907792" y="4617720"/>
            <a:ext cx="314553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x = x + f(x) instead of x = f(x)</a:t>
            </a:r>
            <a:endParaRPr lang="en-US" sz="1050" dirty="0"/>
          </a:p>
        </p:txBody>
      </p:sp>
      <p:sp>
        <p:nvSpPr>
          <p:cNvPr id="33" name="Text 31"/>
          <p:cNvSpPr/>
          <p:nvPr/>
        </p:nvSpPr>
        <p:spPr>
          <a:xfrm>
            <a:off x="6199632" y="4617720"/>
            <a:ext cx="35112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Lets gradients flow straight back through the '+'</a:t>
            </a:r>
            <a:endParaRPr lang="en-US" sz="1050" dirty="0"/>
          </a:p>
        </p:txBody>
      </p:sp>
      <p:sp>
        <p:nvSpPr>
          <p:cNvPr id="34" name="Text 32"/>
          <p:cNvSpPr/>
          <p:nvPr/>
        </p:nvSpPr>
        <p:spPr>
          <a:xfrm>
            <a:off x="9857232" y="4617720"/>
            <a:ext cx="1682496" cy="502920"/>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0</a:t>
            </a:r>
            <a:endParaRPr lang="en-US" sz="1050" dirty="0"/>
          </a:p>
        </p:txBody>
      </p:sp>
      <p:sp>
        <p:nvSpPr>
          <p:cNvPr id="35" name="Shape 33"/>
          <p:cNvSpPr/>
          <p:nvPr/>
        </p:nvSpPr>
        <p:spPr>
          <a:xfrm>
            <a:off x="548640" y="5120640"/>
            <a:ext cx="11064240" cy="502920"/>
          </a:xfrm>
          <a:prstGeom prst="rect">
            <a:avLst/>
          </a:prstGeom>
          <a:solidFill>
            <a:srgbClr val="E4F1EA"/>
          </a:solidFill>
          <a:ln w="9525">
            <a:solidFill>
              <a:srgbClr val="D6DEEA"/>
            </a:solidFill>
            <a:prstDash val="solid"/>
          </a:ln>
        </p:spPr>
      </p:sp>
      <p:sp>
        <p:nvSpPr>
          <p:cNvPr id="36" name="Text 34"/>
          <p:cNvSpPr/>
          <p:nvPr/>
        </p:nvSpPr>
        <p:spPr>
          <a:xfrm>
            <a:off x="621792" y="5120640"/>
            <a:ext cx="2139696" cy="502920"/>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Block total</a:t>
            </a:r>
            <a:endParaRPr lang="en-US" sz="1050" dirty="0"/>
          </a:p>
        </p:txBody>
      </p:sp>
      <p:sp>
        <p:nvSpPr>
          <p:cNvPr id="37" name="Text 35"/>
          <p:cNvSpPr/>
          <p:nvPr/>
        </p:nvSpPr>
        <p:spPr>
          <a:xfrm>
            <a:off x="2907792" y="5120640"/>
            <a:ext cx="3145536" cy="502920"/>
          </a:xfrm>
          <a:prstGeom prst="rect">
            <a:avLst/>
          </a:prstGeom>
          <a:noFill/>
          <a:ln/>
        </p:spPr>
        <p:txBody>
          <a:bodyPr wrap="square" lIns="0" tIns="0" rIns="0" bIns="0" rtlCol="0" anchor="ctr"/>
          <a:lstStyle/>
          <a:p>
            <a:pPr algn="l" indent="0" marL="0">
              <a:buNone/>
            </a:pPr>
            <a:endParaRPr lang="en-US" sz="1050" dirty="0"/>
          </a:p>
        </p:txBody>
      </p:sp>
      <p:sp>
        <p:nvSpPr>
          <p:cNvPr id="38" name="Text 36"/>
          <p:cNvSpPr/>
          <p:nvPr/>
        </p:nvSpPr>
        <p:spPr>
          <a:xfrm>
            <a:off x="6199632" y="5120640"/>
            <a:ext cx="3511296" cy="502920"/>
          </a:xfrm>
          <a:prstGeom prst="rect">
            <a:avLst/>
          </a:prstGeom>
          <a:noFill/>
          <a:ln/>
        </p:spPr>
        <p:txBody>
          <a:bodyPr wrap="square" lIns="0" tIns="0" rIns="0" bIns="0" rtlCol="0" anchor="ctr"/>
          <a:lstStyle/>
          <a:p>
            <a:pPr algn="l" indent="0" marL="0">
              <a:buNone/>
            </a:pPr>
            <a:endParaRPr lang="en-US" sz="1050" dirty="0"/>
          </a:p>
        </p:txBody>
      </p:sp>
      <p:sp>
        <p:nvSpPr>
          <p:cNvPr id="39" name="Text 37"/>
          <p:cNvSpPr/>
          <p:nvPr/>
        </p:nvSpPr>
        <p:spPr>
          <a:xfrm>
            <a:off x="9857232" y="5120640"/>
            <a:ext cx="1682496" cy="502920"/>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197,760</a:t>
            </a:r>
            <a:endParaRPr lang="en-US" sz="1050" dirty="0"/>
          </a:p>
        </p:txBody>
      </p:sp>
      <p:sp>
        <p:nvSpPr>
          <p:cNvPr id="40" name="Text 38"/>
          <p:cNvSpPr/>
          <p:nvPr/>
        </p:nvSpPr>
        <p:spPr>
          <a:xfrm>
            <a:off x="548640" y="5989320"/>
            <a:ext cx="11064240" cy="548640"/>
          </a:xfrm>
          <a:prstGeom prst="rect">
            <a:avLst/>
          </a:prstGeom>
          <a:noFill/>
          <a:ln/>
        </p:spPr>
        <p:txBody>
          <a:bodyPr wrap="square" lIns="0" tIns="0" rIns="0" bIns="0" rtlCol="0" anchor="t"/>
          <a:lstStyle/>
          <a:p>
            <a:pPr indent="0" marL="0">
              <a:buNone/>
            </a:pPr>
            <a:r>
              <a:rPr lang="en-US" sz="1200" dirty="0">
                <a:solidFill>
                  <a:srgbClr val="10203A"/>
                </a:solidFill>
                <a:latin typeface="Calibri" pitchFamily="34" charset="0"/>
                <a:ea typeface="Calibri" pitchFamily="34" charset="-122"/>
                <a:cs typeface="Calibri" pitchFamily="34" charset="-120"/>
              </a:rPr>
              <a:t>A detail worth volunteering: attention gets all the attention in papers, but across the whole model our feed-forward networks hold slightly more parameters than attention does — 526,848 against 262,144.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Self-attention</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The one equation to be able to write on a whiteboard.</a:t>
            </a:r>
            <a:endParaRPr lang="en-US" sz="1350" dirty="0"/>
          </a:p>
        </p:txBody>
      </p:sp>
      <p:sp>
        <p:nvSpPr>
          <p:cNvPr id="4" name="Shape 2"/>
          <p:cNvSpPr/>
          <p:nvPr/>
        </p:nvSpPr>
        <p:spPr>
          <a:xfrm>
            <a:off x="548640" y="1554480"/>
            <a:ext cx="11064240" cy="777240"/>
          </a:xfrm>
          <a:prstGeom prst="roundRect">
            <a:avLst>
              <a:gd name="adj" fmla="val 8235"/>
            </a:avLst>
          </a:prstGeom>
          <a:solidFill>
            <a:srgbClr val="E8EFFA"/>
          </a:solidFill>
          <a:ln w="12700">
            <a:solidFill>
              <a:srgbClr val="D6DEEA"/>
            </a:solidFill>
            <a:prstDash val="solid"/>
          </a:ln>
        </p:spPr>
      </p:sp>
      <p:sp>
        <p:nvSpPr>
          <p:cNvPr id="5" name="Text 3"/>
          <p:cNvSpPr/>
          <p:nvPr/>
        </p:nvSpPr>
        <p:spPr>
          <a:xfrm>
            <a:off x="548640" y="1554480"/>
            <a:ext cx="11064240" cy="777240"/>
          </a:xfrm>
          <a:prstGeom prst="rect">
            <a:avLst/>
          </a:prstGeom>
          <a:noFill/>
          <a:ln/>
        </p:spPr>
        <p:txBody>
          <a:bodyPr wrap="square" lIns="0" tIns="0" rIns="0" bIns="0" rtlCol="0" anchor="ctr"/>
          <a:lstStyle/>
          <a:p>
            <a:pPr algn="ctr" indent="0" marL="0">
              <a:buNone/>
            </a:pPr>
            <a:r>
              <a:rPr lang="en-US" sz="2200" b="1" dirty="0">
                <a:solidFill>
                  <a:srgbClr val="1B4A8F"/>
                </a:solidFill>
                <a:latin typeface="Cambria" pitchFamily="34" charset="0"/>
                <a:ea typeface="Cambria" pitchFamily="34" charset="-122"/>
                <a:cs typeface="Cambria" pitchFamily="34" charset="-120"/>
              </a:rPr>
              <a:t>Attention(Q, K, V)  =  softmax( Q Kᵀ / √dₖ ) V</a:t>
            </a:r>
            <a:endParaRPr lang="en-US" sz="2200" dirty="0"/>
          </a:p>
        </p:txBody>
      </p:sp>
      <p:sp>
        <p:nvSpPr>
          <p:cNvPr id="6" name="Shape 4"/>
          <p:cNvSpPr/>
          <p:nvPr/>
        </p:nvSpPr>
        <p:spPr>
          <a:xfrm>
            <a:off x="548640" y="2514600"/>
            <a:ext cx="5577840" cy="310896"/>
          </a:xfrm>
          <a:prstGeom prst="rect">
            <a:avLst/>
          </a:prstGeom>
          <a:solidFill>
            <a:srgbClr val="F1F4F9"/>
          </a:solidFill>
          <a:ln w="9525">
            <a:solidFill>
              <a:srgbClr val="D6DEEA"/>
            </a:solidFill>
            <a:prstDash val="solid"/>
          </a:ln>
        </p:spPr>
      </p:sp>
      <p:sp>
        <p:nvSpPr>
          <p:cNvPr id="7" name="Text 5"/>
          <p:cNvSpPr/>
          <p:nvPr/>
        </p:nvSpPr>
        <p:spPr>
          <a:xfrm>
            <a:off x="621792" y="2514600"/>
            <a:ext cx="1591056" cy="310896"/>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Term</a:t>
            </a:r>
            <a:endParaRPr lang="en-US" sz="950" dirty="0"/>
          </a:p>
        </p:txBody>
      </p:sp>
      <p:sp>
        <p:nvSpPr>
          <p:cNvPr id="8" name="Text 6"/>
          <p:cNvSpPr/>
          <p:nvPr/>
        </p:nvSpPr>
        <p:spPr>
          <a:xfrm>
            <a:off x="2359152" y="2514600"/>
            <a:ext cx="3694176" cy="310896"/>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Meaning</a:t>
            </a:r>
            <a:endParaRPr lang="en-US" sz="950" dirty="0"/>
          </a:p>
        </p:txBody>
      </p:sp>
      <p:sp>
        <p:nvSpPr>
          <p:cNvPr id="9" name="Shape 7"/>
          <p:cNvSpPr/>
          <p:nvPr/>
        </p:nvSpPr>
        <p:spPr>
          <a:xfrm>
            <a:off x="548640" y="2825496"/>
            <a:ext cx="5577840" cy="310896"/>
          </a:xfrm>
          <a:prstGeom prst="rect">
            <a:avLst/>
          </a:prstGeom>
          <a:solidFill>
            <a:srgbClr val="FFFFFF"/>
          </a:solidFill>
          <a:ln w="9525">
            <a:solidFill>
              <a:srgbClr val="D6DEEA"/>
            </a:solidFill>
            <a:prstDash val="solid"/>
          </a:ln>
        </p:spPr>
      </p:sp>
      <p:sp>
        <p:nvSpPr>
          <p:cNvPr id="10" name="Text 8"/>
          <p:cNvSpPr/>
          <p:nvPr/>
        </p:nvSpPr>
        <p:spPr>
          <a:xfrm>
            <a:off x="621792" y="2825496"/>
            <a:ext cx="15910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Q — query</a:t>
            </a:r>
            <a:endParaRPr lang="en-US" sz="1100" dirty="0"/>
          </a:p>
        </p:txBody>
      </p:sp>
      <p:sp>
        <p:nvSpPr>
          <p:cNvPr id="11" name="Text 9"/>
          <p:cNvSpPr/>
          <p:nvPr/>
        </p:nvSpPr>
        <p:spPr>
          <a:xfrm>
            <a:off x="2359152" y="2825496"/>
            <a:ext cx="36941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what this position is looking for</a:t>
            </a:r>
            <a:endParaRPr lang="en-US" sz="1100" dirty="0"/>
          </a:p>
        </p:txBody>
      </p:sp>
      <p:sp>
        <p:nvSpPr>
          <p:cNvPr id="12" name="Shape 10"/>
          <p:cNvSpPr/>
          <p:nvPr/>
        </p:nvSpPr>
        <p:spPr>
          <a:xfrm>
            <a:off x="548640" y="3136392"/>
            <a:ext cx="5577840" cy="310896"/>
          </a:xfrm>
          <a:prstGeom prst="rect">
            <a:avLst/>
          </a:prstGeom>
          <a:solidFill>
            <a:srgbClr val="FFFFFF"/>
          </a:solidFill>
          <a:ln w="9525">
            <a:solidFill>
              <a:srgbClr val="D6DEEA"/>
            </a:solidFill>
            <a:prstDash val="solid"/>
          </a:ln>
        </p:spPr>
      </p:sp>
      <p:sp>
        <p:nvSpPr>
          <p:cNvPr id="13" name="Text 11"/>
          <p:cNvSpPr/>
          <p:nvPr/>
        </p:nvSpPr>
        <p:spPr>
          <a:xfrm>
            <a:off x="621792" y="3136392"/>
            <a:ext cx="15910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K — key</a:t>
            </a:r>
            <a:endParaRPr lang="en-US" sz="1100" dirty="0"/>
          </a:p>
        </p:txBody>
      </p:sp>
      <p:sp>
        <p:nvSpPr>
          <p:cNvPr id="14" name="Text 12"/>
          <p:cNvSpPr/>
          <p:nvPr/>
        </p:nvSpPr>
        <p:spPr>
          <a:xfrm>
            <a:off x="2359152" y="3136392"/>
            <a:ext cx="36941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what each position offers for matching</a:t>
            </a:r>
            <a:endParaRPr lang="en-US" sz="1100" dirty="0"/>
          </a:p>
        </p:txBody>
      </p:sp>
      <p:sp>
        <p:nvSpPr>
          <p:cNvPr id="15" name="Shape 13"/>
          <p:cNvSpPr/>
          <p:nvPr/>
        </p:nvSpPr>
        <p:spPr>
          <a:xfrm>
            <a:off x="548640" y="3447288"/>
            <a:ext cx="5577840" cy="310896"/>
          </a:xfrm>
          <a:prstGeom prst="rect">
            <a:avLst/>
          </a:prstGeom>
          <a:solidFill>
            <a:srgbClr val="FFFFFF"/>
          </a:solidFill>
          <a:ln w="9525">
            <a:solidFill>
              <a:srgbClr val="D6DEEA"/>
            </a:solidFill>
            <a:prstDash val="solid"/>
          </a:ln>
        </p:spPr>
      </p:sp>
      <p:sp>
        <p:nvSpPr>
          <p:cNvPr id="16" name="Text 14"/>
          <p:cNvSpPr/>
          <p:nvPr/>
        </p:nvSpPr>
        <p:spPr>
          <a:xfrm>
            <a:off x="621792" y="3447288"/>
            <a:ext cx="159105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V — value</a:t>
            </a:r>
            <a:endParaRPr lang="en-US" sz="1100" dirty="0"/>
          </a:p>
        </p:txBody>
      </p:sp>
      <p:sp>
        <p:nvSpPr>
          <p:cNvPr id="17" name="Text 15"/>
          <p:cNvSpPr/>
          <p:nvPr/>
        </p:nvSpPr>
        <p:spPr>
          <a:xfrm>
            <a:off x="2359152" y="3447288"/>
            <a:ext cx="3694176" cy="310896"/>
          </a:xfrm>
          <a:prstGeom prst="rect">
            <a:avLst/>
          </a:prstGeom>
          <a:noFill/>
          <a:ln/>
        </p:spPr>
        <p:txBody>
          <a:bodyPr wrap="square" lIns="0" tIns="0" rIns="0" bIns="0" rtlCol="0" anchor="ctr"/>
          <a:lstStyle/>
          <a:p>
            <a:pPr algn="l" indent="0" marL="0">
              <a:buNone/>
            </a:pPr>
            <a:r>
              <a:rPr lang="en-US" sz="1100" dirty="0">
                <a:solidFill>
                  <a:srgbClr val="10203A"/>
                </a:solidFill>
                <a:latin typeface="Calibri" pitchFamily="34" charset="0"/>
                <a:ea typeface="Calibri" pitchFamily="34" charset="-122"/>
                <a:cs typeface="Calibri" pitchFamily="34" charset="-120"/>
              </a:rPr>
              <a:t>the information actually carried</a:t>
            </a:r>
            <a:endParaRPr lang="en-US" sz="1100" dirty="0"/>
          </a:p>
        </p:txBody>
      </p:sp>
      <p:sp>
        <p:nvSpPr>
          <p:cNvPr id="18" name="Text 16"/>
          <p:cNvSpPr/>
          <p:nvPr/>
        </p:nvSpPr>
        <p:spPr>
          <a:xfrm>
            <a:off x="548640" y="3840480"/>
            <a:ext cx="557784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All three come from the SAME input through three learned projections — which is why it is called self-attention.</a:t>
            </a:r>
            <a:endParaRPr lang="en-US" sz="1100" dirty="0"/>
          </a:p>
        </p:txBody>
      </p:sp>
      <p:sp>
        <p:nvSpPr>
          <p:cNvPr id="19" name="Shape 17"/>
          <p:cNvSpPr/>
          <p:nvPr/>
        </p:nvSpPr>
        <p:spPr>
          <a:xfrm>
            <a:off x="6400800" y="2514600"/>
            <a:ext cx="5212080" cy="310896"/>
          </a:xfrm>
          <a:prstGeom prst="rect">
            <a:avLst/>
          </a:prstGeom>
          <a:solidFill>
            <a:srgbClr val="F1F4F9"/>
          </a:solidFill>
          <a:ln w="9525">
            <a:solidFill>
              <a:srgbClr val="D6DEEA"/>
            </a:solidFill>
            <a:prstDash val="solid"/>
          </a:ln>
        </p:spPr>
      </p:sp>
      <p:sp>
        <p:nvSpPr>
          <p:cNvPr id="20" name="Text 18"/>
          <p:cNvSpPr/>
          <p:nvPr/>
        </p:nvSpPr>
        <p:spPr>
          <a:xfrm>
            <a:off x="6473952" y="2514600"/>
            <a:ext cx="1225296" cy="310896"/>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Step</a:t>
            </a:r>
            <a:endParaRPr lang="en-US" sz="950" dirty="0"/>
          </a:p>
        </p:txBody>
      </p:sp>
      <p:sp>
        <p:nvSpPr>
          <p:cNvPr id="21" name="Text 19"/>
          <p:cNvSpPr/>
          <p:nvPr/>
        </p:nvSpPr>
        <p:spPr>
          <a:xfrm>
            <a:off x="7845552" y="2514600"/>
            <a:ext cx="3694176" cy="310896"/>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What it does</a:t>
            </a:r>
            <a:endParaRPr lang="en-US" sz="950" dirty="0"/>
          </a:p>
        </p:txBody>
      </p:sp>
      <p:sp>
        <p:nvSpPr>
          <p:cNvPr id="22" name="Shape 20"/>
          <p:cNvSpPr/>
          <p:nvPr/>
        </p:nvSpPr>
        <p:spPr>
          <a:xfrm>
            <a:off x="6400800" y="2825496"/>
            <a:ext cx="5212080" cy="310896"/>
          </a:xfrm>
          <a:prstGeom prst="rect">
            <a:avLst/>
          </a:prstGeom>
          <a:solidFill>
            <a:srgbClr val="FFFFFF"/>
          </a:solidFill>
          <a:ln w="9525">
            <a:solidFill>
              <a:srgbClr val="D6DEEA"/>
            </a:solidFill>
            <a:prstDash val="solid"/>
          </a:ln>
        </p:spPr>
      </p:sp>
      <p:sp>
        <p:nvSpPr>
          <p:cNvPr id="23" name="Text 21"/>
          <p:cNvSpPr/>
          <p:nvPr/>
        </p:nvSpPr>
        <p:spPr>
          <a:xfrm>
            <a:off x="6473952" y="2825496"/>
            <a:ext cx="122529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Q Kᵀ</a:t>
            </a:r>
            <a:endParaRPr lang="en-US" sz="1050" dirty="0"/>
          </a:p>
        </p:txBody>
      </p:sp>
      <p:sp>
        <p:nvSpPr>
          <p:cNvPr id="24" name="Text 22"/>
          <p:cNvSpPr/>
          <p:nvPr/>
        </p:nvSpPr>
        <p:spPr>
          <a:xfrm>
            <a:off x="7845552" y="2825496"/>
            <a:ext cx="369417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score for every pair of positions</a:t>
            </a:r>
            <a:endParaRPr lang="en-US" sz="1050" dirty="0"/>
          </a:p>
        </p:txBody>
      </p:sp>
      <p:sp>
        <p:nvSpPr>
          <p:cNvPr id="25" name="Shape 23"/>
          <p:cNvSpPr/>
          <p:nvPr/>
        </p:nvSpPr>
        <p:spPr>
          <a:xfrm>
            <a:off x="6400800" y="3136392"/>
            <a:ext cx="5212080" cy="310896"/>
          </a:xfrm>
          <a:prstGeom prst="rect">
            <a:avLst/>
          </a:prstGeom>
          <a:solidFill>
            <a:srgbClr val="FFFFFF"/>
          </a:solidFill>
          <a:ln w="9525">
            <a:solidFill>
              <a:srgbClr val="D6DEEA"/>
            </a:solidFill>
            <a:prstDash val="solid"/>
          </a:ln>
        </p:spPr>
      </p:sp>
      <p:sp>
        <p:nvSpPr>
          <p:cNvPr id="26" name="Text 24"/>
          <p:cNvSpPr/>
          <p:nvPr/>
        </p:nvSpPr>
        <p:spPr>
          <a:xfrm>
            <a:off x="6473952" y="3136392"/>
            <a:ext cx="122529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 √dₖ</a:t>
            </a:r>
            <a:endParaRPr lang="en-US" sz="1050" dirty="0"/>
          </a:p>
        </p:txBody>
      </p:sp>
      <p:sp>
        <p:nvSpPr>
          <p:cNvPr id="27" name="Text 25"/>
          <p:cNvSpPr/>
          <p:nvPr/>
        </p:nvSpPr>
        <p:spPr>
          <a:xfrm>
            <a:off x="7845552" y="3136392"/>
            <a:ext cx="369417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stops large dot products saturating softmax</a:t>
            </a:r>
            <a:endParaRPr lang="en-US" sz="1050" dirty="0"/>
          </a:p>
        </p:txBody>
      </p:sp>
      <p:sp>
        <p:nvSpPr>
          <p:cNvPr id="28" name="Shape 26"/>
          <p:cNvSpPr/>
          <p:nvPr/>
        </p:nvSpPr>
        <p:spPr>
          <a:xfrm>
            <a:off x="6400800" y="3447288"/>
            <a:ext cx="5212080" cy="310896"/>
          </a:xfrm>
          <a:prstGeom prst="rect">
            <a:avLst/>
          </a:prstGeom>
          <a:solidFill>
            <a:srgbClr val="FFFFFF"/>
          </a:solidFill>
          <a:ln w="9525">
            <a:solidFill>
              <a:srgbClr val="D6DEEA"/>
            </a:solidFill>
            <a:prstDash val="solid"/>
          </a:ln>
        </p:spPr>
      </p:sp>
      <p:sp>
        <p:nvSpPr>
          <p:cNvPr id="29" name="Text 27"/>
          <p:cNvSpPr/>
          <p:nvPr/>
        </p:nvSpPr>
        <p:spPr>
          <a:xfrm>
            <a:off x="6473952" y="3447288"/>
            <a:ext cx="122529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softmax</a:t>
            </a:r>
            <a:endParaRPr lang="en-US" sz="1050" dirty="0"/>
          </a:p>
        </p:txBody>
      </p:sp>
      <p:sp>
        <p:nvSpPr>
          <p:cNvPr id="30" name="Text 28"/>
          <p:cNvSpPr/>
          <p:nvPr/>
        </p:nvSpPr>
        <p:spPr>
          <a:xfrm>
            <a:off x="7845552" y="3447288"/>
            <a:ext cx="369417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turns scores into weights that sum to 1</a:t>
            </a:r>
            <a:endParaRPr lang="en-US" sz="1050" dirty="0"/>
          </a:p>
        </p:txBody>
      </p:sp>
      <p:sp>
        <p:nvSpPr>
          <p:cNvPr id="31" name="Shape 29"/>
          <p:cNvSpPr/>
          <p:nvPr/>
        </p:nvSpPr>
        <p:spPr>
          <a:xfrm>
            <a:off x="6400800" y="3758184"/>
            <a:ext cx="5212080" cy="310896"/>
          </a:xfrm>
          <a:prstGeom prst="rect">
            <a:avLst/>
          </a:prstGeom>
          <a:solidFill>
            <a:srgbClr val="FFFFFF"/>
          </a:solidFill>
          <a:ln w="9525">
            <a:solidFill>
              <a:srgbClr val="D6DEEA"/>
            </a:solidFill>
            <a:prstDash val="solid"/>
          </a:ln>
        </p:spPr>
      </p:sp>
      <p:sp>
        <p:nvSpPr>
          <p:cNvPr id="32" name="Text 30"/>
          <p:cNvSpPr/>
          <p:nvPr/>
        </p:nvSpPr>
        <p:spPr>
          <a:xfrm>
            <a:off x="6473952" y="3758184"/>
            <a:ext cx="122529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 V</a:t>
            </a:r>
            <a:endParaRPr lang="en-US" sz="1050" dirty="0"/>
          </a:p>
        </p:txBody>
      </p:sp>
      <p:sp>
        <p:nvSpPr>
          <p:cNvPr id="33" name="Text 31"/>
          <p:cNvSpPr/>
          <p:nvPr/>
        </p:nvSpPr>
        <p:spPr>
          <a:xfrm>
            <a:off x="7845552" y="3758184"/>
            <a:ext cx="369417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weighted average of the relevant information</a:t>
            </a:r>
            <a:endParaRPr lang="en-US" sz="1050" dirty="0"/>
          </a:p>
        </p:txBody>
      </p:sp>
      <p:sp>
        <p:nvSpPr>
          <p:cNvPr id="34" name="Text 32"/>
          <p:cNvSpPr/>
          <p:nvPr/>
        </p:nvSpPr>
        <p:spPr>
          <a:xfrm>
            <a:off x="548640" y="4434840"/>
            <a:ext cx="5577840" cy="274320"/>
          </a:xfrm>
          <a:prstGeom prst="rect">
            <a:avLst/>
          </a:prstGeom>
          <a:noFill/>
          <a:ln/>
        </p:spPr>
        <p:txBody>
          <a:bodyPr wrap="square" lIns="0" tIns="0" rIns="0" bIns="0" rtlCol="0" anchor="ctr"/>
          <a:lstStyle/>
          <a:p>
            <a:pPr indent="0" marL="0">
              <a:buNone/>
            </a:pPr>
            <a:r>
              <a:rPr lang="en-US" sz="1300" b="1" dirty="0">
                <a:solidFill>
                  <a:srgbClr val="10203A"/>
                </a:solidFill>
                <a:latin typeface="Calibri" pitchFamily="34" charset="0"/>
                <a:ea typeface="Calibri" pitchFamily="34" charset="-122"/>
                <a:cs typeface="Calibri" pitchFamily="34" charset="-120"/>
              </a:rPr>
              <a:t>Library analogy</a:t>
            </a:r>
            <a:endParaRPr lang="en-US" sz="1300" dirty="0"/>
          </a:p>
        </p:txBody>
      </p:sp>
      <p:sp>
        <p:nvSpPr>
          <p:cNvPr id="35" name="Text 33"/>
          <p:cNvSpPr/>
          <p:nvPr/>
        </p:nvSpPr>
        <p:spPr>
          <a:xfrm>
            <a:off x="548640" y="4754880"/>
            <a:ext cx="5577840" cy="731520"/>
          </a:xfrm>
          <a:prstGeom prst="rect">
            <a:avLst/>
          </a:prstGeom>
          <a:noFill/>
          <a:ln/>
        </p:spPr>
        <p:txBody>
          <a:bodyPr wrap="square" lIns="0" tIns="0" rIns="0" bIns="0" rtlCol="0" anchor="t"/>
          <a:lstStyle/>
          <a:p>
            <a:pPr indent="0" marL="0">
              <a:buNone/>
            </a:pPr>
            <a:r>
              <a:rPr lang="en-US" sz="1150" dirty="0">
                <a:solidFill>
                  <a:srgbClr val="5A6478"/>
                </a:solidFill>
                <a:latin typeface="Calibri" pitchFamily="34" charset="0"/>
                <a:ea typeface="Calibri" pitchFamily="34" charset="-122"/>
                <a:cs typeface="Calibri" pitchFamily="34" charset="-120"/>
              </a:rPr>
              <a:t>Query is your search term. Keys are the labels on the book spines. Values are the contents you take away once you have matched.</a:t>
            </a:r>
            <a:endParaRPr lang="en-US" sz="1150" dirty="0"/>
          </a:p>
        </p:txBody>
      </p:sp>
      <p:sp>
        <p:nvSpPr>
          <p:cNvPr id="36" name="Shape 34"/>
          <p:cNvSpPr/>
          <p:nvPr/>
        </p:nvSpPr>
        <p:spPr>
          <a:xfrm>
            <a:off x="6400800" y="4434840"/>
            <a:ext cx="5212080" cy="1371600"/>
          </a:xfrm>
          <a:prstGeom prst="roundRect">
            <a:avLst>
              <a:gd name="adj" fmla="val 4667"/>
            </a:avLst>
          </a:prstGeom>
          <a:solidFill>
            <a:srgbClr val="E4F1EA"/>
          </a:solidFill>
          <a:ln w="12700">
            <a:solidFill>
              <a:srgbClr val="D6DEEA"/>
            </a:solidFill>
            <a:prstDash val="solid"/>
          </a:ln>
        </p:spPr>
      </p:sp>
      <p:sp>
        <p:nvSpPr>
          <p:cNvPr id="37" name="Text 35"/>
          <p:cNvSpPr/>
          <p:nvPr/>
        </p:nvSpPr>
        <p:spPr>
          <a:xfrm>
            <a:off x="6675120" y="4572000"/>
            <a:ext cx="4663440" cy="274320"/>
          </a:xfrm>
          <a:prstGeom prst="rect">
            <a:avLst/>
          </a:prstGeom>
          <a:noFill/>
          <a:ln/>
        </p:spPr>
        <p:txBody>
          <a:bodyPr wrap="square" lIns="0" tIns="0" rIns="0" bIns="0" rtlCol="0" anchor="ctr"/>
          <a:lstStyle/>
          <a:p>
            <a:pPr indent="0" marL="0">
              <a:buNone/>
            </a:pPr>
            <a:r>
              <a:rPr lang="en-US" sz="1250" b="1" dirty="0">
                <a:solidFill>
                  <a:srgbClr val="146049"/>
                </a:solidFill>
                <a:latin typeface="Calibri" pitchFamily="34" charset="0"/>
                <a:ea typeface="Calibri" pitchFamily="34" charset="-122"/>
                <a:cs typeface="Calibri" pitchFamily="34" charset="-120"/>
              </a:rPr>
              <a:t>We verified our implementation</a:t>
            </a:r>
            <a:endParaRPr lang="en-US" sz="1250" dirty="0"/>
          </a:p>
        </p:txBody>
      </p:sp>
      <p:sp>
        <p:nvSpPr>
          <p:cNvPr id="38" name="Text 36"/>
          <p:cNvSpPr/>
          <p:nvPr/>
        </p:nvSpPr>
        <p:spPr>
          <a:xfrm>
            <a:off x="6675120" y="4873752"/>
            <a:ext cx="4663440" cy="822960"/>
          </a:xfrm>
          <a:prstGeom prst="rect">
            <a:avLst/>
          </a:prstGeom>
          <a:noFill/>
          <a:ln/>
        </p:spPr>
        <p:txBody>
          <a:bodyPr wrap="square" lIns="0" tIns="0" rIns="0" bIns="0" rtlCol="0" anchor="t"/>
          <a:lstStyle/>
          <a:p>
            <a:pPr indent="0" marL="0">
              <a:buNone/>
            </a:pPr>
            <a:r>
              <a:rPr lang="en-US" sz="1050" dirty="0">
                <a:solidFill>
                  <a:srgbClr val="14402F"/>
                </a:solidFill>
                <a:latin typeface="Calibri" pitchFamily="34" charset="0"/>
                <a:ea typeface="Calibri" pitchFamily="34" charset="-122"/>
                <a:cs typeface="Calibri" pitchFamily="34" charset="-120"/>
              </a:rPr>
              <a:t>We wrote the equation out explicitly AND wired up PyTorch's optimised kernel, then asserted the two agree. They match to 8.3 × 10⁻⁷.</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Causal masking</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Why the model cannot cheat by reading the answer.</a:t>
            </a:r>
            <a:endParaRPr lang="en-US" sz="1350" dirty="0"/>
          </a:p>
        </p:txBody>
      </p:sp>
      <p:sp>
        <p:nvSpPr>
          <p:cNvPr id="4" name="Text 2"/>
          <p:cNvSpPr/>
          <p:nvPr/>
        </p:nvSpPr>
        <p:spPr>
          <a:xfrm>
            <a:off x="548640" y="1645920"/>
            <a:ext cx="3291840" cy="274320"/>
          </a:xfrm>
          <a:prstGeom prst="rect">
            <a:avLst/>
          </a:prstGeom>
          <a:noFill/>
          <a:ln/>
        </p:spPr>
        <p:txBody>
          <a:bodyPr wrap="square" lIns="0" tIns="0" rIns="0" bIns="0" rtlCol="0" anchor="ctr"/>
          <a:lstStyle/>
          <a:p>
            <a:pPr indent="0" marL="0">
              <a:buNone/>
            </a:pPr>
            <a:r>
              <a:rPr lang="en-US" sz="1100" b="1" dirty="0">
                <a:solidFill>
                  <a:srgbClr val="5A6478"/>
                </a:solidFill>
                <a:latin typeface="Calibri" pitchFamily="34" charset="0"/>
                <a:ea typeface="Calibri" pitchFamily="34" charset="-122"/>
                <a:cs typeface="Calibri" pitchFamily="34" charset="-120"/>
              </a:rPr>
              <a:t>RAW SCORES  Q·Kᵀ</a:t>
            </a:r>
            <a:endParaRPr lang="en-US" sz="1100" dirty="0"/>
          </a:p>
        </p:txBody>
      </p:sp>
      <p:sp>
        <p:nvSpPr>
          <p:cNvPr id="5" name="Shape 3"/>
          <p:cNvSpPr/>
          <p:nvPr/>
        </p:nvSpPr>
        <p:spPr>
          <a:xfrm>
            <a:off x="548640" y="1965960"/>
            <a:ext cx="3291840" cy="1280160"/>
          </a:xfrm>
          <a:prstGeom prst="roundRect">
            <a:avLst>
              <a:gd name="adj" fmla="val 5000"/>
            </a:avLst>
          </a:prstGeom>
          <a:solidFill>
            <a:srgbClr val="FFFFFF"/>
          </a:solidFill>
          <a:ln w="12700">
            <a:solidFill>
              <a:srgbClr val="D6DEEA"/>
            </a:solidFill>
            <a:prstDash val="solid"/>
          </a:ln>
        </p:spPr>
      </p:sp>
      <p:sp>
        <p:nvSpPr>
          <p:cNvPr id="6" name="Text 4"/>
          <p:cNvSpPr/>
          <p:nvPr/>
        </p:nvSpPr>
        <p:spPr>
          <a:xfrm>
            <a:off x="731520" y="2066544"/>
            <a:ext cx="3017520" cy="1097280"/>
          </a:xfrm>
          <a:prstGeom prst="rect">
            <a:avLst/>
          </a:prstGeom>
          <a:noFill/>
          <a:ln/>
        </p:spPr>
        <p:txBody>
          <a:bodyPr wrap="square" lIns="0" tIns="0" rIns="0" bIns="0" rtlCol="0" anchor="t"/>
          <a:lstStyle/>
          <a:p>
            <a:pPr indent="0" marL="0">
              <a:buNone/>
            </a:pPr>
            <a:r>
              <a:rPr lang="en-US" sz="1050" dirty="0">
                <a:solidFill>
                  <a:srgbClr val="10203A"/>
                </a:solidFill>
                <a:latin typeface="Courier New" pitchFamily="34" charset="0"/>
                <a:ea typeface="Courier New" pitchFamily="34" charset="-122"/>
                <a:cs typeface="Courier New" pitchFamily="34" charset="-120"/>
              </a:rPr>
              <a:t>      The  cat  sat  on</a:t>
            </a:r>
            <a:endParaRPr lang="en-US" sz="1050" dirty="0"/>
          </a:p>
          <a:p>
            <a:pPr indent="0" marL="0">
              <a:buNone/>
            </a:pPr>
            <a:r>
              <a:rPr lang="en-US" sz="1050" dirty="0">
                <a:solidFill>
                  <a:srgbClr val="10203A"/>
                </a:solidFill>
                <a:latin typeface="Courier New" pitchFamily="34" charset="0"/>
                <a:ea typeface="Courier New" pitchFamily="34" charset="-122"/>
                <a:cs typeface="Courier New" pitchFamily="34" charset="-120"/>
              </a:rPr>
              <a:t>The   0.9  0.2  0.1  0.3</a:t>
            </a:r>
            <a:endParaRPr lang="en-US" sz="1050" dirty="0"/>
          </a:p>
          <a:p>
            <a:pPr indent="0" marL="0">
              <a:buNone/>
            </a:pPr>
            <a:r>
              <a:rPr lang="en-US" sz="1050" dirty="0">
                <a:solidFill>
                  <a:srgbClr val="10203A"/>
                </a:solidFill>
                <a:latin typeface="Courier New" pitchFamily="34" charset="0"/>
                <a:ea typeface="Courier New" pitchFamily="34" charset="-122"/>
                <a:cs typeface="Courier New" pitchFamily="34" charset="-120"/>
              </a:rPr>
              <a:t>cat   0.4  0.8  0.2  0.1</a:t>
            </a:r>
            <a:endParaRPr lang="en-US" sz="1050" dirty="0"/>
          </a:p>
          <a:p>
            <a:pPr indent="0" marL="0">
              <a:buNone/>
            </a:pPr>
            <a:r>
              <a:rPr lang="en-US" sz="1050" dirty="0">
                <a:solidFill>
                  <a:srgbClr val="10203A"/>
                </a:solidFill>
                <a:latin typeface="Courier New" pitchFamily="34" charset="0"/>
                <a:ea typeface="Courier New" pitchFamily="34" charset="-122"/>
                <a:cs typeface="Courier New" pitchFamily="34" charset="-120"/>
              </a:rPr>
              <a:t>sat   0.2  0.6  0.7  0.2</a:t>
            </a:r>
            <a:endParaRPr lang="en-US" sz="1050" dirty="0"/>
          </a:p>
          <a:p>
            <a:pPr indent="0" marL="0">
              <a:buNone/>
            </a:pPr>
            <a:r>
              <a:rPr lang="en-US" sz="1050" dirty="0">
                <a:solidFill>
                  <a:srgbClr val="10203A"/>
                </a:solidFill>
                <a:latin typeface="Courier New" pitchFamily="34" charset="0"/>
                <a:ea typeface="Courier New" pitchFamily="34" charset="-122"/>
                <a:cs typeface="Courier New" pitchFamily="34" charset="-120"/>
              </a:rPr>
              <a:t>on    0.1  0.3  0.5  0.9</a:t>
            </a:r>
            <a:endParaRPr lang="en-US" sz="1050" dirty="0"/>
          </a:p>
        </p:txBody>
      </p:sp>
      <p:sp>
        <p:nvSpPr>
          <p:cNvPr id="7" name="Text 5"/>
          <p:cNvSpPr/>
          <p:nvPr/>
        </p:nvSpPr>
        <p:spPr>
          <a:xfrm>
            <a:off x="4480560" y="1645920"/>
            <a:ext cx="3291840" cy="274320"/>
          </a:xfrm>
          <a:prstGeom prst="rect">
            <a:avLst/>
          </a:prstGeom>
          <a:noFill/>
          <a:ln/>
        </p:spPr>
        <p:txBody>
          <a:bodyPr wrap="square" lIns="0" tIns="0" rIns="0" bIns="0" rtlCol="0" anchor="ctr"/>
          <a:lstStyle/>
          <a:p>
            <a:pPr indent="0" marL="0">
              <a:buNone/>
            </a:pPr>
            <a:r>
              <a:rPr lang="en-US" sz="1100" b="1" dirty="0">
                <a:solidFill>
                  <a:srgbClr val="B4610F"/>
                </a:solidFill>
                <a:latin typeface="Calibri" pitchFamily="34" charset="0"/>
                <a:ea typeface="Calibri" pitchFamily="34" charset="-122"/>
                <a:cs typeface="Calibri" pitchFamily="34" charset="-120"/>
              </a:rPr>
              <a:t>AFTER MASK  (−∞)</a:t>
            </a:r>
            <a:endParaRPr lang="en-US" sz="1100" dirty="0"/>
          </a:p>
        </p:txBody>
      </p:sp>
      <p:sp>
        <p:nvSpPr>
          <p:cNvPr id="8" name="Shape 6"/>
          <p:cNvSpPr/>
          <p:nvPr/>
        </p:nvSpPr>
        <p:spPr>
          <a:xfrm>
            <a:off x="4480560" y="1965960"/>
            <a:ext cx="3291840" cy="1280160"/>
          </a:xfrm>
          <a:prstGeom prst="roundRect">
            <a:avLst>
              <a:gd name="adj" fmla="val 5000"/>
            </a:avLst>
          </a:prstGeom>
          <a:solidFill>
            <a:srgbClr val="FFFFFF"/>
          </a:solidFill>
          <a:ln w="12700">
            <a:solidFill>
              <a:srgbClr val="D6DEEA"/>
            </a:solidFill>
            <a:prstDash val="solid"/>
          </a:ln>
        </p:spPr>
      </p:sp>
      <p:sp>
        <p:nvSpPr>
          <p:cNvPr id="9" name="Text 7"/>
          <p:cNvSpPr/>
          <p:nvPr/>
        </p:nvSpPr>
        <p:spPr>
          <a:xfrm>
            <a:off x="4663440" y="2066544"/>
            <a:ext cx="3017520" cy="1097280"/>
          </a:xfrm>
          <a:prstGeom prst="rect">
            <a:avLst/>
          </a:prstGeom>
          <a:noFill/>
          <a:ln/>
        </p:spPr>
        <p:txBody>
          <a:bodyPr wrap="square" lIns="0" tIns="0" rIns="0" bIns="0" rtlCol="0" anchor="t"/>
          <a:lstStyle/>
          <a:p>
            <a:pPr indent="0" marL="0">
              <a:buNone/>
            </a:pPr>
            <a:r>
              <a:rPr lang="en-US" sz="1050" dirty="0">
                <a:solidFill>
                  <a:srgbClr val="B4610F"/>
                </a:solidFill>
                <a:latin typeface="Courier New" pitchFamily="34" charset="0"/>
                <a:ea typeface="Courier New" pitchFamily="34" charset="-122"/>
                <a:cs typeface="Courier New" pitchFamily="34" charset="-120"/>
              </a:rPr>
              <a:t>      The  cat  sat  on</a:t>
            </a:r>
            <a:endParaRPr lang="en-US" sz="1050" dirty="0"/>
          </a:p>
          <a:p>
            <a:pPr indent="0" marL="0">
              <a:buNone/>
            </a:pPr>
            <a:r>
              <a:rPr lang="en-US" sz="1050" dirty="0">
                <a:solidFill>
                  <a:srgbClr val="B4610F"/>
                </a:solidFill>
                <a:latin typeface="Courier New" pitchFamily="34" charset="0"/>
                <a:ea typeface="Courier New" pitchFamily="34" charset="-122"/>
                <a:cs typeface="Courier New" pitchFamily="34" charset="-120"/>
              </a:rPr>
              <a:t>The   0.9  -∞   -∞   -∞</a:t>
            </a:r>
            <a:endParaRPr lang="en-US" sz="1050" dirty="0"/>
          </a:p>
          <a:p>
            <a:pPr indent="0" marL="0">
              <a:buNone/>
            </a:pPr>
            <a:r>
              <a:rPr lang="en-US" sz="1050" dirty="0">
                <a:solidFill>
                  <a:srgbClr val="B4610F"/>
                </a:solidFill>
                <a:latin typeface="Courier New" pitchFamily="34" charset="0"/>
                <a:ea typeface="Courier New" pitchFamily="34" charset="-122"/>
                <a:cs typeface="Courier New" pitchFamily="34" charset="-120"/>
              </a:rPr>
              <a:t>cat   0.4  0.8  -∞   -∞</a:t>
            </a:r>
            <a:endParaRPr lang="en-US" sz="1050" dirty="0"/>
          </a:p>
          <a:p>
            <a:pPr indent="0" marL="0">
              <a:buNone/>
            </a:pPr>
            <a:r>
              <a:rPr lang="en-US" sz="1050" dirty="0">
                <a:solidFill>
                  <a:srgbClr val="B4610F"/>
                </a:solidFill>
                <a:latin typeface="Courier New" pitchFamily="34" charset="0"/>
                <a:ea typeface="Courier New" pitchFamily="34" charset="-122"/>
                <a:cs typeface="Courier New" pitchFamily="34" charset="-120"/>
              </a:rPr>
              <a:t>sat   0.2  0.6  0.7  -∞</a:t>
            </a:r>
            <a:endParaRPr lang="en-US" sz="1050" dirty="0"/>
          </a:p>
          <a:p>
            <a:pPr indent="0" marL="0">
              <a:buNone/>
            </a:pPr>
            <a:r>
              <a:rPr lang="en-US" sz="1050" dirty="0">
                <a:solidFill>
                  <a:srgbClr val="B4610F"/>
                </a:solidFill>
                <a:latin typeface="Courier New" pitchFamily="34" charset="0"/>
                <a:ea typeface="Courier New" pitchFamily="34" charset="-122"/>
                <a:cs typeface="Courier New" pitchFamily="34" charset="-120"/>
              </a:rPr>
              <a:t>on    0.1  0.3  0.5  0.9</a:t>
            </a:r>
            <a:endParaRPr lang="en-US" sz="1050" dirty="0"/>
          </a:p>
        </p:txBody>
      </p:sp>
      <p:sp>
        <p:nvSpPr>
          <p:cNvPr id="10" name="Text 8"/>
          <p:cNvSpPr/>
          <p:nvPr/>
        </p:nvSpPr>
        <p:spPr>
          <a:xfrm>
            <a:off x="8412480" y="1645920"/>
            <a:ext cx="3291840" cy="274320"/>
          </a:xfrm>
          <a:prstGeom prst="rect">
            <a:avLst/>
          </a:prstGeom>
          <a:noFill/>
          <a:ln/>
        </p:spPr>
        <p:txBody>
          <a:bodyPr wrap="square" lIns="0" tIns="0" rIns="0" bIns="0" rtlCol="0" anchor="ctr"/>
          <a:lstStyle/>
          <a:p>
            <a:pPr indent="0" marL="0">
              <a:buNone/>
            </a:pPr>
            <a:r>
              <a:rPr lang="en-US" sz="1100" b="1" dirty="0">
                <a:solidFill>
                  <a:srgbClr val="146049"/>
                </a:solidFill>
                <a:latin typeface="Calibri" pitchFamily="34" charset="0"/>
                <a:ea typeface="Calibri" pitchFamily="34" charset="-122"/>
                <a:cs typeface="Calibri" pitchFamily="34" charset="-120"/>
              </a:rPr>
              <a:t>AFTER SOFTMAX</a:t>
            </a:r>
            <a:endParaRPr lang="en-US" sz="1100" dirty="0"/>
          </a:p>
        </p:txBody>
      </p:sp>
      <p:sp>
        <p:nvSpPr>
          <p:cNvPr id="11" name="Shape 9"/>
          <p:cNvSpPr/>
          <p:nvPr/>
        </p:nvSpPr>
        <p:spPr>
          <a:xfrm>
            <a:off x="8412480" y="1965960"/>
            <a:ext cx="3291840" cy="1280160"/>
          </a:xfrm>
          <a:prstGeom prst="roundRect">
            <a:avLst>
              <a:gd name="adj" fmla="val 5000"/>
            </a:avLst>
          </a:prstGeom>
          <a:solidFill>
            <a:srgbClr val="FFFFFF"/>
          </a:solidFill>
          <a:ln w="12700">
            <a:solidFill>
              <a:srgbClr val="D6DEEA"/>
            </a:solidFill>
            <a:prstDash val="solid"/>
          </a:ln>
        </p:spPr>
      </p:sp>
      <p:sp>
        <p:nvSpPr>
          <p:cNvPr id="12" name="Text 10"/>
          <p:cNvSpPr/>
          <p:nvPr/>
        </p:nvSpPr>
        <p:spPr>
          <a:xfrm>
            <a:off x="8595360" y="2066544"/>
            <a:ext cx="3017520" cy="1097280"/>
          </a:xfrm>
          <a:prstGeom prst="rect">
            <a:avLst/>
          </a:prstGeom>
          <a:noFill/>
          <a:ln/>
        </p:spPr>
        <p:txBody>
          <a:bodyPr wrap="square" lIns="0" tIns="0" rIns="0" bIns="0" rtlCol="0" anchor="t"/>
          <a:lstStyle/>
          <a:p>
            <a:pPr indent="0" marL="0">
              <a:buNone/>
            </a:pPr>
            <a:r>
              <a:rPr lang="en-US" sz="1050" dirty="0">
                <a:solidFill>
                  <a:srgbClr val="146049"/>
                </a:solidFill>
                <a:latin typeface="Courier New" pitchFamily="34" charset="0"/>
                <a:ea typeface="Courier New" pitchFamily="34" charset="-122"/>
                <a:cs typeface="Courier New" pitchFamily="34" charset="-120"/>
              </a:rPr>
              <a:t>      The  cat  sat  on</a:t>
            </a:r>
            <a:endParaRPr lang="en-US" sz="1050" dirty="0"/>
          </a:p>
          <a:p>
            <a:pPr indent="0" marL="0">
              <a:buNone/>
            </a:pPr>
            <a:r>
              <a:rPr lang="en-US" sz="1050" dirty="0">
                <a:solidFill>
                  <a:srgbClr val="146049"/>
                </a:solidFill>
                <a:latin typeface="Courier New" pitchFamily="34" charset="0"/>
                <a:ea typeface="Courier New" pitchFamily="34" charset="-122"/>
                <a:cs typeface="Courier New" pitchFamily="34" charset="-120"/>
              </a:rPr>
              <a:t>The   1.0  0.0  0.0  0.0</a:t>
            </a:r>
            <a:endParaRPr lang="en-US" sz="1050" dirty="0"/>
          </a:p>
          <a:p>
            <a:pPr indent="0" marL="0">
              <a:buNone/>
            </a:pPr>
            <a:r>
              <a:rPr lang="en-US" sz="1050" dirty="0">
                <a:solidFill>
                  <a:srgbClr val="146049"/>
                </a:solidFill>
                <a:latin typeface="Courier New" pitchFamily="34" charset="0"/>
                <a:ea typeface="Courier New" pitchFamily="34" charset="-122"/>
                <a:cs typeface="Courier New" pitchFamily="34" charset="-120"/>
              </a:rPr>
              <a:t>cat   0.4  0.6  0.0  0.0</a:t>
            </a:r>
            <a:endParaRPr lang="en-US" sz="1050" dirty="0"/>
          </a:p>
          <a:p>
            <a:pPr indent="0" marL="0">
              <a:buNone/>
            </a:pPr>
            <a:r>
              <a:rPr lang="en-US" sz="1050" dirty="0">
                <a:solidFill>
                  <a:srgbClr val="146049"/>
                </a:solidFill>
                <a:latin typeface="Courier New" pitchFamily="34" charset="0"/>
                <a:ea typeface="Courier New" pitchFamily="34" charset="-122"/>
                <a:cs typeface="Courier New" pitchFamily="34" charset="-120"/>
              </a:rPr>
              <a:t>sat   0.2  0.4  0.4  0.0</a:t>
            </a:r>
            <a:endParaRPr lang="en-US" sz="1050" dirty="0"/>
          </a:p>
          <a:p>
            <a:pPr indent="0" marL="0">
              <a:buNone/>
            </a:pPr>
            <a:r>
              <a:rPr lang="en-US" sz="1050" dirty="0">
                <a:solidFill>
                  <a:srgbClr val="146049"/>
                </a:solidFill>
                <a:latin typeface="Courier New" pitchFamily="34" charset="0"/>
                <a:ea typeface="Courier New" pitchFamily="34" charset="-122"/>
                <a:cs typeface="Courier New" pitchFamily="34" charset="-120"/>
              </a:rPr>
              <a:t>on    0.1  0.2  0.3  0.4</a:t>
            </a:r>
            <a:endParaRPr lang="en-US" sz="1050" dirty="0"/>
          </a:p>
        </p:txBody>
      </p:sp>
      <p:sp>
        <p:nvSpPr>
          <p:cNvPr id="13" name="Shape 11"/>
          <p:cNvSpPr/>
          <p:nvPr/>
        </p:nvSpPr>
        <p:spPr>
          <a:xfrm>
            <a:off x="3977640" y="2606040"/>
            <a:ext cx="411480" cy="0"/>
          </a:xfrm>
          <a:prstGeom prst="line">
            <a:avLst/>
          </a:prstGeom>
          <a:noFill/>
          <a:ln w="15875">
            <a:solidFill>
              <a:srgbClr val="B4610F"/>
            </a:solidFill>
            <a:prstDash val="solid"/>
            <a:tailEnd type="triangle"/>
          </a:ln>
        </p:spPr>
      </p:sp>
      <p:sp>
        <p:nvSpPr>
          <p:cNvPr id="14" name="Shape 12"/>
          <p:cNvSpPr/>
          <p:nvPr/>
        </p:nvSpPr>
        <p:spPr>
          <a:xfrm>
            <a:off x="7909560" y="2606040"/>
            <a:ext cx="411480" cy="0"/>
          </a:xfrm>
          <a:prstGeom prst="line">
            <a:avLst/>
          </a:prstGeom>
          <a:noFill/>
          <a:ln w="15875">
            <a:solidFill>
              <a:srgbClr val="146049"/>
            </a:solidFill>
            <a:prstDash val="solid"/>
            <a:tailEnd type="triangle"/>
          </a:ln>
        </p:spPr>
      </p:sp>
      <p:sp>
        <p:nvSpPr>
          <p:cNvPr id="15" name="Text 13"/>
          <p:cNvSpPr/>
          <p:nvPr/>
        </p:nvSpPr>
        <p:spPr>
          <a:xfrm>
            <a:off x="548640" y="3520440"/>
            <a:ext cx="11064240" cy="1737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0203A"/>
                </a:solidFill>
                <a:latin typeface="Calibri" pitchFamily="34" charset="0"/>
                <a:ea typeface="Calibri" pitchFamily="34" charset="-122"/>
                <a:cs typeface="Calibri" pitchFamily="34" charset="-120"/>
              </a:rPr>
              <a:t>Each row is one position asking: how much do I attend to each other position?</a:t>
            </a:r>
            <a:endParaRPr lang="en-US" sz="1250" dirty="0"/>
          </a:p>
          <a:p>
            <a:pPr marL="342900" indent="-342900">
              <a:spcAft>
                <a:spcPts val="800"/>
              </a:spcAft>
              <a:buSzPct val="100000"/>
              <a:buChar char="•"/>
            </a:pPr>
            <a:r>
              <a:rPr lang="en-US" sz="1250" dirty="0">
                <a:solidFill>
                  <a:srgbClr val="10203A"/>
                </a:solidFill>
                <a:latin typeface="Calibri" pitchFamily="34" charset="0"/>
                <a:ea typeface="Calibri" pitchFamily="34" charset="-122"/>
                <a:cs typeface="Calibri" pitchFamily="34" charset="-120"/>
              </a:rPr>
              <a:t>The upper triangle is the FUTURE. Setting it to −∞ before softmax makes its weight exactly 0.</a:t>
            </a:r>
            <a:endParaRPr lang="en-US" sz="1250" dirty="0"/>
          </a:p>
          <a:p>
            <a:pPr marL="342900" indent="-342900">
              <a:spcAft>
                <a:spcPts val="800"/>
              </a:spcAft>
              <a:buSzPct val="100000"/>
              <a:buChar char="•"/>
            </a:pPr>
            <a:r>
              <a:rPr lang="en-US" sz="1250" dirty="0">
                <a:solidFill>
                  <a:srgbClr val="10203A"/>
                </a:solidFill>
                <a:latin typeface="Calibri" pitchFamily="34" charset="0"/>
                <a:ea typeface="Calibri" pitchFamily="34" charset="-122"/>
                <a:cs typeface="Calibri" pitchFamily="34" charset="-120"/>
              </a:rPr>
              <a:t>Every row of the right-hand matrix sums to 1.0 — that is what softmax guarantees.</a:t>
            </a:r>
            <a:endParaRPr lang="en-US" sz="1250" dirty="0"/>
          </a:p>
          <a:p>
            <a:pPr marL="342900" indent="-342900">
              <a:spcAft>
                <a:spcPts val="800"/>
              </a:spcAft>
              <a:buSzPct val="100000"/>
              <a:buChar char="•"/>
            </a:pPr>
            <a:r>
              <a:rPr lang="en-US" sz="1250" dirty="0">
                <a:solidFill>
                  <a:srgbClr val="10203A"/>
                </a:solidFill>
                <a:latin typeface="Calibri" pitchFamily="34" charset="0"/>
                <a:ea typeface="Calibri" pitchFamily="34" charset="-122"/>
                <a:cs typeface="Calibri" pitchFamily="34" charset="-120"/>
              </a:rPr>
              <a:t>Without this, position 5 could read position 6 and would be 'predicting' a token it can already see — every loss number would be meaningless.</a:t>
            </a:r>
            <a:endParaRPr lang="en-US" sz="1250" dirty="0"/>
          </a:p>
        </p:txBody>
      </p:sp>
      <p:sp>
        <p:nvSpPr>
          <p:cNvPr id="16" name="Text 14"/>
          <p:cNvSpPr/>
          <p:nvPr/>
        </p:nvSpPr>
        <p:spPr>
          <a:xfrm>
            <a:off x="548640" y="5989320"/>
            <a:ext cx="11064240" cy="54864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We test this rather than assume it: change a later token, and assert the earlier positions' outputs are bit-identical. Numbers above are illustrative, chosen to show the mechanism — they are not from our model.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Training pipeline</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Forward pass, loss, backpropagation, update. Repeated 6,100 times.</a:t>
            </a:r>
            <a:endParaRPr lang="en-US" sz="1350" dirty="0"/>
          </a:p>
        </p:txBody>
      </p:sp>
      <p:sp>
        <p:nvSpPr>
          <p:cNvPr id="4" name="Shape 2"/>
          <p:cNvSpPr/>
          <p:nvPr/>
        </p:nvSpPr>
        <p:spPr>
          <a:xfrm>
            <a:off x="548640" y="1920240"/>
            <a:ext cx="1645920" cy="685800"/>
          </a:xfrm>
          <a:prstGeom prst="roundRect">
            <a:avLst>
              <a:gd name="adj" fmla="val 9333"/>
            </a:avLst>
          </a:prstGeom>
          <a:solidFill>
            <a:srgbClr val="FFFFFF"/>
          </a:solidFill>
          <a:ln w="12700">
            <a:solidFill>
              <a:srgbClr val="D6DEEA"/>
            </a:solidFill>
            <a:prstDash val="solid"/>
          </a:ln>
        </p:spPr>
      </p:sp>
      <p:sp>
        <p:nvSpPr>
          <p:cNvPr id="5" name="Text 3"/>
          <p:cNvSpPr/>
          <p:nvPr/>
        </p:nvSpPr>
        <p:spPr>
          <a:xfrm>
            <a:off x="548640" y="1920240"/>
            <a:ext cx="1645920" cy="68580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batch of</a:t>
            </a:r>
            <a:endParaRPr lang="en-US" sz="1050" dirty="0"/>
          </a:p>
          <a:p>
            <a:pPr algn="ctr" indent="0" marL="0">
              <a:buNone/>
            </a:pPr>
            <a:r>
              <a:rPr lang="en-US" sz="1050" dirty="0">
                <a:solidFill>
                  <a:srgbClr val="10203A"/>
                </a:solidFill>
                <a:latin typeface="Calibri" pitchFamily="34" charset="0"/>
                <a:ea typeface="Calibri" pitchFamily="34" charset="-122"/>
                <a:cs typeface="Calibri" pitchFamily="34" charset="-120"/>
              </a:rPr>
              <a:t>token IDs</a:t>
            </a:r>
            <a:endParaRPr lang="en-US" sz="1050" dirty="0"/>
          </a:p>
        </p:txBody>
      </p:sp>
      <p:sp>
        <p:nvSpPr>
          <p:cNvPr id="6" name="Shape 4"/>
          <p:cNvSpPr/>
          <p:nvPr/>
        </p:nvSpPr>
        <p:spPr>
          <a:xfrm>
            <a:off x="2194560" y="2267712"/>
            <a:ext cx="201168" cy="0"/>
          </a:xfrm>
          <a:prstGeom prst="line">
            <a:avLst/>
          </a:prstGeom>
          <a:noFill/>
          <a:ln w="15875">
            <a:solidFill>
              <a:srgbClr val="5A6478"/>
            </a:solidFill>
            <a:prstDash val="solid"/>
            <a:tailEnd type="triangle"/>
          </a:ln>
        </p:spPr>
      </p:sp>
      <p:sp>
        <p:nvSpPr>
          <p:cNvPr id="7" name="Shape 5"/>
          <p:cNvSpPr/>
          <p:nvPr/>
        </p:nvSpPr>
        <p:spPr>
          <a:xfrm>
            <a:off x="2423160" y="1920240"/>
            <a:ext cx="1645920" cy="685800"/>
          </a:xfrm>
          <a:prstGeom prst="roundRect">
            <a:avLst>
              <a:gd name="adj" fmla="val 9333"/>
            </a:avLst>
          </a:prstGeom>
          <a:solidFill>
            <a:srgbClr val="FFFFFF"/>
          </a:solidFill>
          <a:ln w="12700">
            <a:solidFill>
              <a:srgbClr val="D6DEEA"/>
            </a:solidFill>
            <a:prstDash val="solid"/>
          </a:ln>
        </p:spPr>
      </p:sp>
      <p:sp>
        <p:nvSpPr>
          <p:cNvPr id="8" name="Text 6"/>
          <p:cNvSpPr/>
          <p:nvPr/>
        </p:nvSpPr>
        <p:spPr>
          <a:xfrm>
            <a:off x="2423160" y="1920240"/>
            <a:ext cx="1645920" cy="68580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forward</a:t>
            </a:r>
            <a:endParaRPr lang="en-US" sz="1050" dirty="0"/>
          </a:p>
          <a:p>
            <a:pPr algn="ctr" indent="0" marL="0">
              <a:buNone/>
            </a:pPr>
            <a:r>
              <a:rPr lang="en-US" sz="1050" dirty="0">
                <a:solidFill>
                  <a:srgbClr val="10203A"/>
                </a:solidFill>
                <a:latin typeface="Calibri" pitchFamily="34" charset="0"/>
                <a:ea typeface="Calibri" pitchFamily="34" charset="-122"/>
                <a:cs typeface="Calibri" pitchFamily="34" charset="-120"/>
              </a:rPr>
              <a:t>pass</a:t>
            </a:r>
            <a:endParaRPr lang="en-US" sz="1050" dirty="0"/>
          </a:p>
        </p:txBody>
      </p:sp>
      <p:sp>
        <p:nvSpPr>
          <p:cNvPr id="9" name="Shape 7"/>
          <p:cNvSpPr/>
          <p:nvPr/>
        </p:nvSpPr>
        <p:spPr>
          <a:xfrm>
            <a:off x="4069080" y="2267712"/>
            <a:ext cx="201168" cy="0"/>
          </a:xfrm>
          <a:prstGeom prst="line">
            <a:avLst/>
          </a:prstGeom>
          <a:noFill/>
          <a:ln w="15875">
            <a:solidFill>
              <a:srgbClr val="5A6478"/>
            </a:solidFill>
            <a:prstDash val="solid"/>
            <a:tailEnd type="triangle"/>
          </a:ln>
        </p:spPr>
      </p:sp>
      <p:sp>
        <p:nvSpPr>
          <p:cNvPr id="10" name="Shape 8"/>
          <p:cNvSpPr/>
          <p:nvPr/>
        </p:nvSpPr>
        <p:spPr>
          <a:xfrm>
            <a:off x="4297680" y="1920240"/>
            <a:ext cx="1645920" cy="685800"/>
          </a:xfrm>
          <a:prstGeom prst="roundRect">
            <a:avLst>
              <a:gd name="adj" fmla="val 9333"/>
            </a:avLst>
          </a:prstGeom>
          <a:solidFill>
            <a:srgbClr val="FFFFFF"/>
          </a:solidFill>
          <a:ln w="12700">
            <a:solidFill>
              <a:srgbClr val="D6DEEA"/>
            </a:solidFill>
            <a:prstDash val="solid"/>
          </a:ln>
        </p:spPr>
      </p:sp>
      <p:sp>
        <p:nvSpPr>
          <p:cNvPr id="11" name="Text 9"/>
          <p:cNvSpPr/>
          <p:nvPr/>
        </p:nvSpPr>
        <p:spPr>
          <a:xfrm>
            <a:off x="4297680" y="1920240"/>
            <a:ext cx="1645920" cy="68580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logits</a:t>
            </a:r>
            <a:endParaRPr lang="en-US" sz="1050" dirty="0"/>
          </a:p>
          <a:p>
            <a:pPr algn="ctr" indent="0" marL="0">
              <a:buNone/>
            </a:pPr>
            <a:r>
              <a:rPr lang="en-US" sz="1050" dirty="0">
                <a:solidFill>
                  <a:srgbClr val="10203A"/>
                </a:solidFill>
                <a:latin typeface="Calibri" pitchFamily="34" charset="0"/>
                <a:ea typeface="Calibri" pitchFamily="34" charset="-122"/>
                <a:cs typeface="Calibri" pitchFamily="34" charset="-120"/>
              </a:rPr>
              <a:t>128 × 4096</a:t>
            </a:r>
            <a:endParaRPr lang="en-US" sz="1050" dirty="0"/>
          </a:p>
        </p:txBody>
      </p:sp>
      <p:sp>
        <p:nvSpPr>
          <p:cNvPr id="12" name="Shape 10"/>
          <p:cNvSpPr/>
          <p:nvPr/>
        </p:nvSpPr>
        <p:spPr>
          <a:xfrm>
            <a:off x="5943600" y="2267712"/>
            <a:ext cx="201168" cy="0"/>
          </a:xfrm>
          <a:prstGeom prst="line">
            <a:avLst/>
          </a:prstGeom>
          <a:noFill/>
          <a:ln w="15875">
            <a:solidFill>
              <a:srgbClr val="5A6478"/>
            </a:solidFill>
            <a:prstDash val="solid"/>
            <a:tailEnd type="triangle"/>
          </a:ln>
        </p:spPr>
      </p:sp>
      <p:sp>
        <p:nvSpPr>
          <p:cNvPr id="13" name="Shape 11"/>
          <p:cNvSpPr/>
          <p:nvPr/>
        </p:nvSpPr>
        <p:spPr>
          <a:xfrm>
            <a:off x="6172200" y="1920240"/>
            <a:ext cx="1645920" cy="685800"/>
          </a:xfrm>
          <a:prstGeom prst="roundRect">
            <a:avLst>
              <a:gd name="adj" fmla="val 9333"/>
            </a:avLst>
          </a:prstGeom>
          <a:solidFill>
            <a:srgbClr val="FBF0E4"/>
          </a:solidFill>
          <a:ln w="12700">
            <a:solidFill>
              <a:srgbClr val="D6DEEA"/>
            </a:solidFill>
            <a:prstDash val="solid"/>
          </a:ln>
        </p:spPr>
      </p:sp>
      <p:sp>
        <p:nvSpPr>
          <p:cNvPr id="14" name="Text 12"/>
          <p:cNvSpPr/>
          <p:nvPr/>
        </p:nvSpPr>
        <p:spPr>
          <a:xfrm>
            <a:off x="6172200" y="1920240"/>
            <a:ext cx="1645920" cy="685800"/>
          </a:xfrm>
          <a:prstGeom prst="rect">
            <a:avLst/>
          </a:prstGeom>
          <a:noFill/>
          <a:ln/>
        </p:spPr>
        <p:txBody>
          <a:bodyPr wrap="square" lIns="0" tIns="0" rIns="0" bIns="0" rtlCol="0" anchor="ctr"/>
          <a:lstStyle/>
          <a:p>
            <a:pPr algn="ctr" indent="0" marL="0">
              <a:buNone/>
            </a:pPr>
            <a:r>
              <a:rPr lang="en-US" sz="1050" b="1" dirty="0">
                <a:solidFill>
                  <a:srgbClr val="B4610F"/>
                </a:solidFill>
                <a:latin typeface="Calibri" pitchFamily="34" charset="0"/>
                <a:ea typeface="Calibri" pitchFamily="34" charset="-122"/>
                <a:cs typeface="Calibri" pitchFamily="34" charset="-120"/>
              </a:rPr>
              <a:t>cross-entropy</a:t>
            </a:r>
            <a:endParaRPr lang="en-US" sz="1050" dirty="0"/>
          </a:p>
          <a:p>
            <a:pPr algn="ctr" indent="0" marL="0">
              <a:buNone/>
            </a:pPr>
            <a:r>
              <a:rPr lang="en-US" sz="1050" b="1" dirty="0">
                <a:solidFill>
                  <a:srgbClr val="B4610F"/>
                </a:solidFill>
                <a:latin typeface="Calibri" pitchFamily="34" charset="0"/>
                <a:ea typeface="Calibri" pitchFamily="34" charset="-122"/>
                <a:cs typeface="Calibri" pitchFamily="34" charset="-120"/>
              </a:rPr>
              <a:t>loss</a:t>
            </a:r>
            <a:endParaRPr lang="en-US" sz="1050" dirty="0"/>
          </a:p>
        </p:txBody>
      </p:sp>
      <p:sp>
        <p:nvSpPr>
          <p:cNvPr id="15" name="Shape 13"/>
          <p:cNvSpPr/>
          <p:nvPr/>
        </p:nvSpPr>
        <p:spPr>
          <a:xfrm>
            <a:off x="7818120" y="2267712"/>
            <a:ext cx="201168" cy="0"/>
          </a:xfrm>
          <a:prstGeom prst="line">
            <a:avLst/>
          </a:prstGeom>
          <a:noFill/>
          <a:ln w="15875">
            <a:solidFill>
              <a:srgbClr val="5A6478"/>
            </a:solidFill>
            <a:prstDash val="solid"/>
            <a:tailEnd type="triangle"/>
          </a:ln>
        </p:spPr>
      </p:sp>
      <p:sp>
        <p:nvSpPr>
          <p:cNvPr id="16" name="Shape 14"/>
          <p:cNvSpPr/>
          <p:nvPr/>
        </p:nvSpPr>
        <p:spPr>
          <a:xfrm>
            <a:off x="8046720" y="1920240"/>
            <a:ext cx="1645920" cy="685800"/>
          </a:xfrm>
          <a:prstGeom prst="roundRect">
            <a:avLst>
              <a:gd name="adj" fmla="val 9333"/>
            </a:avLst>
          </a:prstGeom>
          <a:solidFill>
            <a:srgbClr val="FFFFFF"/>
          </a:solidFill>
          <a:ln w="12700">
            <a:solidFill>
              <a:srgbClr val="D6DEEA"/>
            </a:solidFill>
            <a:prstDash val="solid"/>
          </a:ln>
        </p:spPr>
      </p:sp>
      <p:sp>
        <p:nvSpPr>
          <p:cNvPr id="17" name="Text 15"/>
          <p:cNvSpPr/>
          <p:nvPr/>
        </p:nvSpPr>
        <p:spPr>
          <a:xfrm>
            <a:off x="8046720" y="1920240"/>
            <a:ext cx="1645920" cy="68580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backprop</a:t>
            </a:r>
            <a:endParaRPr lang="en-US" sz="1050" dirty="0"/>
          </a:p>
          <a:p>
            <a:pPr algn="ctr" indent="0" marL="0">
              <a:buNone/>
            </a:pPr>
            <a:r>
              <a:rPr lang="en-US" sz="1050" dirty="0">
                <a:solidFill>
                  <a:srgbClr val="10203A"/>
                </a:solidFill>
                <a:latin typeface="Calibri" pitchFamily="34" charset="0"/>
                <a:ea typeface="Calibri" pitchFamily="34" charset="-122"/>
                <a:cs typeface="Calibri" pitchFamily="34" charset="-120"/>
              </a:rPr>
              <a:t>gradients</a:t>
            </a:r>
            <a:endParaRPr lang="en-US" sz="1050" dirty="0"/>
          </a:p>
        </p:txBody>
      </p:sp>
      <p:sp>
        <p:nvSpPr>
          <p:cNvPr id="18" name="Shape 16"/>
          <p:cNvSpPr/>
          <p:nvPr/>
        </p:nvSpPr>
        <p:spPr>
          <a:xfrm>
            <a:off x="9692640" y="2267712"/>
            <a:ext cx="201168" cy="0"/>
          </a:xfrm>
          <a:prstGeom prst="line">
            <a:avLst/>
          </a:prstGeom>
          <a:noFill/>
          <a:ln w="15875">
            <a:solidFill>
              <a:srgbClr val="5A6478"/>
            </a:solidFill>
            <a:prstDash val="solid"/>
            <a:tailEnd type="triangle"/>
          </a:ln>
        </p:spPr>
      </p:sp>
      <p:sp>
        <p:nvSpPr>
          <p:cNvPr id="19" name="Shape 17"/>
          <p:cNvSpPr/>
          <p:nvPr/>
        </p:nvSpPr>
        <p:spPr>
          <a:xfrm>
            <a:off x="9921240" y="1920240"/>
            <a:ext cx="1645920" cy="685800"/>
          </a:xfrm>
          <a:prstGeom prst="roundRect">
            <a:avLst>
              <a:gd name="adj" fmla="val 9333"/>
            </a:avLst>
          </a:prstGeom>
          <a:solidFill>
            <a:srgbClr val="FFFFFF"/>
          </a:solidFill>
          <a:ln w="12700">
            <a:solidFill>
              <a:srgbClr val="D6DEEA"/>
            </a:solidFill>
            <a:prstDash val="solid"/>
          </a:ln>
        </p:spPr>
      </p:sp>
      <p:sp>
        <p:nvSpPr>
          <p:cNvPr id="20" name="Text 18"/>
          <p:cNvSpPr/>
          <p:nvPr/>
        </p:nvSpPr>
        <p:spPr>
          <a:xfrm>
            <a:off x="9921240" y="1920240"/>
            <a:ext cx="1645920" cy="685800"/>
          </a:xfrm>
          <a:prstGeom prst="rect">
            <a:avLst/>
          </a:prstGeom>
          <a:noFill/>
          <a:ln/>
        </p:spPr>
        <p:txBody>
          <a:bodyPr wrap="square" lIns="0" tIns="0" rIns="0" bIns="0" rtlCol="0" anchor="ctr"/>
          <a:lstStyle/>
          <a:p>
            <a:pPr algn="ctr" indent="0" marL="0">
              <a:buNone/>
            </a:pPr>
            <a:r>
              <a:rPr lang="en-US" sz="1050" dirty="0">
                <a:solidFill>
                  <a:srgbClr val="10203A"/>
                </a:solidFill>
                <a:latin typeface="Calibri" pitchFamily="34" charset="0"/>
                <a:ea typeface="Calibri" pitchFamily="34" charset="-122"/>
                <a:cs typeface="Calibri" pitchFamily="34" charset="-120"/>
              </a:rPr>
              <a:t>AdamW</a:t>
            </a:r>
            <a:endParaRPr lang="en-US" sz="1050" dirty="0"/>
          </a:p>
          <a:p>
            <a:pPr algn="ctr" indent="0" marL="0">
              <a:buNone/>
            </a:pPr>
            <a:r>
              <a:rPr lang="en-US" sz="1050" dirty="0">
                <a:solidFill>
                  <a:srgbClr val="10203A"/>
                </a:solidFill>
                <a:latin typeface="Calibri" pitchFamily="34" charset="0"/>
                <a:ea typeface="Calibri" pitchFamily="34" charset="-122"/>
                <a:cs typeface="Calibri" pitchFamily="34" charset="-120"/>
              </a:rPr>
              <a:t>update</a:t>
            </a:r>
            <a:endParaRPr lang="en-US" sz="1050" dirty="0"/>
          </a:p>
        </p:txBody>
      </p:sp>
      <p:sp>
        <p:nvSpPr>
          <p:cNvPr id="21" name="Shape 19"/>
          <p:cNvSpPr/>
          <p:nvPr/>
        </p:nvSpPr>
        <p:spPr>
          <a:xfrm>
            <a:off x="10881360" y="2606040"/>
            <a:ext cx="0" cy="457200"/>
          </a:xfrm>
          <a:prstGeom prst="line">
            <a:avLst/>
          </a:prstGeom>
          <a:noFill/>
          <a:ln w="16510">
            <a:solidFill>
              <a:srgbClr val="8E2434"/>
            </a:solidFill>
            <a:prstDash val="dash"/>
          </a:ln>
        </p:spPr>
      </p:sp>
      <p:sp>
        <p:nvSpPr>
          <p:cNvPr id="22" name="Shape 20"/>
          <p:cNvSpPr/>
          <p:nvPr/>
        </p:nvSpPr>
        <p:spPr>
          <a:xfrm>
            <a:off x="1371600" y="3063240"/>
            <a:ext cx="9509760" cy="0"/>
          </a:xfrm>
          <a:prstGeom prst="line">
            <a:avLst/>
          </a:prstGeom>
          <a:noFill/>
          <a:ln w="16510">
            <a:solidFill>
              <a:srgbClr val="8E2434"/>
            </a:solidFill>
            <a:prstDash val="dash"/>
          </a:ln>
        </p:spPr>
      </p:sp>
      <p:sp>
        <p:nvSpPr>
          <p:cNvPr id="23" name="Shape 21"/>
          <p:cNvSpPr/>
          <p:nvPr/>
        </p:nvSpPr>
        <p:spPr>
          <a:xfrm>
            <a:off x="1371600" y="2651760"/>
            <a:ext cx="0" cy="411480"/>
          </a:xfrm>
          <a:prstGeom prst="line">
            <a:avLst/>
          </a:prstGeom>
          <a:noFill/>
          <a:ln w="16510">
            <a:solidFill>
              <a:srgbClr val="8E2434"/>
            </a:solidFill>
            <a:prstDash val="solid"/>
            <a:tailEnd type="triangle"/>
          </a:ln>
        </p:spPr>
      </p:sp>
      <p:sp>
        <p:nvSpPr>
          <p:cNvPr id="24" name="Text 22"/>
          <p:cNvSpPr/>
          <p:nvPr/>
        </p:nvSpPr>
        <p:spPr>
          <a:xfrm>
            <a:off x="548640" y="3127248"/>
            <a:ext cx="11064240" cy="274320"/>
          </a:xfrm>
          <a:prstGeom prst="rect">
            <a:avLst/>
          </a:prstGeom>
          <a:noFill/>
          <a:ln/>
        </p:spPr>
        <p:txBody>
          <a:bodyPr wrap="square" lIns="0" tIns="0" rIns="0" bIns="0" rtlCol="0" anchor="ctr"/>
          <a:lstStyle/>
          <a:p>
            <a:pPr algn="ctr" indent="0" marL="0">
              <a:buNone/>
            </a:pPr>
            <a:r>
              <a:rPr lang="en-US" sz="1100" dirty="0">
                <a:solidFill>
                  <a:srgbClr val="8E2434"/>
                </a:solidFill>
                <a:latin typeface="Calibri" pitchFamily="34" charset="0"/>
                <a:ea typeface="Calibri" pitchFamily="34" charset="-122"/>
                <a:cs typeface="Calibri" pitchFamily="34" charset="-120"/>
              </a:rPr>
              <a:t>the weight update — the only thing that changes the model</a:t>
            </a:r>
            <a:endParaRPr lang="en-US" sz="1100" dirty="0"/>
          </a:p>
        </p:txBody>
      </p:sp>
      <p:sp>
        <p:nvSpPr>
          <p:cNvPr id="25" name="Shape 23"/>
          <p:cNvSpPr/>
          <p:nvPr/>
        </p:nvSpPr>
        <p:spPr>
          <a:xfrm>
            <a:off x="548640" y="3611880"/>
            <a:ext cx="5577840" cy="329184"/>
          </a:xfrm>
          <a:prstGeom prst="rect">
            <a:avLst/>
          </a:prstGeom>
          <a:solidFill>
            <a:srgbClr val="F1F4F9"/>
          </a:solidFill>
          <a:ln w="9525">
            <a:solidFill>
              <a:srgbClr val="D6DEEA"/>
            </a:solidFill>
            <a:prstDash val="solid"/>
          </a:ln>
        </p:spPr>
      </p:sp>
      <p:sp>
        <p:nvSpPr>
          <p:cNvPr id="26" name="Text 24"/>
          <p:cNvSpPr/>
          <p:nvPr/>
        </p:nvSpPr>
        <p:spPr>
          <a:xfrm>
            <a:off x="621792" y="3611880"/>
            <a:ext cx="1956816" cy="329184"/>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Concept</a:t>
            </a:r>
            <a:endParaRPr lang="en-US" sz="950" dirty="0"/>
          </a:p>
        </p:txBody>
      </p:sp>
      <p:sp>
        <p:nvSpPr>
          <p:cNvPr id="27" name="Text 25"/>
          <p:cNvSpPr/>
          <p:nvPr/>
        </p:nvSpPr>
        <p:spPr>
          <a:xfrm>
            <a:off x="2724912" y="3611880"/>
            <a:ext cx="3328416" cy="329184"/>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In one sentence</a:t>
            </a:r>
            <a:endParaRPr lang="en-US" sz="950" dirty="0"/>
          </a:p>
        </p:txBody>
      </p:sp>
      <p:sp>
        <p:nvSpPr>
          <p:cNvPr id="28" name="Shape 26"/>
          <p:cNvSpPr/>
          <p:nvPr/>
        </p:nvSpPr>
        <p:spPr>
          <a:xfrm>
            <a:off x="548640" y="3941064"/>
            <a:ext cx="5577840" cy="329184"/>
          </a:xfrm>
          <a:prstGeom prst="rect">
            <a:avLst/>
          </a:prstGeom>
          <a:solidFill>
            <a:srgbClr val="FFFFFF"/>
          </a:solidFill>
          <a:ln w="9525">
            <a:solidFill>
              <a:srgbClr val="D6DEEA"/>
            </a:solidFill>
            <a:prstDash val="solid"/>
          </a:ln>
        </p:spPr>
      </p:sp>
      <p:sp>
        <p:nvSpPr>
          <p:cNvPr id="29" name="Text 27"/>
          <p:cNvSpPr/>
          <p:nvPr/>
        </p:nvSpPr>
        <p:spPr>
          <a:xfrm>
            <a:off x="621792" y="3941064"/>
            <a:ext cx="19568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Forward pass</a:t>
            </a:r>
            <a:endParaRPr lang="en-US" sz="1050" dirty="0"/>
          </a:p>
        </p:txBody>
      </p:sp>
      <p:sp>
        <p:nvSpPr>
          <p:cNvPr id="30" name="Text 28"/>
          <p:cNvSpPr/>
          <p:nvPr/>
        </p:nvSpPr>
        <p:spPr>
          <a:xfrm>
            <a:off x="2724912" y="3941064"/>
            <a:ext cx="33284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Push tokens through the network, get logits out</a:t>
            </a:r>
            <a:endParaRPr lang="en-US" sz="1050" dirty="0"/>
          </a:p>
        </p:txBody>
      </p:sp>
      <p:sp>
        <p:nvSpPr>
          <p:cNvPr id="31" name="Shape 29"/>
          <p:cNvSpPr/>
          <p:nvPr/>
        </p:nvSpPr>
        <p:spPr>
          <a:xfrm>
            <a:off x="548640" y="4270248"/>
            <a:ext cx="5577840" cy="329184"/>
          </a:xfrm>
          <a:prstGeom prst="rect">
            <a:avLst/>
          </a:prstGeom>
          <a:solidFill>
            <a:srgbClr val="FFFFFF"/>
          </a:solidFill>
          <a:ln w="9525">
            <a:solidFill>
              <a:srgbClr val="D6DEEA"/>
            </a:solidFill>
            <a:prstDash val="solid"/>
          </a:ln>
        </p:spPr>
      </p:sp>
      <p:sp>
        <p:nvSpPr>
          <p:cNvPr id="32" name="Text 30"/>
          <p:cNvSpPr/>
          <p:nvPr/>
        </p:nvSpPr>
        <p:spPr>
          <a:xfrm>
            <a:off x="621792" y="4270248"/>
            <a:ext cx="19568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Cross-entropy</a:t>
            </a:r>
            <a:endParaRPr lang="en-US" sz="1050" dirty="0"/>
          </a:p>
        </p:txBody>
      </p:sp>
      <p:sp>
        <p:nvSpPr>
          <p:cNvPr id="33" name="Text 31"/>
          <p:cNvSpPr/>
          <p:nvPr/>
        </p:nvSpPr>
        <p:spPr>
          <a:xfrm>
            <a:off x="2724912" y="4270248"/>
            <a:ext cx="33284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−ln( probability of the correct token )</a:t>
            </a:r>
            <a:endParaRPr lang="en-US" sz="1050" dirty="0"/>
          </a:p>
        </p:txBody>
      </p:sp>
      <p:sp>
        <p:nvSpPr>
          <p:cNvPr id="34" name="Shape 32"/>
          <p:cNvSpPr/>
          <p:nvPr/>
        </p:nvSpPr>
        <p:spPr>
          <a:xfrm>
            <a:off x="548640" y="4599432"/>
            <a:ext cx="5577840" cy="329184"/>
          </a:xfrm>
          <a:prstGeom prst="rect">
            <a:avLst/>
          </a:prstGeom>
          <a:solidFill>
            <a:srgbClr val="FFFFFF"/>
          </a:solidFill>
          <a:ln w="9525">
            <a:solidFill>
              <a:srgbClr val="D6DEEA"/>
            </a:solidFill>
            <a:prstDash val="solid"/>
          </a:ln>
        </p:spPr>
      </p:sp>
      <p:sp>
        <p:nvSpPr>
          <p:cNvPr id="35" name="Text 33"/>
          <p:cNvSpPr/>
          <p:nvPr/>
        </p:nvSpPr>
        <p:spPr>
          <a:xfrm>
            <a:off x="621792" y="4599432"/>
            <a:ext cx="19568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Backpropagation</a:t>
            </a:r>
            <a:endParaRPr lang="en-US" sz="1050" dirty="0"/>
          </a:p>
        </p:txBody>
      </p:sp>
      <p:sp>
        <p:nvSpPr>
          <p:cNvPr id="36" name="Text 34"/>
          <p:cNvSpPr/>
          <p:nvPr/>
        </p:nvSpPr>
        <p:spPr>
          <a:xfrm>
            <a:off x="2724912" y="4599432"/>
            <a:ext cx="33284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Chain rule backwards — a gradient per weight</a:t>
            </a:r>
            <a:endParaRPr lang="en-US" sz="1050" dirty="0"/>
          </a:p>
        </p:txBody>
      </p:sp>
      <p:sp>
        <p:nvSpPr>
          <p:cNvPr id="37" name="Shape 35"/>
          <p:cNvSpPr/>
          <p:nvPr/>
        </p:nvSpPr>
        <p:spPr>
          <a:xfrm>
            <a:off x="548640" y="4928616"/>
            <a:ext cx="5577840" cy="329184"/>
          </a:xfrm>
          <a:prstGeom prst="rect">
            <a:avLst/>
          </a:prstGeom>
          <a:solidFill>
            <a:srgbClr val="FFFFFF"/>
          </a:solidFill>
          <a:ln w="9525">
            <a:solidFill>
              <a:srgbClr val="D6DEEA"/>
            </a:solidFill>
            <a:prstDash val="solid"/>
          </a:ln>
        </p:spPr>
      </p:sp>
      <p:sp>
        <p:nvSpPr>
          <p:cNvPr id="38" name="Text 36"/>
          <p:cNvSpPr/>
          <p:nvPr/>
        </p:nvSpPr>
        <p:spPr>
          <a:xfrm>
            <a:off x="621792" y="4928616"/>
            <a:ext cx="19568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Gradient</a:t>
            </a:r>
            <a:endParaRPr lang="en-US" sz="1050" dirty="0"/>
          </a:p>
        </p:txBody>
      </p:sp>
      <p:sp>
        <p:nvSpPr>
          <p:cNvPr id="39" name="Text 37"/>
          <p:cNvSpPr/>
          <p:nvPr/>
        </p:nvSpPr>
        <p:spPr>
          <a:xfrm>
            <a:off x="2724912" y="4928616"/>
            <a:ext cx="33284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How the loss changes if this weight changes</a:t>
            </a:r>
            <a:endParaRPr lang="en-US" sz="1050" dirty="0"/>
          </a:p>
        </p:txBody>
      </p:sp>
      <p:sp>
        <p:nvSpPr>
          <p:cNvPr id="40" name="Shape 38"/>
          <p:cNvSpPr/>
          <p:nvPr/>
        </p:nvSpPr>
        <p:spPr>
          <a:xfrm>
            <a:off x="548640" y="5257800"/>
            <a:ext cx="5577840" cy="329184"/>
          </a:xfrm>
          <a:prstGeom prst="rect">
            <a:avLst/>
          </a:prstGeom>
          <a:solidFill>
            <a:srgbClr val="FFFFFF"/>
          </a:solidFill>
          <a:ln w="9525">
            <a:solidFill>
              <a:srgbClr val="D6DEEA"/>
            </a:solidFill>
            <a:prstDash val="solid"/>
          </a:ln>
        </p:spPr>
      </p:sp>
      <p:sp>
        <p:nvSpPr>
          <p:cNvPr id="41" name="Text 39"/>
          <p:cNvSpPr/>
          <p:nvPr/>
        </p:nvSpPr>
        <p:spPr>
          <a:xfrm>
            <a:off x="621792" y="5257800"/>
            <a:ext cx="19568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AdamW</a:t>
            </a:r>
            <a:endParaRPr lang="en-US" sz="1050" dirty="0"/>
          </a:p>
        </p:txBody>
      </p:sp>
      <p:sp>
        <p:nvSpPr>
          <p:cNvPr id="42" name="Text 40"/>
          <p:cNvSpPr/>
          <p:nvPr/>
        </p:nvSpPr>
        <p:spPr>
          <a:xfrm>
            <a:off x="2724912" y="5257800"/>
            <a:ext cx="33284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Momentum + adaptive steps + weight decay</a:t>
            </a:r>
            <a:endParaRPr lang="en-US" sz="1050" dirty="0"/>
          </a:p>
        </p:txBody>
      </p:sp>
      <p:sp>
        <p:nvSpPr>
          <p:cNvPr id="43" name="Shape 41"/>
          <p:cNvSpPr/>
          <p:nvPr/>
        </p:nvSpPr>
        <p:spPr>
          <a:xfrm>
            <a:off x="548640" y="5586984"/>
            <a:ext cx="5577840" cy="329184"/>
          </a:xfrm>
          <a:prstGeom prst="rect">
            <a:avLst/>
          </a:prstGeom>
          <a:solidFill>
            <a:srgbClr val="FFFFFF"/>
          </a:solidFill>
          <a:ln w="9525">
            <a:solidFill>
              <a:srgbClr val="D6DEEA"/>
            </a:solidFill>
            <a:prstDash val="solid"/>
          </a:ln>
        </p:spPr>
      </p:sp>
      <p:sp>
        <p:nvSpPr>
          <p:cNvPr id="44" name="Text 42"/>
          <p:cNvSpPr/>
          <p:nvPr/>
        </p:nvSpPr>
        <p:spPr>
          <a:xfrm>
            <a:off x="621792" y="5586984"/>
            <a:ext cx="19568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Gradient clipping</a:t>
            </a:r>
            <a:endParaRPr lang="en-US" sz="1050" dirty="0"/>
          </a:p>
        </p:txBody>
      </p:sp>
      <p:sp>
        <p:nvSpPr>
          <p:cNvPr id="45" name="Text 43"/>
          <p:cNvSpPr/>
          <p:nvPr/>
        </p:nvSpPr>
        <p:spPr>
          <a:xfrm>
            <a:off x="2724912" y="5586984"/>
            <a:ext cx="332841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Cap the total gradient norm at 1.0</a:t>
            </a:r>
            <a:endParaRPr lang="en-US" sz="1050" dirty="0"/>
          </a:p>
        </p:txBody>
      </p:sp>
      <p:sp>
        <p:nvSpPr>
          <p:cNvPr id="46" name="Shape 44"/>
          <p:cNvSpPr/>
          <p:nvPr/>
        </p:nvSpPr>
        <p:spPr>
          <a:xfrm>
            <a:off x="6400800" y="3611880"/>
            <a:ext cx="5212080" cy="329184"/>
          </a:xfrm>
          <a:prstGeom prst="rect">
            <a:avLst/>
          </a:prstGeom>
          <a:solidFill>
            <a:srgbClr val="F1F4F9"/>
          </a:solidFill>
          <a:ln w="9525">
            <a:solidFill>
              <a:srgbClr val="D6DEEA"/>
            </a:solidFill>
            <a:prstDash val="solid"/>
          </a:ln>
        </p:spPr>
      </p:sp>
      <p:sp>
        <p:nvSpPr>
          <p:cNvPr id="47" name="Text 45"/>
          <p:cNvSpPr/>
          <p:nvPr/>
        </p:nvSpPr>
        <p:spPr>
          <a:xfrm>
            <a:off x="6473952" y="3611880"/>
            <a:ext cx="3419856" cy="329184"/>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Loss reference points</a:t>
            </a:r>
            <a:endParaRPr lang="en-US" sz="950" dirty="0"/>
          </a:p>
        </p:txBody>
      </p:sp>
      <p:sp>
        <p:nvSpPr>
          <p:cNvPr id="48" name="Text 46"/>
          <p:cNvSpPr/>
          <p:nvPr/>
        </p:nvSpPr>
        <p:spPr>
          <a:xfrm>
            <a:off x="10040112" y="3611880"/>
            <a:ext cx="1499616" cy="329184"/>
          </a:xfrm>
          <a:prstGeom prst="rect">
            <a:avLst/>
          </a:prstGeom>
          <a:noFill/>
          <a:ln/>
        </p:spPr>
        <p:txBody>
          <a:bodyPr wrap="square" lIns="0" tIns="0" rIns="0" bIns="0" rtlCol="0" anchor="ctr"/>
          <a:lstStyle/>
          <a:p>
            <a:pPr algn="r" indent="0" marL="0">
              <a:buNone/>
            </a:pPr>
            <a:r>
              <a:rPr lang="en-US" sz="950" b="1" dirty="0">
                <a:solidFill>
                  <a:srgbClr val="5A6478"/>
                </a:solidFill>
                <a:latin typeface="Calibri" pitchFamily="34" charset="0"/>
                <a:ea typeface="Calibri" pitchFamily="34" charset="-122"/>
                <a:cs typeface="Calibri" pitchFamily="34" charset="-120"/>
              </a:rPr>
              <a:t>Value</a:t>
            </a:r>
            <a:endParaRPr lang="en-US" sz="950" dirty="0"/>
          </a:p>
        </p:txBody>
      </p:sp>
      <p:sp>
        <p:nvSpPr>
          <p:cNvPr id="49" name="Shape 47"/>
          <p:cNvSpPr/>
          <p:nvPr/>
        </p:nvSpPr>
        <p:spPr>
          <a:xfrm>
            <a:off x="6400800" y="3941064"/>
            <a:ext cx="5212080" cy="329184"/>
          </a:xfrm>
          <a:prstGeom prst="rect">
            <a:avLst/>
          </a:prstGeom>
          <a:solidFill>
            <a:srgbClr val="FFFFFF"/>
          </a:solidFill>
          <a:ln w="9525">
            <a:solidFill>
              <a:srgbClr val="D6DEEA"/>
            </a:solidFill>
            <a:prstDash val="solid"/>
          </a:ln>
        </p:spPr>
      </p:sp>
      <p:sp>
        <p:nvSpPr>
          <p:cNvPr id="50" name="Text 48"/>
          <p:cNvSpPr/>
          <p:nvPr/>
        </p:nvSpPr>
        <p:spPr>
          <a:xfrm>
            <a:off x="6473952" y="3941064"/>
            <a:ext cx="341985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gives correct token p = 1.00</a:t>
            </a:r>
            <a:endParaRPr lang="en-US" sz="1050" dirty="0"/>
          </a:p>
        </p:txBody>
      </p:sp>
      <p:sp>
        <p:nvSpPr>
          <p:cNvPr id="51" name="Text 49"/>
          <p:cNvSpPr/>
          <p:nvPr/>
        </p:nvSpPr>
        <p:spPr>
          <a:xfrm>
            <a:off x="10040112" y="3941064"/>
            <a:ext cx="1499616" cy="329184"/>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0.00</a:t>
            </a:r>
            <a:endParaRPr lang="en-US" sz="1050" dirty="0"/>
          </a:p>
        </p:txBody>
      </p:sp>
      <p:sp>
        <p:nvSpPr>
          <p:cNvPr id="52" name="Shape 50"/>
          <p:cNvSpPr/>
          <p:nvPr/>
        </p:nvSpPr>
        <p:spPr>
          <a:xfrm>
            <a:off x="6400800" y="4270248"/>
            <a:ext cx="5212080" cy="329184"/>
          </a:xfrm>
          <a:prstGeom prst="rect">
            <a:avLst/>
          </a:prstGeom>
          <a:solidFill>
            <a:srgbClr val="FFFFFF"/>
          </a:solidFill>
          <a:ln w="9525">
            <a:solidFill>
              <a:srgbClr val="D6DEEA"/>
            </a:solidFill>
            <a:prstDash val="solid"/>
          </a:ln>
        </p:spPr>
      </p:sp>
      <p:sp>
        <p:nvSpPr>
          <p:cNvPr id="53" name="Text 51"/>
          <p:cNvSpPr/>
          <p:nvPr/>
        </p:nvSpPr>
        <p:spPr>
          <a:xfrm>
            <a:off x="6473952" y="4270248"/>
            <a:ext cx="341985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gives correct token p = 0.50</a:t>
            </a:r>
            <a:endParaRPr lang="en-US" sz="1050" dirty="0"/>
          </a:p>
        </p:txBody>
      </p:sp>
      <p:sp>
        <p:nvSpPr>
          <p:cNvPr id="54" name="Text 52"/>
          <p:cNvSpPr/>
          <p:nvPr/>
        </p:nvSpPr>
        <p:spPr>
          <a:xfrm>
            <a:off x="10040112" y="4270248"/>
            <a:ext cx="1499616" cy="329184"/>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0.69</a:t>
            </a:r>
            <a:endParaRPr lang="en-US" sz="1050" dirty="0"/>
          </a:p>
        </p:txBody>
      </p:sp>
      <p:sp>
        <p:nvSpPr>
          <p:cNvPr id="55" name="Shape 53"/>
          <p:cNvSpPr/>
          <p:nvPr/>
        </p:nvSpPr>
        <p:spPr>
          <a:xfrm>
            <a:off x="6400800" y="4599432"/>
            <a:ext cx="5212080" cy="329184"/>
          </a:xfrm>
          <a:prstGeom prst="rect">
            <a:avLst/>
          </a:prstGeom>
          <a:solidFill>
            <a:srgbClr val="FFFFFF"/>
          </a:solidFill>
          <a:ln w="9525">
            <a:solidFill>
              <a:srgbClr val="D6DEEA"/>
            </a:solidFill>
            <a:prstDash val="solid"/>
          </a:ln>
        </p:spPr>
      </p:sp>
      <p:sp>
        <p:nvSpPr>
          <p:cNvPr id="56" name="Text 54"/>
          <p:cNvSpPr/>
          <p:nvPr/>
        </p:nvSpPr>
        <p:spPr>
          <a:xfrm>
            <a:off x="6473952" y="4599432"/>
            <a:ext cx="341985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gives correct token p = 0.10</a:t>
            </a:r>
            <a:endParaRPr lang="en-US" sz="1050" dirty="0"/>
          </a:p>
        </p:txBody>
      </p:sp>
      <p:sp>
        <p:nvSpPr>
          <p:cNvPr id="57" name="Text 55"/>
          <p:cNvSpPr/>
          <p:nvPr/>
        </p:nvSpPr>
        <p:spPr>
          <a:xfrm>
            <a:off x="10040112" y="4599432"/>
            <a:ext cx="1499616" cy="329184"/>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2.30</a:t>
            </a:r>
            <a:endParaRPr lang="en-US" sz="1050" dirty="0"/>
          </a:p>
        </p:txBody>
      </p:sp>
      <p:sp>
        <p:nvSpPr>
          <p:cNvPr id="58" name="Shape 56"/>
          <p:cNvSpPr/>
          <p:nvPr/>
        </p:nvSpPr>
        <p:spPr>
          <a:xfrm>
            <a:off x="6400800" y="4928616"/>
            <a:ext cx="5212080" cy="329184"/>
          </a:xfrm>
          <a:prstGeom prst="rect">
            <a:avLst/>
          </a:prstGeom>
          <a:solidFill>
            <a:srgbClr val="E4F1EA"/>
          </a:solidFill>
          <a:ln w="9525">
            <a:solidFill>
              <a:srgbClr val="D6DEEA"/>
            </a:solidFill>
            <a:prstDash val="solid"/>
          </a:ln>
        </p:spPr>
      </p:sp>
      <p:sp>
        <p:nvSpPr>
          <p:cNvPr id="59" name="Text 57"/>
          <p:cNvSpPr/>
          <p:nvPr/>
        </p:nvSpPr>
        <p:spPr>
          <a:xfrm>
            <a:off x="6473952" y="4928616"/>
            <a:ext cx="341985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pure guessing, p = 1/4096</a:t>
            </a:r>
            <a:endParaRPr lang="en-US" sz="1050" dirty="0"/>
          </a:p>
        </p:txBody>
      </p:sp>
      <p:sp>
        <p:nvSpPr>
          <p:cNvPr id="60" name="Text 58"/>
          <p:cNvSpPr/>
          <p:nvPr/>
        </p:nvSpPr>
        <p:spPr>
          <a:xfrm>
            <a:off x="10040112" y="4928616"/>
            <a:ext cx="1499616" cy="329184"/>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8.32</a:t>
            </a:r>
            <a:endParaRPr lang="en-US" sz="1050" dirty="0"/>
          </a:p>
        </p:txBody>
      </p:sp>
      <p:sp>
        <p:nvSpPr>
          <p:cNvPr id="61" name="Shape 59"/>
          <p:cNvSpPr/>
          <p:nvPr/>
        </p:nvSpPr>
        <p:spPr>
          <a:xfrm>
            <a:off x="6400800" y="5257800"/>
            <a:ext cx="5212080" cy="329184"/>
          </a:xfrm>
          <a:prstGeom prst="rect">
            <a:avLst/>
          </a:prstGeom>
          <a:solidFill>
            <a:srgbClr val="E4F1EA"/>
          </a:solidFill>
          <a:ln w="9525">
            <a:solidFill>
              <a:srgbClr val="D6DEEA"/>
            </a:solidFill>
            <a:prstDash val="solid"/>
          </a:ln>
        </p:spPr>
      </p:sp>
      <p:sp>
        <p:nvSpPr>
          <p:cNvPr id="62" name="Text 60"/>
          <p:cNvSpPr/>
          <p:nvPr/>
        </p:nvSpPr>
        <p:spPr>
          <a:xfrm>
            <a:off x="6473952" y="5257800"/>
            <a:ext cx="3419856" cy="329184"/>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our final validation loss</a:t>
            </a:r>
            <a:endParaRPr lang="en-US" sz="1050" dirty="0"/>
          </a:p>
        </p:txBody>
      </p:sp>
      <p:sp>
        <p:nvSpPr>
          <p:cNvPr id="63" name="Text 61"/>
          <p:cNvSpPr/>
          <p:nvPr/>
        </p:nvSpPr>
        <p:spPr>
          <a:xfrm>
            <a:off x="10040112" y="5257800"/>
            <a:ext cx="1499616" cy="329184"/>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2.1407</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03A"/>
        </a:solidFill>
      </p:bgPr>
    </p:bg>
    <p:spTree>
      <p:nvGrpSpPr>
        <p:cNvPr id="1" name=""/>
        <p:cNvGrpSpPr/>
        <p:nvPr/>
      </p:nvGrpSpPr>
      <p:grpSpPr>
        <a:xfrm>
          <a:off x="0" y="0"/>
          <a:ext cx="0" cy="0"/>
          <a:chOff x="0" y="0"/>
          <a:chExt cx="0" cy="0"/>
        </a:xfrm>
      </p:grpSpPr>
      <p:sp>
        <p:nvSpPr>
          <p:cNvPr id="2" name="Text 0"/>
          <p:cNvSpPr/>
          <p:nvPr/>
        </p:nvSpPr>
        <p:spPr>
          <a:xfrm>
            <a:off x="548640" y="411480"/>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From-scratch training — and the proof</a:t>
            </a:r>
            <a:endParaRPr lang="en-US" sz="3000" dirty="0"/>
          </a:p>
        </p:txBody>
      </p:sp>
      <p:sp>
        <p:nvSpPr>
          <p:cNvPr id="3" name="Text 1"/>
          <p:cNvSpPr/>
          <p:nvPr/>
        </p:nvSpPr>
        <p:spPr>
          <a:xfrm>
            <a:off x="548640" y="1005840"/>
            <a:ext cx="7589520" cy="548640"/>
          </a:xfrm>
          <a:prstGeom prst="rect">
            <a:avLst/>
          </a:prstGeom>
          <a:noFill/>
          <a:ln/>
        </p:spPr>
        <p:txBody>
          <a:bodyPr wrap="square" lIns="0" tIns="0" rIns="0" bIns="0" rtlCol="0" anchor="t"/>
          <a:lstStyle/>
          <a:p>
            <a:pPr indent="0" marL="0">
              <a:buNone/>
            </a:pPr>
            <a:r>
              <a:rPr lang="en-US" sz="1350" dirty="0">
                <a:solidFill>
                  <a:srgbClr val="C7D4E8"/>
                </a:solidFill>
                <a:latin typeface="Calibri" pitchFamily="34" charset="0"/>
                <a:ea typeface="Calibri" pitchFamily="34" charset="-122"/>
                <a:cs typeface="Calibri" pitchFamily="34" charset="-120"/>
              </a:rPr>
              <a:t>A model that has learned nothing spreads probability evenly across the vocabulary. Cross-entropy under a uniform distribution over V tokens is exactly ln(V).</a:t>
            </a:r>
            <a:endParaRPr lang="en-US" sz="1350" dirty="0"/>
          </a:p>
        </p:txBody>
      </p:sp>
      <p:sp>
        <p:nvSpPr>
          <p:cNvPr id="4" name="Shape 2"/>
          <p:cNvSpPr/>
          <p:nvPr/>
        </p:nvSpPr>
        <p:spPr>
          <a:xfrm>
            <a:off x="548640" y="1783080"/>
            <a:ext cx="5486400" cy="1874520"/>
          </a:xfrm>
          <a:prstGeom prst="roundRect">
            <a:avLst>
              <a:gd name="adj" fmla="val 3415"/>
            </a:avLst>
          </a:prstGeom>
          <a:solidFill>
            <a:srgbClr val="1B2C4A"/>
          </a:solidFill>
          <a:ln w="12700">
            <a:solidFill>
              <a:srgbClr val="6FA3E8"/>
            </a:solidFill>
            <a:prstDash val="solid"/>
          </a:ln>
        </p:spPr>
      </p:sp>
      <p:sp>
        <p:nvSpPr>
          <p:cNvPr id="5" name="Text 3"/>
          <p:cNvSpPr/>
          <p:nvPr/>
        </p:nvSpPr>
        <p:spPr>
          <a:xfrm>
            <a:off x="914400" y="2011680"/>
            <a:ext cx="4754880" cy="411480"/>
          </a:xfrm>
          <a:prstGeom prst="rect">
            <a:avLst/>
          </a:prstGeom>
          <a:noFill/>
          <a:ln/>
        </p:spPr>
        <p:txBody>
          <a:bodyPr wrap="square" lIns="0" tIns="0" rIns="0" bIns="0" rtlCol="0" anchor="ctr"/>
          <a:lstStyle/>
          <a:p>
            <a:pPr indent="0" marL="0">
              <a:buNone/>
            </a:pPr>
            <a:r>
              <a:rPr lang="en-US" sz="1900" dirty="0">
                <a:solidFill>
                  <a:srgbClr val="9DB0CC"/>
                </a:solidFill>
                <a:latin typeface="Courier New" pitchFamily="34" charset="0"/>
                <a:ea typeface="Courier New" pitchFamily="34" charset="-122"/>
                <a:cs typeface="Courier New" pitchFamily="34" charset="-120"/>
              </a:rPr>
              <a:t>ln(4096)  =  8.3178</a:t>
            </a:r>
            <a:endParaRPr lang="en-US" sz="1900" dirty="0"/>
          </a:p>
        </p:txBody>
      </p:sp>
      <p:sp>
        <p:nvSpPr>
          <p:cNvPr id="6" name="Text 4"/>
          <p:cNvSpPr/>
          <p:nvPr/>
        </p:nvSpPr>
        <p:spPr>
          <a:xfrm>
            <a:off x="914400" y="2487168"/>
            <a:ext cx="4754880" cy="502920"/>
          </a:xfrm>
          <a:prstGeom prst="rect">
            <a:avLst/>
          </a:prstGeom>
          <a:noFill/>
          <a:ln/>
        </p:spPr>
        <p:txBody>
          <a:bodyPr wrap="square" lIns="0" tIns="0" rIns="0" bIns="0" rtlCol="0" anchor="ctr"/>
          <a:lstStyle/>
          <a:p>
            <a:pPr indent="0" marL="0">
              <a:buNone/>
            </a:pPr>
            <a:r>
              <a:rPr lang="en-US" sz="2300" b="1" dirty="0">
                <a:solidFill>
                  <a:srgbClr val="5AC495"/>
                </a:solidFill>
                <a:latin typeface="Courier New" pitchFamily="34" charset="0"/>
                <a:ea typeface="Courier New" pitchFamily="34" charset="-122"/>
                <a:cs typeface="Courier New" pitchFamily="34" charset="-120"/>
              </a:rPr>
              <a:t>our step-0 loss  =  8.3327</a:t>
            </a:r>
            <a:endParaRPr lang="en-US" sz="2300" dirty="0"/>
          </a:p>
        </p:txBody>
      </p:sp>
      <p:sp>
        <p:nvSpPr>
          <p:cNvPr id="7" name="Text 5"/>
          <p:cNvSpPr/>
          <p:nvPr/>
        </p:nvSpPr>
        <p:spPr>
          <a:xfrm>
            <a:off x="914400" y="3044952"/>
            <a:ext cx="4754880" cy="320040"/>
          </a:xfrm>
          <a:prstGeom prst="rect">
            <a:avLst/>
          </a:prstGeom>
          <a:noFill/>
          <a:ln/>
        </p:spPr>
        <p:txBody>
          <a:bodyPr wrap="square" lIns="0" tIns="0" rIns="0" bIns="0" rtlCol="0" anchor="ctr"/>
          <a:lstStyle/>
          <a:p>
            <a:pPr indent="0" marL="0">
              <a:buNone/>
            </a:pPr>
            <a:r>
              <a:rPr lang="en-US" sz="1300" dirty="0">
                <a:solidFill>
                  <a:srgbClr val="9DB0CC"/>
                </a:solidFill>
                <a:latin typeface="Courier New" pitchFamily="34" charset="0"/>
                <a:ea typeface="Courier New" pitchFamily="34" charset="-122"/>
                <a:cs typeface="Courier New" pitchFamily="34" charset="-120"/>
              </a:rPr>
              <a:t>difference  +0.0150</a:t>
            </a:r>
            <a:endParaRPr lang="en-US" sz="1300" dirty="0"/>
          </a:p>
        </p:txBody>
      </p:sp>
      <p:sp>
        <p:nvSpPr>
          <p:cNvPr id="8" name="Text 6"/>
          <p:cNvSpPr/>
          <p:nvPr/>
        </p:nvSpPr>
        <p:spPr>
          <a:xfrm>
            <a:off x="548640" y="3840480"/>
            <a:ext cx="5486400" cy="822960"/>
          </a:xfrm>
          <a:prstGeom prst="rect">
            <a:avLst/>
          </a:prstGeom>
          <a:noFill/>
          <a:ln/>
        </p:spPr>
        <p:txBody>
          <a:bodyPr wrap="square" lIns="0" tIns="0" rIns="0" bIns="0" rtlCol="0" anchor="t"/>
          <a:lstStyle/>
          <a:p>
            <a:pPr indent="0" marL="0">
              <a:buNone/>
            </a:pPr>
            <a:r>
              <a:rPr lang="en-US" sz="1250" dirty="0">
                <a:solidFill>
                  <a:srgbClr val="C7D4E8"/>
                </a:solidFill>
                <a:latin typeface="Calibri" pitchFamily="34" charset="0"/>
                <a:ea typeface="Calibri" pitchFamily="34" charset="-122"/>
                <a:cs typeface="Calibri" pitchFamily="34" charset="-120"/>
              </a:rPr>
              <a:t>A model carrying pretrained weights already knows which tokens are common, so it would start far below this. One forward pass, one number, and the question is closed.</a:t>
            </a:r>
            <a:endParaRPr lang="en-US" sz="1250" dirty="0"/>
          </a:p>
        </p:txBody>
      </p:sp>
      <p:sp>
        <p:nvSpPr>
          <p:cNvPr id="9" name="Shape 7"/>
          <p:cNvSpPr/>
          <p:nvPr/>
        </p:nvSpPr>
        <p:spPr>
          <a:xfrm>
            <a:off x="6492240" y="1810512"/>
            <a:ext cx="274320" cy="274320"/>
          </a:xfrm>
          <a:prstGeom prst="ellipse">
            <a:avLst/>
          </a:prstGeom>
          <a:solidFill>
            <a:srgbClr val="5AC495"/>
          </a:solidFill>
          <a:ln/>
        </p:spPr>
      </p:sp>
      <p:sp>
        <p:nvSpPr>
          <p:cNvPr id="10" name="Text 8"/>
          <p:cNvSpPr/>
          <p:nvPr/>
        </p:nvSpPr>
        <p:spPr>
          <a:xfrm>
            <a:off x="6492240" y="1810512"/>
            <a:ext cx="274320" cy="274320"/>
          </a:xfrm>
          <a:prstGeom prst="rect">
            <a:avLst/>
          </a:prstGeom>
          <a:noFill/>
          <a:ln/>
        </p:spPr>
        <p:txBody>
          <a:bodyPr wrap="square" lIns="0" tIns="0" rIns="0" bIns="0" rtlCol="0" anchor="ctr"/>
          <a:lstStyle/>
          <a:p>
            <a:pPr algn="ctr" indent="0" marL="0">
              <a:buNone/>
            </a:pPr>
            <a:r>
              <a:rPr lang="en-US" sz="1200" b="1" dirty="0">
                <a:solidFill>
                  <a:srgbClr val="10203A"/>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6903720" y="1783080"/>
            <a:ext cx="475488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Custom architecture + custom tokenizer</a:t>
            </a:r>
            <a:endParaRPr lang="en-US" sz="1200" dirty="0"/>
          </a:p>
        </p:txBody>
      </p:sp>
      <p:sp>
        <p:nvSpPr>
          <p:cNvPr id="12" name="Text 10"/>
          <p:cNvSpPr/>
          <p:nvPr/>
        </p:nvSpPr>
        <p:spPr>
          <a:xfrm>
            <a:off x="6903720" y="2057400"/>
            <a:ext cx="4754880" cy="384048"/>
          </a:xfrm>
          <a:prstGeom prst="rect">
            <a:avLst/>
          </a:prstGeom>
          <a:noFill/>
          <a:ln/>
        </p:spPr>
        <p:txBody>
          <a:bodyPr wrap="square" lIns="0" tIns="0" rIns="0" bIns="0" rtlCol="0" anchor="t"/>
          <a:lstStyle/>
          <a:p>
            <a:pPr indent="0" marL="0">
              <a:buNone/>
            </a:pPr>
            <a:r>
              <a:rPr lang="en-US" sz="1050" dirty="0">
                <a:solidFill>
                  <a:srgbClr val="9DB0CC"/>
                </a:solidFill>
                <a:latin typeface="Calibri" pitchFamily="34" charset="0"/>
                <a:ea typeface="Calibri" pitchFamily="34" charset="-122"/>
                <a:cs typeface="Calibri" pitchFamily="34" charset="-120"/>
              </a:rPr>
              <a:t>every component written by us</a:t>
            </a:r>
            <a:endParaRPr lang="en-US" sz="1050" dirty="0"/>
          </a:p>
        </p:txBody>
      </p:sp>
      <p:sp>
        <p:nvSpPr>
          <p:cNvPr id="13" name="Shape 11"/>
          <p:cNvSpPr/>
          <p:nvPr/>
        </p:nvSpPr>
        <p:spPr>
          <a:xfrm>
            <a:off x="6492240" y="2523744"/>
            <a:ext cx="274320" cy="274320"/>
          </a:xfrm>
          <a:prstGeom prst="ellipse">
            <a:avLst/>
          </a:prstGeom>
          <a:solidFill>
            <a:srgbClr val="5AC495"/>
          </a:solidFill>
          <a:ln/>
        </p:spPr>
      </p:sp>
      <p:sp>
        <p:nvSpPr>
          <p:cNvPr id="14" name="Text 12"/>
          <p:cNvSpPr/>
          <p:nvPr/>
        </p:nvSpPr>
        <p:spPr>
          <a:xfrm>
            <a:off x="6492240" y="2523744"/>
            <a:ext cx="274320" cy="274320"/>
          </a:xfrm>
          <a:prstGeom prst="rect">
            <a:avLst/>
          </a:prstGeom>
          <a:noFill/>
          <a:ln/>
        </p:spPr>
        <p:txBody>
          <a:bodyPr wrap="square" lIns="0" tIns="0" rIns="0" bIns="0" rtlCol="0" anchor="ctr"/>
          <a:lstStyle/>
          <a:p>
            <a:pPr algn="ctr" indent="0" marL="0">
              <a:buNone/>
            </a:pPr>
            <a:r>
              <a:rPr lang="en-US" sz="1200" b="1" dirty="0">
                <a:solidFill>
                  <a:srgbClr val="10203A"/>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6903720" y="2496312"/>
            <a:ext cx="475488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Live repository search</a:t>
            </a:r>
            <a:endParaRPr lang="en-US" sz="1200" dirty="0"/>
          </a:p>
        </p:txBody>
      </p:sp>
      <p:sp>
        <p:nvSpPr>
          <p:cNvPr id="16" name="Text 14"/>
          <p:cNvSpPr/>
          <p:nvPr/>
        </p:nvSpPr>
        <p:spPr>
          <a:xfrm>
            <a:off x="6903720" y="2770632"/>
            <a:ext cx="4754880" cy="384048"/>
          </a:xfrm>
          <a:prstGeom prst="rect">
            <a:avLst/>
          </a:prstGeom>
          <a:noFill/>
          <a:ln/>
        </p:spPr>
        <p:txBody>
          <a:bodyPr wrap="square" lIns="0" tIns="0" rIns="0" bIns="0" rtlCol="0" anchor="t"/>
          <a:lstStyle/>
          <a:p>
            <a:pPr indent="0" marL="0">
              <a:buNone/>
            </a:pPr>
            <a:r>
              <a:rPr lang="en-US" sz="1050" dirty="0">
                <a:solidFill>
                  <a:srgbClr val="9DB0CC"/>
                </a:solidFill>
                <a:latin typeface="Calibri" pitchFamily="34" charset="0"/>
                <a:ea typeface="Calibri" pitchFamily="34" charset="-122"/>
                <a:cs typeface="Calibri" pitchFamily="34" charset="-120"/>
              </a:rPr>
              <a:t>zero matches for from_pretrained, AutoModel, hf_hub_download</a:t>
            </a:r>
            <a:endParaRPr lang="en-US" sz="1050" dirty="0"/>
          </a:p>
        </p:txBody>
      </p:sp>
      <p:sp>
        <p:nvSpPr>
          <p:cNvPr id="17" name="Shape 15"/>
          <p:cNvSpPr/>
          <p:nvPr/>
        </p:nvSpPr>
        <p:spPr>
          <a:xfrm>
            <a:off x="6492240" y="3236976"/>
            <a:ext cx="274320" cy="274320"/>
          </a:xfrm>
          <a:prstGeom prst="ellipse">
            <a:avLst/>
          </a:prstGeom>
          <a:solidFill>
            <a:srgbClr val="5AC495"/>
          </a:solidFill>
          <a:ln/>
        </p:spPr>
      </p:sp>
      <p:sp>
        <p:nvSpPr>
          <p:cNvPr id="18" name="Text 16"/>
          <p:cNvSpPr/>
          <p:nvPr/>
        </p:nvSpPr>
        <p:spPr>
          <a:xfrm>
            <a:off x="6492240" y="3236976"/>
            <a:ext cx="274320" cy="274320"/>
          </a:xfrm>
          <a:prstGeom prst="rect">
            <a:avLst/>
          </a:prstGeom>
          <a:noFill/>
          <a:ln/>
        </p:spPr>
        <p:txBody>
          <a:bodyPr wrap="square" lIns="0" tIns="0" rIns="0" bIns="0" rtlCol="0" anchor="ctr"/>
          <a:lstStyle/>
          <a:p>
            <a:pPr algn="ctr" indent="0" marL="0">
              <a:buNone/>
            </a:pPr>
            <a:r>
              <a:rPr lang="en-US" sz="1200" b="1" dirty="0">
                <a:solidFill>
                  <a:srgbClr val="10203A"/>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6903720" y="3209544"/>
            <a:ext cx="475488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Weight histogram at init</a:t>
            </a:r>
            <a:endParaRPr lang="en-US" sz="1200" dirty="0"/>
          </a:p>
        </p:txBody>
      </p:sp>
      <p:sp>
        <p:nvSpPr>
          <p:cNvPr id="20" name="Text 18"/>
          <p:cNvSpPr/>
          <p:nvPr/>
        </p:nvSpPr>
        <p:spPr>
          <a:xfrm>
            <a:off x="6903720" y="3483864"/>
            <a:ext cx="4754880" cy="384048"/>
          </a:xfrm>
          <a:prstGeom prst="rect">
            <a:avLst/>
          </a:prstGeom>
          <a:noFill/>
          <a:ln/>
        </p:spPr>
        <p:txBody>
          <a:bodyPr wrap="square" lIns="0" tIns="0" rIns="0" bIns="0" rtlCol="0" anchor="t"/>
          <a:lstStyle/>
          <a:p>
            <a:pPr indent="0" marL="0">
              <a:buNone/>
            </a:pPr>
            <a:r>
              <a:rPr lang="en-US" sz="1050" dirty="0">
                <a:solidFill>
                  <a:srgbClr val="9DB0CC"/>
                </a:solidFill>
                <a:latin typeface="Calibri" pitchFamily="34" charset="0"/>
                <a:ea typeface="Calibri" pitchFamily="34" charset="-122"/>
                <a:cs typeface="Calibri" pitchFamily="34" charset="-120"/>
              </a:rPr>
              <a:t>Gaussian, mean ≈ 0, std 0.02003 — sampled, not loaded</a:t>
            </a:r>
            <a:endParaRPr lang="en-US" sz="1050" dirty="0"/>
          </a:p>
        </p:txBody>
      </p:sp>
      <p:sp>
        <p:nvSpPr>
          <p:cNvPr id="21" name="Shape 19"/>
          <p:cNvSpPr/>
          <p:nvPr/>
        </p:nvSpPr>
        <p:spPr>
          <a:xfrm>
            <a:off x="6492240" y="3950208"/>
            <a:ext cx="274320" cy="274320"/>
          </a:xfrm>
          <a:prstGeom prst="ellipse">
            <a:avLst/>
          </a:prstGeom>
          <a:solidFill>
            <a:srgbClr val="5AC495"/>
          </a:solidFill>
          <a:ln/>
        </p:spPr>
      </p:sp>
      <p:sp>
        <p:nvSpPr>
          <p:cNvPr id="22" name="Text 20"/>
          <p:cNvSpPr/>
          <p:nvPr/>
        </p:nvSpPr>
        <p:spPr>
          <a:xfrm>
            <a:off x="6492240" y="3950208"/>
            <a:ext cx="274320" cy="274320"/>
          </a:xfrm>
          <a:prstGeom prst="rect">
            <a:avLst/>
          </a:prstGeom>
          <a:noFill/>
          <a:ln/>
        </p:spPr>
        <p:txBody>
          <a:bodyPr wrap="square" lIns="0" tIns="0" rIns="0" bIns="0" rtlCol="0" anchor="ctr"/>
          <a:lstStyle/>
          <a:p>
            <a:pPr algn="ctr" indent="0" marL="0">
              <a:buNone/>
            </a:pPr>
            <a:r>
              <a:rPr lang="en-US" sz="1200" b="1" dirty="0">
                <a:solidFill>
                  <a:srgbClr val="10203A"/>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6903720" y="3922776"/>
            <a:ext cx="475488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Complete training log</a:t>
            </a:r>
            <a:endParaRPr lang="en-US" sz="1200" dirty="0"/>
          </a:p>
        </p:txBody>
      </p:sp>
      <p:sp>
        <p:nvSpPr>
          <p:cNvPr id="24" name="Text 22"/>
          <p:cNvSpPr/>
          <p:nvPr/>
        </p:nvSpPr>
        <p:spPr>
          <a:xfrm>
            <a:off x="6903720" y="4197096"/>
            <a:ext cx="4754880" cy="384048"/>
          </a:xfrm>
          <a:prstGeom prst="rect">
            <a:avLst/>
          </a:prstGeom>
          <a:noFill/>
          <a:ln/>
        </p:spPr>
        <p:txBody>
          <a:bodyPr wrap="square" lIns="0" tIns="0" rIns="0" bIns="0" rtlCol="0" anchor="t"/>
          <a:lstStyle/>
          <a:p>
            <a:pPr indent="0" marL="0">
              <a:buNone/>
            </a:pPr>
            <a:r>
              <a:rPr lang="en-US" sz="1050" dirty="0">
                <a:solidFill>
                  <a:srgbClr val="9DB0CC"/>
                </a:solidFill>
                <a:latin typeface="Calibri" pitchFamily="34" charset="0"/>
                <a:ea typeface="Calibri" pitchFamily="34" charset="-122"/>
                <a:cs typeface="Calibri" pitchFamily="34" charset="-120"/>
              </a:rPr>
              <a:t>metrics.csv: step 0 = 8.33214 → step 6,100 = 2.194813</a:t>
            </a:r>
            <a:endParaRPr lang="en-US" sz="1050" dirty="0"/>
          </a:p>
        </p:txBody>
      </p:sp>
      <p:sp>
        <p:nvSpPr>
          <p:cNvPr id="25" name="Shape 23"/>
          <p:cNvSpPr/>
          <p:nvPr/>
        </p:nvSpPr>
        <p:spPr>
          <a:xfrm>
            <a:off x="6492240" y="4663440"/>
            <a:ext cx="274320" cy="274320"/>
          </a:xfrm>
          <a:prstGeom prst="ellipse">
            <a:avLst/>
          </a:prstGeom>
          <a:solidFill>
            <a:srgbClr val="5AC495"/>
          </a:solidFill>
          <a:ln/>
        </p:spPr>
      </p:sp>
      <p:sp>
        <p:nvSpPr>
          <p:cNvPr id="26" name="Text 24"/>
          <p:cNvSpPr/>
          <p:nvPr/>
        </p:nvSpPr>
        <p:spPr>
          <a:xfrm>
            <a:off x="6492240" y="4663440"/>
            <a:ext cx="274320" cy="274320"/>
          </a:xfrm>
          <a:prstGeom prst="rect">
            <a:avLst/>
          </a:prstGeom>
          <a:noFill/>
          <a:ln/>
        </p:spPr>
        <p:txBody>
          <a:bodyPr wrap="square" lIns="0" tIns="0" rIns="0" bIns="0" rtlCol="0" anchor="ctr"/>
          <a:lstStyle/>
          <a:p>
            <a:pPr algn="ctr" indent="0" marL="0">
              <a:buNone/>
            </a:pPr>
            <a:r>
              <a:rPr lang="en-US" sz="1200" b="1" dirty="0">
                <a:solidFill>
                  <a:srgbClr val="10203A"/>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6903720" y="4636008"/>
            <a:ext cx="475488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Checkpoint reload</a:t>
            </a:r>
            <a:endParaRPr lang="en-US" sz="1200" dirty="0"/>
          </a:p>
        </p:txBody>
      </p:sp>
      <p:sp>
        <p:nvSpPr>
          <p:cNvPr id="28" name="Text 26"/>
          <p:cNvSpPr/>
          <p:nvPr/>
        </p:nvSpPr>
        <p:spPr>
          <a:xfrm>
            <a:off x="6903720" y="4910328"/>
            <a:ext cx="4754880" cy="384048"/>
          </a:xfrm>
          <a:prstGeom prst="rect">
            <a:avLst/>
          </a:prstGeom>
          <a:noFill/>
          <a:ln/>
        </p:spPr>
        <p:txBody>
          <a:bodyPr wrap="square" lIns="0" tIns="0" rIns="0" bIns="0" rtlCol="0" anchor="t"/>
          <a:lstStyle/>
          <a:p>
            <a:pPr indent="0" marL="0">
              <a:buNone/>
            </a:pPr>
            <a:r>
              <a:rPr lang="en-US" sz="1050" dirty="0">
                <a:solidFill>
                  <a:srgbClr val="9DB0CC"/>
                </a:solidFill>
                <a:latin typeface="Calibri" pitchFamily="34" charset="0"/>
                <a:ea typeface="Calibri" pitchFamily="34" charset="-122"/>
                <a:cs typeface="Calibri" pitchFamily="34" charset="-120"/>
              </a:rPr>
              <a:t>fresh process reproduced validation loss, difference 0.000000</a:t>
            </a:r>
            <a:endParaRPr lang="en-US" sz="1050" dirty="0"/>
          </a:p>
        </p:txBody>
      </p:sp>
      <p:sp>
        <p:nvSpPr>
          <p:cNvPr id="29" name="Shape 27"/>
          <p:cNvSpPr/>
          <p:nvPr/>
        </p:nvSpPr>
        <p:spPr>
          <a:xfrm>
            <a:off x="6492240" y="5376672"/>
            <a:ext cx="274320" cy="274320"/>
          </a:xfrm>
          <a:prstGeom prst="ellipse">
            <a:avLst/>
          </a:prstGeom>
          <a:solidFill>
            <a:srgbClr val="5AC495"/>
          </a:solidFill>
          <a:ln/>
        </p:spPr>
      </p:sp>
      <p:sp>
        <p:nvSpPr>
          <p:cNvPr id="30" name="Text 28"/>
          <p:cNvSpPr/>
          <p:nvPr/>
        </p:nvSpPr>
        <p:spPr>
          <a:xfrm>
            <a:off x="6492240" y="5376672"/>
            <a:ext cx="274320" cy="274320"/>
          </a:xfrm>
          <a:prstGeom prst="rect">
            <a:avLst/>
          </a:prstGeom>
          <a:noFill/>
          <a:ln/>
        </p:spPr>
        <p:txBody>
          <a:bodyPr wrap="square" lIns="0" tIns="0" rIns="0" bIns="0" rtlCol="0" anchor="ctr"/>
          <a:lstStyle/>
          <a:p>
            <a:pPr algn="ctr" indent="0" marL="0">
              <a:buNone/>
            </a:pPr>
            <a:r>
              <a:rPr lang="en-US" sz="1200" b="1" dirty="0">
                <a:solidFill>
                  <a:srgbClr val="10203A"/>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6903720" y="5349240"/>
            <a:ext cx="475488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Reproducibility</a:t>
            </a:r>
            <a:endParaRPr lang="en-US" sz="1200" dirty="0"/>
          </a:p>
        </p:txBody>
      </p:sp>
      <p:sp>
        <p:nvSpPr>
          <p:cNvPr id="32" name="Text 30"/>
          <p:cNvSpPr/>
          <p:nvPr/>
        </p:nvSpPr>
        <p:spPr>
          <a:xfrm>
            <a:off x="6903720" y="5623560"/>
            <a:ext cx="4754880" cy="384048"/>
          </a:xfrm>
          <a:prstGeom prst="rect">
            <a:avLst/>
          </a:prstGeom>
          <a:noFill/>
          <a:ln/>
        </p:spPr>
        <p:txBody>
          <a:bodyPr wrap="square" lIns="0" tIns="0" rIns="0" bIns="0" rtlCol="0" anchor="t"/>
          <a:lstStyle/>
          <a:p>
            <a:pPr indent="0" marL="0">
              <a:buNone/>
            </a:pPr>
            <a:r>
              <a:rPr lang="en-US" sz="1050" dirty="0">
                <a:solidFill>
                  <a:srgbClr val="9DB0CC"/>
                </a:solidFill>
                <a:latin typeface="Calibri" pitchFamily="34" charset="0"/>
                <a:ea typeface="Calibri" pitchFamily="34" charset="-122"/>
                <a:cs typeface="Calibri" pitchFamily="34" charset="-120"/>
              </a:rPr>
              <a:t>seed 1337 + config hash + tokenizer fingerprint in every manifest</a:t>
            </a:r>
            <a:endParaRPr lang="en-US" sz="1050" dirty="0"/>
          </a:p>
        </p:txBody>
      </p:sp>
      <p:sp>
        <p:nvSpPr>
          <p:cNvPr id="33" name="Text 31"/>
          <p:cNvSpPr/>
          <p:nvPr/>
        </p:nvSpPr>
        <p:spPr>
          <a:xfrm>
            <a:off x="548640" y="6035040"/>
            <a:ext cx="11064240" cy="320040"/>
          </a:xfrm>
          <a:prstGeom prst="rect">
            <a:avLst/>
          </a:prstGeom>
          <a:noFill/>
          <a:ln/>
        </p:spPr>
        <p:txBody>
          <a:bodyPr wrap="square" lIns="0" tIns="0" rIns="0" bIns="0" rtlCol="0" anchor="ctr"/>
          <a:lstStyle/>
          <a:p>
            <a:pPr indent="0" marL="0">
              <a:buNone/>
            </a:pPr>
            <a:r>
              <a:rPr lang="en-US" sz="1300" b="1" dirty="0">
                <a:solidFill>
                  <a:srgbClr val="6FA3E8"/>
                </a:solidFill>
                <a:latin typeface="Calibri" pitchFamily="34" charset="0"/>
                <a:ea typeface="Calibri" pitchFamily="34" charset="-122"/>
                <a:cs typeface="Calibri" pitchFamily="34" charset="-120"/>
              </a:rPr>
              <a:t>Demonstrated live from the terminal, not asserted on a slide.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Model configuration</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1,331,968 parameters — derived component by component, not estimated.</a:t>
            </a:r>
            <a:endParaRPr lang="en-US" sz="1350" dirty="0"/>
          </a:p>
        </p:txBody>
      </p:sp>
      <p:sp>
        <p:nvSpPr>
          <p:cNvPr id="4" name="Shape 2"/>
          <p:cNvSpPr/>
          <p:nvPr/>
        </p:nvSpPr>
        <p:spPr>
          <a:xfrm>
            <a:off x="548640" y="1572768"/>
            <a:ext cx="5577840" cy="384048"/>
          </a:xfrm>
          <a:prstGeom prst="rect">
            <a:avLst/>
          </a:prstGeom>
          <a:solidFill>
            <a:srgbClr val="F1F4F9"/>
          </a:solidFill>
          <a:ln w="9525">
            <a:solidFill>
              <a:srgbClr val="D6DEEA"/>
            </a:solidFill>
            <a:prstDash val="solid"/>
          </a:ln>
        </p:spPr>
      </p:sp>
      <p:sp>
        <p:nvSpPr>
          <p:cNvPr id="5" name="Text 3"/>
          <p:cNvSpPr/>
          <p:nvPr/>
        </p:nvSpPr>
        <p:spPr>
          <a:xfrm>
            <a:off x="621792" y="1572768"/>
            <a:ext cx="1682496" cy="384048"/>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Parameter</a:t>
            </a:r>
            <a:endParaRPr lang="en-US" sz="950" dirty="0"/>
          </a:p>
        </p:txBody>
      </p:sp>
      <p:sp>
        <p:nvSpPr>
          <p:cNvPr id="6" name="Text 4"/>
          <p:cNvSpPr/>
          <p:nvPr/>
        </p:nvSpPr>
        <p:spPr>
          <a:xfrm>
            <a:off x="2450592" y="1572768"/>
            <a:ext cx="1225296" cy="384048"/>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Value</a:t>
            </a:r>
            <a:endParaRPr lang="en-US" sz="950" dirty="0"/>
          </a:p>
        </p:txBody>
      </p:sp>
      <p:sp>
        <p:nvSpPr>
          <p:cNvPr id="7" name="Text 5"/>
          <p:cNvSpPr/>
          <p:nvPr/>
        </p:nvSpPr>
        <p:spPr>
          <a:xfrm>
            <a:off x="3822192" y="1572768"/>
            <a:ext cx="2231136" cy="384048"/>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Why</a:t>
            </a:r>
            <a:endParaRPr lang="en-US" sz="950" dirty="0"/>
          </a:p>
        </p:txBody>
      </p:sp>
      <p:sp>
        <p:nvSpPr>
          <p:cNvPr id="8" name="Shape 6"/>
          <p:cNvSpPr/>
          <p:nvPr/>
        </p:nvSpPr>
        <p:spPr>
          <a:xfrm>
            <a:off x="548640" y="1956816"/>
            <a:ext cx="5577840" cy="384048"/>
          </a:xfrm>
          <a:prstGeom prst="rect">
            <a:avLst/>
          </a:prstGeom>
          <a:solidFill>
            <a:srgbClr val="FFFFFF"/>
          </a:solidFill>
          <a:ln w="9525">
            <a:solidFill>
              <a:srgbClr val="D6DEEA"/>
            </a:solidFill>
            <a:prstDash val="solid"/>
          </a:ln>
        </p:spPr>
      </p:sp>
      <p:sp>
        <p:nvSpPr>
          <p:cNvPr id="9" name="Text 7"/>
          <p:cNvSpPr/>
          <p:nvPr/>
        </p:nvSpPr>
        <p:spPr>
          <a:xfrm>
            <a:off x="621792" y="1956816"/>
            <a:ext cx="16824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Vocabulary</a:t>
            </a:r>
            <a:endParaRPr lang="en-US" sz="1000" dirty="0"/>
          </a:p>
        </p:txBody>
      </p:sp>
      <p:sp>
        <p:nvSpPr>
          <p:cNvPr id="10" name="Text 8"/>
          <p:cNvSpPr/>
          <p:nvPr/>
        </p:nvSpPr>
        <p:spPr>
          <a:xfrm>
            <a:off x="2450592" y="1956816"/>
            <a:ext cx="12252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ourier New" pitchFamily="34" charset="0"/>
                <a:ea typeface="Courier New" pitchFamily="34" charset="-122"/>
                <a:cs typeface="Courier New" pitchFamily="34" charset="-120"/>
              </a:rPr>
              <a:t>4,096</a:t>
            </a:r>
            <a:endParaRPr lang="en-US" sz="1000" dirty="0"/>
          </a:p>
        </p:txBody>
      </p:sp>
      <p:sp>
        <p:nvSpPr>
          <p:cNvPr id="11" name="Text 9"/>
          <p:cNvSpPr/>
          <p:nvPr/>
        </p:nvSpPr>
        <p:spPr>
          <a:xfrm>
            <a:off x="3822192" y="1956816"/>
            <a:ext cx="223113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fits a simple corpus</a:t>
            </a:r>
            <a:endParaRPr lang="en-US" sz="1000" dirty="0"/>
          </a:p>
        </p:txBody>
      </p:sp>
      <p:sp>
        <p:nvSpPr>
          <p:cNvPr id="12" name="Shape 10"/>
          <p:cNvSpPr/>
          <p:nvPr/>
        </p:nvSpPr>
        <p:spPr>
          <a:xfrm>
            <a:off x="548640" y="2340864"/>
            <a:ext cx="5577840" cy="384048"/>
          </a:xfrm>
          <a:prstGeom prst="rect">
            <a:avLst/>
          </a:prstGeom>
          <a:solidFill>
            <a:srgbClr val="FFFFFF"/>
          </a:solidFill>
          <a:ln w="9525">
            <a:solidFill>
              <a:srgbClr val="D6DEEA"/>
            </a:solidFill>
            <a:prstDash val="solid"/>
          </a:ln>
        </p:spPr>
      </p:sp>
      <p:sp>
        <p:nvSpPr>
          <p:cNvPr id="13" name="Text 11"/>
          <p:cNvSpPr/>
          <p:nvPr/>
        </p:nvSpPr>
        <p:spPr>
          <a:xfrm>
            <a:off x="621792" y="2340864"/>
            <a:ext cx="16824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Embedding dim</a:t>
            </a:r>
            <a:endParaRPr lang="en-US" sz="1000" dirty="0"/>
          </a:p>
        </p:txBody>
      </p:sp>
      <p:sp>
        <p:nvSpPr>
          <p:cNvPr id="14" name="Text 12"/>
          <p:cNvSpPr/>
          <p:nvPr/>
        </p:nvSpPr>
        <p:spPr>
          <a:xfrm>
            <a:off x="2450592" y="2340864"/>
            <a:ext cx="12252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ourier New" pitchFamily="34" charset="0"/>
                <a:ea typeface="Courier New" pitchFamily="34" charset="-122"/>
                <a:cs typeface="Courier New" pitchFamily="34" charset="-120"/>
              </a:rPr>
              <a:t>128</a:t>
            </a:r>
            <a:endParaRPr lang="en-US" sz="1000" dirty="0"/>
          </a:p>
        </p:txBody>
      </p:sp>
      <p:sp>
        <p:nvSpPr>
          <p:cNvPr id="15" name="Text 13"/>
          <p:cNvSpPr/>
          <p:nvPr/>
        </p:nvSpPr>
        <p:spPr>
          <a:xfrm>
            <a:off x="3822192" y="2340864"/>
            <a:ext cx="223113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internal width</a:t>
            </a:r>
            <a:endParaRPr lang="en-US" sz="1000" dirty="0"/>
          </a:p>
        </p:txBody>
      </p:sp>
      <p:sp>
        <p:nvSpPr>
          <p:cNvPr id="16" name="Shape 14"/>
          <p:cNvSpPr/>
          <p:nvPr/>
        </p:nvSpPr>
        <p:spPr>
          <a:xfrm>
            <a:off x="548640" y="2724912"/>
            <a:ext cx="5577840" cy="384048"/>
          </a:xfrm>
          <a:prstGeom prst="rect">
            <a:avLst/>
          </a:prstGeom>
          <a:solidFill>
            <a:srgbClr val="FFFFFF"/>
          </a:solidFill>
          <a:ln w="9525">
            <a:solidFill>
              <a:srgbClr val="D6DEEA"/>
            </a:solidFill>
            <a:prstDash val="solid"/>
          </a:ln>
        </p:spPr>
      </p:sp>
      <p:sp>
        <p:nvSpPr>
          <p:cNvPr id="17" name="Text 15"/>
          <p:cNvSpPr/>
          <p:nvPr/>
        </p:nvSpPr>
        <p:spPr>
          <a:xfrm>
            <a:off x="621792" y="2724912"/>
            <a:ext cx="16824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Layers</a:t>
            </a:r>
            <a:endParaRPr lang="en-US" sz="1000" dirty="0"/>
          </a:p>
        </p:txBody>
      </p:sp>
      <p:sp>
        <p:nvSpPr>
          <p:cNvPr id="18" name="Text 16"/>
          <p:cNvSpPr/>
          <p:nvPr/>
        </p:nvSpPr>
        <p:spPr>
          <a:xfrm>
            <a:off x="2450592" y="2724912"/>
            <a:ext cx="12252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ourier New" pitchFamily="34" charset="0"/>
                <a:ea typeface="Courier New" pitchFamily="34" charset="-122"/>
                <a:cs typeface="Courier New" pitchFamily="34" charset="-120"/>
              </a:rPr>
              <a:t>4</a:t>
            </a:r>
            <a:endParaRPr lang="en-US" sz="1000" dirty="0"/>
          </a:p>
        </p:txBody>
      </p:sp>
      <p:sp>
        <p:nvSpPr>
          <p:cNvPr id="19" name="Text 17"/>
          <p:cNvSpPr/>
          <p:nvPr/>
        </p:nvSpPr>
        <p:spPr>
          <a:xfrm>
            <a:off x="3822192" y="2724912"/>
            <a:ext cx="223113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depth to compose meaning</a:t>
            </a:r>
            <a:endParaRPr lang="en-US" sz="1000" dirty="0"/>
          </a:p>
        </p:txBody>
      </p:sp>
      <p:sp>
        <p:nvSpPr>
          <p:cNvPr id="20" name="Shape 18"/>
          <p:cNvSpPr/>
          <p:nvPr/>
        </p:nvSpPr>
        <p:spPr>
          <a:xfrm>
            <a:off x="548640" y="3108960"/>
            <a:ext cx="5577840" cy="384048"/>
          </a:xfrm>
          <a:prstGeom prst="rect">
            <a:avLst/>
          </a:prstGeom>
          <a:solidFill>
            <a:srgbClr val="FFFFFF"/>
          </a:solidFill>
          <a:ln w="9525">
            <a:solidFill>
              <a:srgbClr val="D6DEEA"/>
            </a:solidFill>
            <a:prstDash val="solid"/>
          </a:ln>
        </p:spPr>
      </p:sp>
      <p:sp>
        <p:nvSpPr>
          <p:cNvPr id="21" name="Text 19"/>
          <p:cNvSpPr/>
          <p:nvPr/>
        </p:nvSpPr>
        <p:spPr>
          <a:xfrm>
            <a:off x="621792" y="3108960"/>
            <a:ext cx="16824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Attention heads</a:t>
            </a:r>
            <a:endParaRPr lang="en-US" sz="1000" dirty="0"/>
          </a:p>
        </p:txBody>
      </p:sp>
      <p:sp>
        <p:nvSpPr>
          <p:cNvPr id="22" name="Text 20"/>
          <p:cNvSpPr/>
          <p:nvPr/>
        </p:nvSpPr>
        <p:spPr>
          <a:xfrm>
            <a:off x="2450592" y="3108960"/>
            <a:ext cx="12252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ourier New" pitchFamily="34" charset="0"/>
                <a:ea typeface="Courier New" pitchFamily="34" charset="-122"/>
                <a:cs typeface="Courier New" pitchFamily="34" charset="-120"/>
              </a:rPr>
              <a:t>4</a:t>
            </a:r>
            <a:endParaRPr lang="en-US" sz="1000" dirty="0"/>
          </a:p>
        </p:txBody>
      </p:sp>
      <p:sp>
        <p:nvSpPr>
          <p:cNvPr id="23" name="Text 21"/>
          <p:cNvSpPr/>
          <p:nvPr/>
        </p:nvSpPr>
        <p:spPr>
          <a:xfrm>
            <a:off x="3822192" y="3108960"/>
            <a:ext cx="223113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128 ÷ 4 = 32 per head</a:t>
            </a:r>
            <a:endParaRPr lang="en-US" sz="1000" dirty="0"/>
          </a:p>
        </p:txBody>
      </p:sp>
      <p:sp>
        <p:nvSpPr>
          <p:cNvPr id="24" name="Shape 22"/>
          <p:cNvSpPr/>
          <p:nvPr/>
        </p:nvSpPr>
        <p:spPr>
          <a:xfrm>
            <a:off x="548640" y="3493008"/>
            <a:ext cx="5577840" cy="384048"/>
          </a:xfrm>
          <a:prstGeom prst="rect">
            <a:avLst/>
          </a:prstGeom>
          <a:solidFill>
            <a:srgbClr val="FFFFFF"/>
          </a:solidFill>
          <a:ln w="9525">
            <a:solidFill>
              <a:srgbClr val="D6DEEA"/>
            </a:solidFill>
            <a:prstDash val="solid"/>
          </a:ln>
        </p:spPr>
      </p:sp>
      <p:sp>
        <p:nvSpPr>
          <p:cNvPr id="25" name="Text 23"/>
          <p:cNvSpPr/>
          <p:nvPr/>
        </p:nvSpPr>
        <p:spPr>
          <a:xfrm>
            <a:off x="621792" y="3493008"/>
            <a:ext cx="16824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FFN dim</a:t>
            </a:r>
            <a:endParaRPr lang="en-US" sz="1000" dirty="0"/>
          </a:p>
        </p:txBody>
      </p:sp>
      <p:sp>
        <p:nvSpPr>
          <p:cNvPr id="26" name="Text 24"/>
          <p:cNvSpPr/>
          <p:nvPr/>
        </p:nvSpPr>
        <p:spPr>
          <a:xfrm>
            <a:off x="2450592" y="3493008"/>
            <a:ext cx="12252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ourier New" pitchFamily="34" charset="0"/>
                <a:ea typeface="Courier New" pitchFamily="34" charset="-122"/>
                <a:cs typeface="Courier New" pitchFamily="34" charset="-120"/>
              </a:rPr>
              <a:t>512</a:t>
            </a:r>
            <a:endParaRPr lang="en-US" sz="1000" dirty="0"/>
          </a:p>
        </p:txBody>
      </p:sp>
      <p:sp>
        <p:nvSpPr>
          <p:cNvPr id="27" name="Text 25"/>
          <p:cNvSpPr/>
          <p:nvPr/>
        </p:nvSpPr>
        <p:spPr>
          <a:xfrm>
            <a:off x="3822192" y="3493008"/>
            <a:ext cx="223113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4 × d_model, conventional</a:t>
            </a:r>
            <a:endParaRPr lang="en-US" sz="1000" dirty="0"/>
          </a:p>
        </p:txBody>
      </p:sp>
      <p:sp>
        <p:nvSpPr>
          <p:cNvPr id="28" name="Shape 26"/>
          <p:cNvSpPr/>
          <p:nvPr/>
        </p:nvSpPr>
        <p:spPr>
          <a:xfrm>
            <a:off x="548640" y="3877056"/>
            <a:ext cx="5577840" cy="384048"/>
          </a:xfrm>
          <a:prstGeom prst="rect">
            <a:avLst/>
          </a:prstGeom>
          <a:solidFill>
            <a:srgbClr val="FFFFFF"/>
          </a:solidFill>
          <a:ln w="9525">
            <a:solidFill>
              <a:srgbClr val="D6DEEA"/>
            </a:solidFill>
            <a:prstDash val="solid"/>
          </a:ln>
        </p:spPr>
      </p:sp>
      <p:sp>
        <p:nvSpPr>
          <p:cNvPr id="29" name="Text 27"/>
          <p:cNvSpPr/>
          <p:nvPr/>
        </p:nvSpPr>
        <p:spPr>
          <a:xfrm>
            <a:off x="621792" y="3877056"/>
            <a:ext cx="16824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Context length</a:t>
            </a:r>
            <a:endParaRPr lang="en-US" sz="1000" dirty="0"/>
          </a:p>
        </p:txBody>
      </p:sp>
      <p:sp>
        <p:nvSpPr>
          <p:cNvPr id="30" name="Text 28"/>
          <p:cNvSpPr/>
          <p:nvPr/>
        </p:nvSpPr>
        <p:spPr>
          <a:xfrm>
            <a:off x="2450592" y="3877056"/>
            <a:ext cx="12252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ourier New" pitchFamily="34" charset="0"/>
                <a:ea typeface="Courier New" pitchFamily="34" charset="-122"/>
                <a:cs typeface="Courier New" pitchFamily="34" charset="-120"/>
              </a:rPr>
              <a:t>128</a:t>
            </a:r>
            <a:endParaRPr lang="en-US" sz="1000" dirty="0"/>
          </a:p>
        </p:txBody>
      </p:sp>
      <p:sp>
        <p:nvSpPr>
          <p:cNvPr id="31" name="Text 29"/>
          <p:cNvSpPr/>
          <p:nvPr/>
        </p:nvSpPr>
        <p:spPr>
          <a:xfrm>
            <a:off x="3822192" y="3877056"/>
            <a:ext cx="223113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covers a whole short story</a:t>
            </a:r>
            <a:endParaRPr lang="en-US" sz="1000" dirty="0"/>
          </a:p>
        </p:txBody>
      </p:sp>
      <p:sp>
        <p:nvSpPr>
          <p:cNvPr id="32" name="Shape 30"/>
          <p:cNvSpPr/>
          <p:nvPr/>
        </p:nvSpPr>
        <p:spPr>
          <a:xfrm>
            <a:off x="548640" y="4261104"/>
            <a:ext cx="5577840" cy="384048"/>
          </a:xfrm>
          <a:prstGeom prst="rect">
            <a:avLst/>
          </a:prstGeom>
          <a:solidFill>
            <a:srgbClr val="FFFFFF"/>
          </a:solidFill>
          <a:ln w="9525">
            <a:solidFill>
              <a:srgbClr val="D6DEEA"/>
            </a:solidFill>
            <a:prstDash val="solid"/>
          </a:ln>
        </p:spPr>
      </p:sp>
      <p:sp>
        <p:nvSpPr>
          <p:cNvPr id="33" name="Text 31"/>
          <p:cNvSpPr/>
          <p:nvPr/>
        </p:nvSpPr>
        <p:spPr>
          <a:xfrm>
            <a:off x="621792" y="4261104"/>
            <a:ext cx="16824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Positional</a:t>
            </a:r>
            <a:endParaRPr lang="en-US" sz="1000" dirty="0"/>
          </a:p>
        </p:txBody>
      </p:sp>
      <p:sp>
        <p:nvSpPr>
          <p:cNvPr id="34" name="Text 32"/>
          <p:cNvSpPr/>
          <p:nvPr/>
        </p:nvSpPr>
        <p:spPr>
          <a:xfrm>
            <a:off x="2450592" y="4261104"/>
            <a:ext cx="12252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ourier New" pitchFamily="34" charset="0"/>
                <a:ea typeface="Courier New" pitchFamily="34" charset="-122"/>
                <a:cs typeface="Courier New" pitchFamily="34" charset="-120"/>
              </a:rPr>
              <a:t>learned</a:t>
            </a:r>
            <a:endParaRPr lang="en-US" sz="1000" dirty="0"/>
          </a:p>
        </p:txBody>
      </p:sp>
      <p:sp>
        <p:nvSpPr>
          <p:cNvPr id="35" name="Text 33"/>
          <p:cNvSpPr/>
          <p:nvPr/>
        </p:nvSpPr>
        <p:spPr>
          <a:xfrm>
            <a:off x="3822192" y="4261104"/>
            <a:ext cx="223113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simplest correct choice</a:t>
            </a:r>
            <a:endParaRPr lang="en-US" sz="1000" dirty="0"/>
          </a:p>
        </p:txBody>
      </p:sp>
      <p:sp>
        <p:nvSpPr>
          <p:cNvPr id="36" name="Shape 34"/>
          <p:cNvSpPr/>
          <p:nvPr/>
        </p:nvSpPr>
        <p:spPr>
          <a:xfrm>
            <a:off x="548640" y="4645152"/>
            <a:ext cx="5577840" cy="384048"/>
          </a:xfrm>
          <a:prstGeom prst="rect">
            <a:avLst/>
          </a:prstGeom>
          <a:solidFill>
            <a:srgbClr val="FFFFFF"/>
          </a:solidFill>
          <a:ln w="9525">
            <a:solidFill>
              <a:srgbClr val="D6DEEA"/>
            </a:solidFill>
            <a:prstDash val="solid"/>
          </a:ln>
        </p:spPr>
      </p:sp>
      <p:sp>
        <p:nvSpPr>
          <p:cNvPr id="37" name="Text 35"/>
          <p:cNvSpPr/>
          <p:nvPr/>
        </p:nvSpPr>
        <p:spPr>
          <a:xfrm>
            <a:off x="621792" y="4645152"/>
            <a:ext cx="16824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Normalisation</a:t>
            </a:r>
            <a:endParaRPr lang="en-US" sz="1000" dirty="0"/>
          </a:p>
        </p:txBody>
      </p:sp>
      <p:sp>
        <p:nvSpPr>
          <p:cNvPr id="38" name="Text 36"/>
          <p:cNvSpPr/>
          <p:nvPr/>
        </p:nvSpPr>
        <p:spPr>
          <a:xfrm>
            <a:off x="2450592" y="4645152"/>
            <a:ext cx="12252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ourier New" pitchFamily="34" charset="0"/>
                <a:ea typeface="Courier New" pitchFamily="34" charset="-122"/>
                <a:cs typeface="Courier New" pitchFamily="34" charset="-120"/>
              </a:rPr>
              <a:t>pre-LN</a:t>
            </a:r>
            <a:endParaRPr lang="en-US" sz="1000" dirty="0"/>
          </a:p>
        </p:txBody>
      </p:sp>
      <p:sp>
        <p:nvSpPr>
          <p:cNvPr id="39" name="Text 37"/>
          <p:cNvSpPr/>
          <p:nvPr/>
        </p:nvSpPr>
        <p:spPr>
          <a:xfrm>
            <a:off x="3822192" y="4645152"/>
            <a:ext cx="223113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trains without hand-tuning</a:t>
            </a:r>
            <a:endParaRPr lang="en-US" sz="1000" dirty="0"/>
          </a:p>
        </p:txBody>
      </p:sp>
      <p:sp>
        <p:nvSpPr>
          <p:cNvPr id="40" name="Shape 38"/>
          <p:cNvSpPr/>
          <p:nvPr/>
        </p:nvSpPr>
        <p:spPr>
          <a:xfrm>
            <a:off x="548640" y="5029200"/>
            <a:ext cx="5577840" cy="384048"/>
          </a:xfrm>
          <a:prstGeom prst="rect">
            <a:avLst/>
          </a:prstGeom>
          <a:solidFill>
            <a:srgbClr val="FFFFFF"/>
          </a:solidFill>
          <a:ln w="9525">
            <a:solidFill>
              <a:srgbClr val="D6DEEA"/>
            </a:solidFill>
            <a:prstDash val="solid"/>
          </a:ln>
        </p:spPr>
      </p:sp>
      <p:sp>
        <p:nvSpPr>
          <p:cNvPr id="41" name="Text 39"/>
          <p:cNvSpPr/>
          <p:nvPr/>
        </p:nvSpPr>
        <p:spPr>
          <a:xfrm>
            <a:off x="621792" y="5029200"/>
            <a:ext cx="16824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LM head</a:t>
            </a:r>
            <a:endParaRPr lang="en-US" sz="1000" dirty="0"/>
          </a:p>
        </p:txBody>
      </p:sp>
      <p:sp>
        <p:nvSpPr>
          <p:cNvPr id="42" name="Text 40"/>
          <p:cNvSpPr/>
          <p:nvPr/>
        </p:nvSpPr>
        <p:spPr>
          <a:xfrm>
            <a:off x="2450592" y="5029200"/>
            <a:ext cx="1225296" cy="384048"/>
          </a:xfrm>
          <a:prstGeom prst="rect">
            <a:avLst/>
          </a:prstGeom>
          <a:noFill/>
          <a:ln/>
        </p:spPr>
        <p:txBody>
          <a:bodyPr wrap="square" lIns="0" tIns="0" rIns="0" bIns="0" rtlCol="0" anchor="ctr"/>
          <a:lstStyle/>
          <a:p>
            <a:pPr algn="l" indent="0" marL="0">
              <a:buNone/>
            </a:pPr>
            <a:r>
              <a:rPr lang="en-US" sz="1000" dirty="0">
                <a:solidFill>
                  <a:srgbClr val="10203A"/>
                </a:solidFill>
                <a:latin typeface="Courier New" pitchFamily="34" charset="0"/>
                <a:ea typeface="Courier New" pitchFamily="34" charset="-122"/>
                <a:cs typeface="Courier New" pitchFamily="34" charset="-120"/>
              </a:rPr>
              <a:t>tied</a:t>
            </a:r>
            <a:endParaRPr lang="en-US" sz="1000" dirty="0"/>
          </a:p>
        </p:txBody>
      </p:sp>
      <p:sp>
        <p:nvSpPr>
          <p:cNvPr id="43" name="Text 41"/>
          <p:cNvSpPr/>
          <p:nvPr/>
        </p:nvSpPr>
        <p:spPr>
          <a:xfrm>
            <a:off x="3822192" y="5029200"/>
            <a:ext cx="2231136" cy="384048"/>
          </a:xfrm>
          <a:prstGeom prst="rect">
            <a:avLst/>
          </a:prstGeom>
          <a:noFill/>
          <a:ln/>
        </p:spPr>
        <p:txBody>
          <a:bodyPr wrap="square" lIns="0" tIns="0" rIns="0" bIns="0" rtlCol="0" anchor="ctr"/>
          <a:lstStyle/>
          <a:p>
            <a:pPr algn="l" indent="0" marL="0">
              <a:buNone/>
            </a:pPr>
            <a:r>
              <a:rPr lang="en-US" sz="1000" dirty="0">
                <a:solidFill>
                  <a:srgbClr val="10203A"/>
                </a:solidFill>
                <a:latin typeface="Calibri" pitchFamily="34" charset="0"/>
                <a:ea typeface="Calibri" pitchFamily="34" charset="-122"/>
                <a:cs typeface="Calibri" pitchFamily="34" charset="-120"/>
              </a:rPr>
              <a:t>saves 524,288 params</a:t>
            </a:r>
            <a:endParaRPr lang="en-US" sz="1000" dirty="0"/>
          </a:p>
        </p:txBody>
      </p:sp>
      <p:sp>
        <p:nvSpPr>
          <p:cNvPr id="44" name="Text 42"/>
          <p:cNvSpPr/>
          <p:nvPr/>
        </p:nvSpPr>
        <p:spPr>
          <a:xfrm>
            <a:off x="6400800" y="1572768"/>
            <a:ext cx="5212080" cy="274320"/>
          </a:xfrm>
          <a:prstGeom prst="rect">
            <a:avLst/>
          </a:prstGeom>
          <a:noFill/>
          <a:ln/>
        </p:spPr>
        <p:txBody>
          <a:bodyPr wrap="square" lIns="0" tIns="0" rIns="0" bIns="0" rtlCol="0" anchor="ctr"/>
          <a:lstStyle/>
          <a:p>
            <a:pPr indent="0" marL="0">
              <a:buNone/>
            </a:pPr>
            <a:r>
              <a:rPr lang="en-US" sz="1400" b="1" dirty="0">
                <a:solidFill>
                  <a:srgbClr val="10203A"/>
                </a:solidFill>
                <a:latin typeface="Calibri" pitchFamily="34" charset="0"/>
                <a:ea typeface="Calibri" pitchFamily="34" charset="-122"/>
                <a:cs typeface="Calibri" pitchFamily="34" charset="-120"/>
              </a:rPr>
              <a:t>The arithmetic</a:t>
            </a:r>
            <a:endParaRPr lang="en-US" sz="1400" dirty="0"/>
          </a:p>
        </p:txBody>
      </p:sp>
      <p:sp>
        <p:nvSpPr>
          <p:cNvPr id="45" name="Text 43"/>
          <p:cNvSpPr/>
          <p:nvPr/>
        </p:nvSpPr>
        <p:spPr>
          <a:xfrm>
            <a:off x="6400800" y="1901952"/>
            <a:ext cx="5212080" cy="3291840"/>
          </a:xfrm>
          <a:prstGeom prst="rect">
            <a:avLst/>
          </a:prstGeom>
          <a:noFill/>
          <a:ln/>
        </p:spPr>
        <p:txBody>
          <a:bodyPr wrap="square" lIns="0" tIns="0" rIns="0" bIns="0" rtlCol="0" anchor="t"/>
          <a:lstStyle/>
          <a:p>
            <a:pPr indent="0" marL="0">
              <a:buNone/>
            </a:pPr>
            <a:r>
              <a:rPr lang="en-US" sz="1000" dirty="0">
                <a:solidFill>
                  <a:srgbClr val="10203A"/>
                </a:solidFill>
                <a:latin typeface="Courier New" pitchFamily="34" charset="0"/>
                <a:ea typeface="Courier New" pitchFamily="34" charset="-122"/>
                <a:cs typeface="Courier New" pitchFamily="34" charset="-120"/>
              </a:rPr>
              <a:t>token embedding   4096 × 128   =   524,288</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positional         128 × 128   =    16,384</a:t>
            </a:r>
            <a:endParaRPr lang="en-US" sz="1000" dirty="0"/>
          </a:p>
          <a:p>
            <a:pPr indent="0" marL="0">
              <a:buNone/>
            </a:pP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per block</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  attention  4 × (128×128)    =    65,536</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  2 layernorms                =       512</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  FFN  128×512 + 512×128      =   131,712</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  one block                   =   197,760</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  × 4 layers                  =   791,040</a:t>
            </a:r>
            <a:endParaRPr lang="en-US" sz="1000" dirty="0"/>
          </a:p>
          <a:p>
            <a:pPr indent="0" marL="0">
              <a:buNone/>
            </a:pP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final layernorm               =       256</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LM head (tied)                =         0</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0203A"/>
                </a:solidFill>
                <a:latin typeface="Courier New" pitchFamily="34" charset="0"/>
                <a:ea typeface="Courier New" pitchFamily="34" charset="-122"/>
                <a:cs typeface="Courier New" pitchFamily="34" charset="-120"/>
              </a:rPr>
              <a:t>TOTAL                           1,331,968</a:t>
            </a:r>
            <a:endParaRPr lang="en-US" sz="1000" dirty="0"/>
          </a:p>
        </p:txBody>
      </p:sp>
      <p:sp>
        <p:nvSpPr>
          <p:cNvPr id="46" name="Shape 44"/>
          <p:cNvSpPr/>
          <p:nvPr/>
        </p:nvSpPr>
        <p:spPr>
          <a:xfrm>
            <a:off x="6400800" y="5257800"/>
            <a:ext cx="5212080" cy="640080"/>
          </a:xfrm>
          <a:prstGeom prst="roundRect">
            <a:avLst>
              <a:gd name="adj" fmla="val 10000"/>
            </a:avLst>
          </a:prstGeom>
          <a:solidFill>
            <a:srgbClr val="E4F1EA"/>
          </a:solidFill>
          <a:ln w="12700">
            <a:solidFill>
              <a:srgbClr val="D6DEEA"/>
            </a:solidFill>
            <a:prstDash val="solid"/>
          </a:ln>
        </p:spPr>
      </p:sp>
      <p:sp>
        <p:nvSpPr>
          <p:cNvPr id="47" name="Text 45"/>
          <p:cNvSpPr/>
          <p:nvPr/>
        </p:nvSpPr>
        <p:spPr>
          <a:xfrm>
            <a:off x="6400800" y="5257800"/>
            <a:ext cx="5212080" cy="640080"/>
          </a:xfrm>
          <a:prstGeom prst="rect">
            <a:avLst/>
          </a:prstGeom>
          <a:noFill/>
          <a:ln/>
        </p:spPr>
        <p:txBody>
          <a:bodyPr wrap="square" lIns="0" tIns="0" rIns="0" bIns="0" rtlCol="0" anchor="ctr"/>
          <a:lstStyle/>
          <a:p>
            <a:pPr algn="ctr" indent="0" marL="0">
              <a:buNone/>
            </a:pPr>
            <a:r>
              <a:rPr lang="en-US" sz="1100" dirty="0">
                <a:solidFill>
                  <a:srgbClr val="146049"/>
                </a:solidFill>
                <a:latin typeface="Calibri" pitchFamily="34" charset="0"/>
                <a:ea typeface="Calibri" pitchFamily="34" charset="-122"/>
                <a:cs typeface="Calibri" pitchFamily="34" charset="-120"/>
              </a:rPr>
              <a:t>A unit test recomputes this from the config file and asserts it equals 1,331,968.</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Training setup</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Hyperparameters, and how the learning rate was chosen.</a:t>
            </a:r>
            <a:endParaRPr lang="en-US" sz="1350" dirty="0"/>
          </a:p>
        </p:txBody>
      </p:sp>
      <p:sp>
        <p:nvSpPr>
          <p:cNvPr id="4" name="Shape 2"/>
          <p:cNvSpPr/>
          <p:nvPr/>
        </p:nvSpPr>
        <p:spPr>
          <a:xfrm>
            <a:off x="548640" y="1572768"/>
            <a:ext cx="5577840" cy="384048"/>
          </a:xfrm>
          <a:prstGeom prst="rect">
            <a:avLst/>
          </a:prstGeom>
          <a:solidFill>
            <a:srgbClr val="F1F4F9"/>
          </a:solidFill>
          <a:ln w="9525">
            <a:solidFill>
              <a:srgbClr val="D6DEEA"/>
            </a:solidFill>
            <a:prstDash val="solid"/>
          </a:ln>
        </p:spPr>
      </p:sp>
      <p:sp>
        <p:nvSpPr>
          <p:cNvPr id="5" name="Text 3"/>
          <p:cNvSpPr/>
          <p:nvPr/>
        </p:nvSpPr>
        <p:spPr>
          <a:xfrm>
            <a:off x="621792" y="1572768"/>
            <a:ext cx="2048256" cy="384048"/>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Setting</a:t>
            </a:r>
            <a:endParaRPr lang="en-US" sz="950" dirty="0"/>
          </a:p>
        </p:txBody>
      </p:sp>
      <p:sp>
        <p:nvSpPr>
          <p:cNvPr id="6" name="Text 4"/>
          <p:cNvSpPr/>
          <p:nvPr/>
        </p:nvSpPr>
        <p:spPr>
          <a:xfrm>
            <a:off x="2816352" y="1572768"/>
            <a:ext cx="3236976" cy="384048"/>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Value</a:t>
            </a:r>
            <a:endParaRPr lang="en-US" sz="950" dirty="0"/>
          </a:p>
        </p:txBody>
      </p:sp>
      <p:sp>
        <p:nvSpPr>
          <p:cNvPr id="7" name="Shape 5"/>
          <p:cNvSpPr/>
          <p:nvPr/>
        </p:nvSpPr>
        <p:spPr>
          <a:xfrm>
            <a:off x="548640" y="1956816"/>
            <a:ext cx="5577840" cy="384048"/>
          </a:xfrm>
          <a:prstGeom prst="rect">
            <a:avLst/>
          </a:prstGeom>
          <a:solidFill>
            <a:srgbClr val="FFFFFF"/>
          </a:solidFill>
          <a:ln w="9525">
            <a:solidFill>
              <a:srgbClr val="D6DEEA"/>
            </a:solidFill>
            <a:prstDash val="solid"/>
          </a:ln>
        </p:spPr>
      </p:sp>
      <p:sp>
        <p:nvSpPr>
          <p:cNvPr id="8" name="Text 6"/>
          <p:cNvSpPr/>
          <p:nvPr/>
        </p:nvSpPr>
        <p:spPr>
          <a:xfrm>
            <a:off x="621792" y="1956816"/>
            <a:ext cx="204825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Optimizer</a:t>
            </a:r>
            <a:endParaRPr lang="en-US" sz="1050" dirty="0"/>
          </a:p>
        </p:txBody>
      </p:sp>
      <p:sp>
        <p:nvSpPr>
          <p:cNvPr id="9" name="Text 7"/>
          <p:cNvSpPr/>
          <p:nvPr/>
        </p:nvSpPr>
        <p:spPr>
          <a:xfrm>
            <a:off x="2816352" y="1956816"/>
            <a:ext cx="3236976" cy="384048"/>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AdamW  β(0.9, 0.95)</a:t>
            </a:r>
            <a:endParaRPr lang="en-US" sz="1050" dirty="0"/>
          </a:p>
        </p:txBody>
      </p:sp>
      <p:sp>
        <p:nvSpPr>
          <p:cNvPr id="10" name="Shape 8"/>
          <p:cNvSpPr/>
          <p:nvPr/>
        </p:nvSpPr>
        <p:spPr>
          <a:xfrm>
            <a:off x="548640" y="2340864"/>
            <a:ext cx="5577840" cy="384048"/>
          </a:xfrm>
          <a:prstGeom prst="rect">
            <a:avLst/>
          </a:prstGeom>
          <a:solidFill>
            <a:srgbClr val="FFFFFF"/>
          </a:solidFill>
          <a:ln w="9525">
            <a:solidFill>
              <a:srgbClr val="D6DEEA"/>
            </a:solidFill>
            <a:prstDash val="solid"/>
          </a:ln>
        </p:spPr>
      </p:sp>
      <p:sp>
        <p:nvSpPr>
          <p:cNvPr id="11" name="Text 9"/>
          <p:cNvSpPr/>
          <p:nvPr/>
        </p:nvSpPr>
        <p:spPr>
          <a:xfrm>
            <a:off x="621792" y="2340864"/>
            <a:ext cx="204825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Weight decay</a:t>
            </a:r>
            <a:endParaRPr lang="en-US" sz="1050" dirty="0"/>
          </a:p>
        </p:txBody>
      </p:sp>
      <p:sp>
        <p:nvSpPr>
          <p:cNvPr id="12" name="Text 10"/>
          <p:cNvSpPr/>
          <p:nvPr/>
        </p:nvSpPr>
        <p:spPr>
          <a:xfrm>
            <a:off x="2816352" y="2340864"/>
            <a:ext cx="3236976" cy="384048"/>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0.1  (excl. LayerNorm, bias, embeddings)</a:t>
            </a:r>
            <a:endParaRPr lang="en-US" sz="1050" dirty="0"/>
          </a:p>
        </p:txBody>
      </p:sp>
      <p:sp>
        <p:nvSpPr>
          <p:cNvPr id="13" name="Shape 11"/>
          <p:cNvSpPr/>
          <p:nvPr/>
        </p:nvSpPr>
        <p:spPr>
          <a:xfrm>
            <a:off x="548640" y="2724912"/>
            <a:ext cx="5577840" cy="384048"/>
          </a:xfrm>
          <a:prstGeom prst="rect">
            <a:avLst/>
          </a:prstGeom>
          <a:solidFill>
            <a:srgbClr val="FFFFFF"/>
          </a:solidFill>
          <a:ln w="9525">
            <a:solidFill>
              <a:srgbClr val="D6DEEA"/>
            </a:solidFill>
            <a:prstDash val="solid"/>
          </a:ln>
        </p:spPr>
      </p:sp>
      <p:sp>
        <p:nvSpPr>
          <p:cNvPr id="14" name="Text 12"/>
          <p:cNvSpPr/>
          <p:nvPr/>
        </p:nvSpPr>
        <p:spPr>
          <a:xfrm>
            <a:off x="621792" y="2724912"/>
            <a:ext cx="204825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Peak learning rate</a:t>
            </a:r>
            <a:endParaRPr lang="en-US" sz="1050" dirty="0"/>
          </a:p>
        </p:txBody>
      </p:sp>
      <p:sp>
        <p:nvSpPr>
          <p:cNvPr id="15" name="Text 13"/>
          <p:cNvSpPr/>
          <p:nvPr/>
        </p:nvSpPr>
        <p:spPr>
          <a:xfrm>
            <a:off x="2816352" y="2724912"/>
            <a:ext cx="3236976" cy="384048"/>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3e-3</a:t>
            </a:r>
            <a:endParaRPr lang="en-US" sz="1050" dirty="0"/>
          </a:p>
        </p:txBody>
      </p:sp>
      <p:sp>
        <p:nvSpPr>
          <p:cNvPr id="16" name="Shape 14"/>
          <p:cNvSpPr/>
          <p:nvPr/>
        </p:nvSpPr>
        <p:spPr>
          <a:xfrm>
            <a:off x="548640" y="3108960"/>
            <a:ext cx="5577840" cy="384048"/>
          </a:xfrm>
          <a:prstGeom prst="rect">
            <a:avLst/>
          </a:prstGeom>
          <a:solidFill>
            <a:srgbClr val="FFFFFF"/>
          </a:solidFill>
          <a:ln w="9525">
            <a:solidFill>
              <a:srgbClr val="D6DEEA"/>
            </a:solidFill>
            <a:prstDash val="solid"/>
          </a:ln>
        </p:spPr>
      </p:sp>
      <p:sp>
        <p:nvSpPr>
          <p:cNvPr id="17" name="Text 15"/>
          <p:cNvSpPr/>
          <p:nvPr/>
        </p:nvSpPr>
        <p:spPr>
          <a:xfrm>
            <a:off x="621792" y="3108960"/>
            <a:ext cx="204825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Schedule</a:t>
            </a:r>
            <a:endParaRPr lang="en-US" sz="1050" dirty="0"/>
          </a:p>
        </p:txBody>
      </p:sp>
      <p:sp>
        <p:nvSpPr>
          <p:cNvPr id="18" name="Text 16"/>
          <p:cNvSpPr/>
          <p:nvPr/>
        </p:nvSpPr>
        <p:spPr>
          <a:xfrm>
            <a:off x="2816352" y="3108960"/>
            <a:ext cx="3236976" cy="384048"/>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5% warmup → cosine → 3e-4</a:t>
            </a:r>
            <a:endParaRPr lang="en-US" sz="1050" dirty="0"/>
          </a:p>
        </p:txBody>
      </p:sp>
      <p:sp>
        <p:nvSpPr>
          <p:cNvPr id="19" name="Shape 17"/>
          <p:cNvSpPr/>
          <p:nvPr/>
        </p:nvSpPr>
        <p:spPr>
          <a:xfrm>
            <a:off x="548640" y="3493008"/>
            <a:ext cx="5577840" cy="384048"/>
          </a:xfrm>
          <a:prstGeom prst="rect">
            <a:avLst/>
          </a:prstGeom>
          <a:solidFill>
            <a:srgbClr val="FFFFFF"/>
          </a:solidFill>
          <a:ln w="9525">
            <a:solidFill>
              <a:srgbClr val="D6DEEA"/>
            </a:solidFill>
            <a:prstDash val="solid"/>
          </a:ln>
        </p:spPr>
      </p:sp>
      <p:sp>
        <p:nvSpPr>
          <p:cNvPr id="20" name="Text 18"/>
          <p:cNvSpPr/>
          <p:nvPr/>
        </p:nvSpPr>
        <p:spPr>
          <a:xfrm>
            <a:off x="621792" y="3493008"/>
            <a:ext cx="204825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Gradient clipping</a:t>
            </a:r>
            <a:endParaRPr lang="en-US" sz="1050" dirty="0"/>
          </a:p>
        </p:txBody>
      </p:sp>
      <p:sp>
        <p:nvSpPr>
          <p:cNvPr id="21" name="Text 19"/>
          <p:cNvSpPr/>
          <p:nvPr/>
        </p:nvSpPr>
        <p:spPr>
          <a:xfrm>
            <a:off x="2816352" y="3493008"/>
            <a:ext cx="3236976" cy="384048"/>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1.0 global norm</a:t>
            </a:r>
            <a:endParaRPr lang="en-US" sz="1050" dirty="0"/>
          </a:p>
        </p:txBody>
      </p:sp>
      <p:sp>
        <p:nvSpPr>
          <p:cNvPr id="22" name="Shape 20"/>
          <p:cNvSpPr/>
          <p:nvPr/>
        </p:nvSpPr>
        <p:spPr>
          <a:xfrm>
            <a:off x="548640" y="3877056"/>
            <a:ext cx="5577840" cy="384048"/>
          </a:xfrm>
          <a:prstGeom prst="rect">
            <a:avLst/>
          </a:prstGeom>
          <a:solidFill>
            <a:srgbClr val="FFFFFF"/>
          </a:solidFill>
          <a:ln w="9525">
            <a:solidFill>
              <a:srgbClr val="D6DEEA"/>
            </a:solidFill>
            <a:prstDash val="solid"/>
          </a:ln>
        </p:spPr>
      </p:sp>
      <p:sp>
        <p:nvSpPr>
          <p:cNvPr id="23" name="Text 21"/>
          <p:cNvSpPr/>
          <p:nvPr/>
        </p:nvSpPr>
        <p:spPr>
          <a:xfrm>
            <a:off x="621792" y="3877056"/>
            <a:ext cx="204825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Batch × context</a:t>
            </a:r>
            <a:endParaRPr lang="en-US" sz="1050" dirty="0"/>
          </a:p>
        </p:txBody>
      </p:sp>
      <p:sp>
        <p:nvSpPr>
          <p:cNvPr id="24" name="Text 22"/>
          <p:cNvSpPr/>
          <p:nvPr/>
        </p:nvSpPr>
        <p:spPr>
          <a:xfrm>
            <a:off x="2816352" y="3877056"/>
            <a:ext cx="3236976" cy="384048"/>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64 × 128 = 8,192 tokens/step</a:t>
            </a:r>
            <a:endParaRPr lang="en-US" sz="1050" dirty="0"/>
          </a:p>
        </p:txBody>
      </p:sp>
      <p:sp>
        <p:nvSpPr>
          <p:cNvPr id="25" name="Shape 23"/>
          <p:cNvSpPr/>
          <p:nvPr/>
        </p:nvSpPr>
        <p:spPr>
          <a:xfrm>
            <a:off x="548640" y="4261104"/>
            <a:ext cx="5577840" cy="384048"/>
          </a:xfrm>
          <a:prstGeom prst="rect">
            <a:avLst/>
          </a:prstGeom>
          <a:solidFill>
            <a:srgbClr val="FFFFFF"/>
          </a:solidFill>
          <a:ln w="9525">
            <a:solidFill>
              <a:srgbClr val="D6DEEA"/>
            </a:solidFill>
            <a:prstDash val="solid"/>
          </a:ln>
        </p:spPr>
      </p:sp>
      <p:sp>
        <p:nvSpPr>
          <p:cNvPr id="26" name="Text 24"/>
          <p:cNvSpPr/>
          <p:nvPr/>
        </p:nvSpPr>
        <p:spPr>
          <a:xfrm>
            <a:off x="621792" y="4261104"/>
            <a:ext cx="204825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Steps</a:t>
            </a:r>
            <a:endParaRPr lang="en-US" sz="1050" dirty="0"/>
          </a:p>
        </p:txBody>
      </p:sp>
      <p:sp>
        <p:nvSpPr>
          <p:cNvPr id="27" name="Text 25"/>
          <p:cNvSpPr/>
          <p:nvPr/>
        </p:nvSpPr>
        <p:spPr>
          <a:xfrm>
            <a:off x="2816352" y="4261104"/>
            <a:ext cx="3236976" cy="384048"/>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6,100</a:t>
            </a:r>
            <a:endParaRPr lang="en-US" sz="1050" dirty="0"/>
          </a:p>
        </p:txBody>
      </p:sp>
      <p:sp>
        <p:nvSpPr>
          <p:cNvPr id="28" name="Shape 26"/>
          <p:cNvSpPr/>
          <p:nvPr/>
        </p:nvSpPr>
        <p:spPr>
          <a:xfrm>
            <a:off x="548640" y="4645152"/>
            <a:ext cx="5577840" cy="384048"/>
          </a:xfrm>
          <a:prstGeom prst="rect">
            <a:avLst/>
          </a:prstGeom>
          <a:solidFill>
            <a:srgbClr val="FFFFFF"/>
          </a:solidFill>
          <a:ln w="9525">
            <a:solidFill>
              <a:srgbClr val="D6DEEA"/>
            </a:solidFill>
            <a:prstDash val="solid"/>
          </a:ln>
        </p:spPr>
      </p:sp>
      <p:sp>
        <p:nvSpPr>
          <p:cNvPr id="29" name="Text 27"/>
          <p:cNvSpPr/>
          <p:nvPr/>
        </p:nvSpPr>
        <p:spPr>
          <a:xfrm>
            <a:off x="621792" y="4645152"/>
            <a:ext cx="204825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Precision</a:t>
            </a:r>
            <a:endParaRPr lang="en-US" sz="1050" dirty="0"/>
          </a:p>
        </p:txBody>
      </p:sp>
      <p:sp>
        <p:nvSpPr>
          <p:cNvPr id="30" name="Text 28"/>
          <p:cNvSpPr/>
          <p:nvPr/>
        </p:nvSpPr>
        <p:spPr>
          <a:xfrm>
            <a:off x="2816352" y="4645152"/>
            <a:ext cx="3236976" cy="384048"/>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fp16 + GradScaler</a:t>
            </a:r>
            <a:endParaRPr lang="en-US" sz="1050" dirty="0"/>
          </a:p>
        </p:txBody>
      </p:sp>
      <p:sp>
        <p:nvSpPr>
          <p:cNvPr id="31" name="Shape 29"/>
          <p:cNvSpPr/>
          <p:nvPr/>
        </p:nvSpPr>
        <p:spPr>
          <a:xfrm>
            <a:off x="548640" y="5029200"/>
            <a:ext cx="5577840" cy="384048"/>
          </a:xfrm>
          <a:prstGeom prst="rect">
            <a:avLst/>
          </a:prstGeom>
          <a:solidFill>
            <a:srgbClr val="FFFFFF"/>
          </a:solidFill>
          <a:ln w="9525">
            <a:solidFill>
              <a:srgbClr val="D6DEEA"/>
            </a:solidFill>
            <a:prstDash val="solid"/>
          </a:ln>
        </p:spPr>
      </p:sp>
      <p:sp>
        <p:nvSpPr>
          <p:cNvPr id="32" name="Text 30"/>
          <p:cNvSpPr/>
          <p:nvPr/>
        </p:nvSpPr>
        <p:spPr>
          <a:xfrm>
            <a:off x="621792" y="5029200"/>
            <a:ext cx="204825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Seed</a:t>
            </a:r>
            <a:endParaRPr lang="en-US" sz="1050" dirty="0"/>
          </a:p>
        </p:txBody>
      </p:sp>
      <p:sp>
        <p:nvSpPr>
          <p:cNvPr id="33" name="Text 31"/>
          <p:cNvSpPr/>
          <p:nvPr/>
        </p:nvSpPr>
        <p:spPr>
          <a:xfrm>
            <a:off x="2816352" y="5029200"/>
            <a:ext cx="3236976" cy="384048"/>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1337</a:t>
            </a:r>
            <a:endParaRPr lang="en-US" sz="1050" dirty="0"/>
          </a:p>
        </p:txBody>
      </p:sp>
      <p:sp>
        <p:nvSpPr>
          <p:cNvPr id="34" name="Text 32"/>
          <p:cNvSpPr/>
          <p:nvPr/>
        </p:nvSpPr>
        <p:spPr>
          <a:xfrm>
            <a:off x="6400800" y="1572768"/>
            <a:ext cx="5212080" cy="274320"/>
          </a:xfrm>
          <a:prstGeom prst="rect">
            <a:avLst/>
          </a:prstGeom>
          <a:noFill/>
          <a:ln/>
        </p:spPr>
        <p:txBody>
          <a:bodyPr wrap="square" lIns="0" tIns="0" rIns="0" bIns="0" rtlCol="0" anchor="ctr"/>
          <a:lstStyle/>
          <a:p>
            <a:pPr indent="0" marL="0">
              <a:buNone/>
            </a:pPr>
            <a:r>
              <a:rPr lang="en-US" sz="1400" b="1" dirty="0">
                <a:solidFill>
                  <a:srgbClr val="10203A"/>
                </a:solidFill>
                <a:latin typeface="Calibri" pitchFamily="34" charset="0"/>
                <a:ea typeface="Calibri" pitchFamily="34" charset="-122"/>
                <a:cs typeface="Calibri" pitchFamily="34" charset="-120"/>
              </a:rPr>
              <a:t>Learning rate chosen by experiment</a:t>
            </a:r>
            <a:endParaRPr lang="en-US" sz="1400" dirty="0"/>
          </a:p>
        </p:txBody>
      </p:sp>
      <p:sp>
        <p:nvSpPr>
          <p:cNvPr id="35" name="Shape 33"/>
          <p:cNvSpPr/>
          <p:nvPr/>
        </p:nvSpPr>
        <p:spPr>
          <a:xfrm>
            <a:off x="6400800" y="1920240"/>
            <a:ext cx="5212080" cy="310896"/>
          </a:xfrm>
          <a:prstGeom prst="rect">
            <a:avLst/>
          </a:prstGeom>
          <a:solidFill>
            <a:srgbClr val="F1F4F9"/>
          </a:solidFill>
          <a:ln w="9525">
            <a:solidFill>
              <a:srgbClr val="D6DEEA"/>
            </a:solidFill>
            <a:prstDash val="solid"/>
          </a:ln>
        </p:spPr>
      </p:sp>
      <p:sp>
        <p:nvSpPr>
          <p:cNvPr id="36" name="Text 34"/>
          <p:cNvSpPr/>
          <p:nvPr/>
        </p:nvSpPr>
        <p:spPr>
          <a:xfrm>
            <a:off x="6473952" y="1920240"/>
            <a:ext cx="1499616" cy="310896"/>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Learning rate</a:t>
            </a:r>
            <a:endParaRPr lang="en-US" sz="950" dirty="0"/>
          </a:p>
        </p:txBody>
      </p:sp>
      <p:sp>
        <p:nvSpPr>
          <p:cNvPr id="37" name="Text 35"/>
          <p:cNvSpPr/>
          <p:nvPr/>
        </p:nvSpPr>
        <p:spPr>
          <a:xfrm>
            <a:off x="8119872" y="1920240"/>
            <a:ext cx="1956816" cy="310896"/>
          </a:xfrm>
          <a:prstGeom prst="rect">
            <a:avLst/>
          </a:prstGeom>
          <a:noFill/>
          <a:ln/>
        </p:spPr>
        <p:txBody>
          <a:bodyPr wrap="square" lIns="0" tIns="0" rIns="0" bIns="0" rtlCol="0" anchor="ctr"/>
          <a:lstStyle/>
          <a:p>
            <a:pPr algn="r" indent="0" marL="0">
              <a:buNone/>
            </a:pPr>
            <a:r>
              <a:rPr lang="en-US" sz="950" b="1" dirty="0">
                <a:solidFill>
                  <a:srgbClr val="5A6478"/>
                </a:solidFill>
                <a:latin typeface="Calibri" pitchFamily="34" charset="0"/>
                <a:ea typeface="Calibri" pitchFamily="34" charset="-122"/>
                <a:cs typeface="Calibri" pitchFamily="34" charset="-120"/>
              </a:rPr>
              <a:t>Val loss @ 200 steps</a:t>
            </a:r>
            <a:endParaRPr lang="en-US" sz="950" dirty="0"/>
          </a:p>
        </p:txBody>
      </p:sp>
      <p:sp>
        <p:nvSpPr>
          <p:cNvPr id="38" name="Text 36"/>
          <p:cNvSpPr/>
          <p:nvPr/>
        </p:nvSpPr>
        <p:spPr>
          <a:xfrm>
            <a:off x="10222992" y="1920240"/>
            <a:ext cx="1316736" cy="310896"/>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Verdict</a:t>
            </a:r>
            <a:endParaRPr lang="en-US" sz="950" dirty="0"/>
          </a:p>
        </p:txBody>
      </p:sp>
      <p:sp>
        <p:nvSpPr>
          <p:cNvPr id="39" name="Shape 37"/>
          <p:cNvSpPr/>
          <p:nvPr/>
        </p:nvSpPr>
        <p:spPr>
          <a:xfrm>
            <a:off x="6400800" y="2231136"/>
            <a:ext cx="5212080" cy="310896"/>
          </a:xfrm>
          <a:prstGeom prst="rect">
            <a:avLst/>
          </a:prstGeom>
          <a:solidFill>
            <a:srgbClr val="FFFFFF"/>
          </a:solidFill>
          <a:ln w="9525">
            <a:solidFill>
              <a:srgbClr val="D6DEEA"/>
            </a:solidFill>
            <a:prstDash val="solid"/>
          </a:ln>
        </p:spPr>
      </p:sp>
      <p:sp>
        <p:nvSpPr>
          <p:cNvPr id="40" name="Text 38"/>
          <p:cNvSpPr/>
          <p:nvPr/>
        </p:nvSpPr>
        <p:spPr>
          <a:xfrm>
            <a:off x="6473952" y="2231136"/>
            <a:ext cx="1499616" cy="310896"/>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5e-4</a:t>
            </a:r>
            <a:endParaRPr lang="en-US" sz="1050" dirty="0"/>
          </a:p>
        </p:txBody>
      </p:sp>
      <p:sp>
        <p:nvSpPr>
          <p:cNvPr id="41" name="Text 39"/>
          <p:cNvSpPr/>
          <p:nvPr/>
        </p:nvSpPr>
        <p:spPr>
          <a:xfrm>
            <a:off x="8119872" y="2231136"/>
            <a:ext cx="1956816" cy="310896"/>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4.6537</a:t>
            </a:r>
            <a:endParaRPr lang="en-US" sz="1050" dirty="0"/>
          </a:p>
        </p:txBody>
      </p:sp>
      <p:sp>
        <p:nvSpPr>
          <p:cNvPr id="42" name="Text 40"/>
          <p:cNvSpPr/>
          <p:nvPr/>
        </p:nvSpPr>
        <p:spPr>
          <a:xfrm>
            <a:off x="10222992" y="2231136"/>
            <a:ext cx="131673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stable, slow</a:t>
            </a:r>
            <a:endParaRPr lang="en-US" sz="1050" dirty="0"/>
          </a:p>
        </p:txBody>
      </p:sp>
      <p:sp>
        <p:nvSpPr>
          <p:cNvPr id="43" name="Shape 41"/>
          <p:cNvSpPr/>
          <p:nvPr/>
        </p:nvSpPr>
        <p:spPr>
          <a:xfrm>
            <a:off x="6400800" y="2542032"/>
            <a:ext cx="5212080" cy="310896"/>
          </a:xfrm>
          <a:prstGeom prst="rect">
            <a:avLst/>
          </a:prstGeom>
          <a:solidFill>
            <a:srgbClr val="FFFFFF"/>
          </a:solidFill>
          <a:ln w="9525">
            <a:solidFill>
              <a:srgbClr val="D6DEEA"/>
            </a:solidFill>
            <a:prstDash val="solid"/>
          </a:ln>
        </p:spPr>
      </p:sp>
      <p:sp>
        <p:nvSpPr>
          <p:cNvPr id="44" name="Text 42"/>
          <p:cNvSpPr/>
          <p:nvPr/>
        </p:nvSpPr>
        <p:spPr>
          <a:xfrm>
            <a:off x="6473952" y="2542032"/>
            <a:ext cx="1499616" cy="310896"/>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1e-3</a:t>
            </a:r>
            <a:endParaRPr lang="en-US" sz="1050" dirty="0"/>
          </a:p>
        </p:txBody>
      </p:sp>
      <p:sp>
        <p:nvSpPr>
          <p:cNvPr id="45" name="Text 43"/>
          <p:cNvSpPr/>
          <p:nvPr/>
        </p:nvSpPr>
        <p:spPr>
          <a:xfrm>
            <a:off x="8119872" y="2542032"/>
            <a:ext cx="1956816" cy="310896"/>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4.2026</a:t>
            </a:r>
            <a:endParaRPr lang="en-US" sz="1050" dirty="0"/>
          </a:p>
        </p:txBody>
      </p:sp>
      <p:sp>
        <p:nvSpPr>
          <p:cNvPr id="46" name="Text 44"/>
          <p:cNvSpPr/>
          <p:nvPr/>
        </p:nvSpPr>
        <p:spPr>
          <a:xfrm>
            <a:off x="10222992" y="2542032"/>
            <a:ext cx="131673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stable</a:t>
            </a:r>
            <a:endParaRPr lang="en-US" sz="1050" dirty="0"/>
          </a:p>
        </p:txBody>
      </p:sp>
      <p:sp>
        <p:nvSpPr>
          <p:cNvPr id="47" name="Shape 45"/>
          <p:cNvSpPr/>
          <p:nvPr/>
        </p:nvSpPr>
        <p:spPr>
          <a:xfrm>
            <a:off x="6400800" y="2852928"/>
            <a:ext cx="5212080" cy="310896"/>
          </a:xfrm>
          <a:prstGeom prst="rect">
            <a:avLst/>
          </a:prstGeom>
          <a:solidFill>
            <a:srgbClr val="E4F1EA"/>
          </a:solidFill>
          <a:ln w="9525">
            <a:solidFill>
              <a:srgbClr val="D6DEEA"/>
            </a:solidFill>
            <a:prstDash val="solid"/>
          </a:ln>
        </p:spPr>
      </p:sp>
      <p:sp>
        <p:nvSpPr>
          <p:cNvPr id="48" name="Text 46"/>
          <p:cNvSpPr/>
          <p:nvPr/>
        </p:nvSpPr>
        <p:spPr>
          <a:xfrm>
            <a:off x="6473952" y="2852928"/>
            <a:ext cx="1499616" cy="310896"/>
          </a:xfrm>
          <a:prstGeom prst="rect">
            <a:avLst/>
          </a:prstGeom>
          <a:noFill/>
          <a:ln/>
        </p:spPr>
        <p:txBody>
          <a:bodyPr wrap="square" lIns="0" tIns="0" rIns="0" bIns="0" rtlCol="0" anchor="ctr"/>
          <a:lstStyle/>
          <a:p>
            <a:pPr algn="l" indent="0" marL="0">
              <a:buNone/>
            </a:pPr>
            <a:r>
              <a:rPr lang="en-US" sz="1050" dirty="0">
                <a:solidFill>
                  <a:srgbClr val="10203A"/>
                </a:solidFill>
                <a:latin typeface="Courier New" pitchFamily="34" charset="0"/>
                <a:ea typeface="Courier New" pitchFamily="34" charset="-122"/>
                <a:cs typeface="Courier New" pitchFamily="34" charset="-120"/>
              </a:rPr>
              <a:t>3e-3</a:t>
            </a:r>
            <a:endParaRPr lang="en-US" sz="1050" dirty="0"/>
          </a:p>
        </p:txBody>
      </p:sp>
      <p:sp>
        <p:nvSpPr>
          <p:cNvPr id="49" name="Text 47"/>
          <p:cNvSpPr/>
          <p:nvPr/>
        </p:nvSpPr>
        <p:spPr>
          <a:xfrm>
            <a:off x="8119872" y="2852928"/>
            <a:ext cx="1956816" cy="310896"/>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3.8820</a:t>
            </a:r>
            <a:endParaRPr lang="en-US" sz="1050" dirty="0"/>
          </a:p>
        </p:txBody>
      </p:sp>
      <p:sp>
        <p:nvSpPr>
          <p:cNvPr id="50" name="Text 48"/>
          <p:cNvSpPr/>
          <p:nvPr/>
        </p:nvSpPr>
        <p:spPr>
          <a:xfrm>
            <a:off x="10222992" y="2852928"/>
            <a:ext cx="1316736" cy="310896"/>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selected</a:t>
            </a:r>
            <a:endParaRPr lang="en-US" sz="1050" dirty="0"/>
          </a:p>
        </p:txBody>
      </p:sp>
      <p:sp>
        <p:nvSpPr>
          <p:cNvPr id="51" name="Shape 49"/>
          <p:cNvSpPr/>
          <p:nvPr/>
        </p:nvSpPr>
        <p:spPr>
          <a:xfrm>
            <a:off x="6400800" y="3429000"/>
            <a:ext cx="5212080" cy="1234440"/>
          </a:xfrm>
          <a:prstGeom prst="roundRect">
            <a:avLst>
              <a:gd name="adj" fmla="val 5185"/>
            </a:avLst>
          </a:prstGeom>
          <a:solidFill>
            <a:srgbClr val="FBF0E4"/>
          </a:solidFill>
          <a:ln w="12700">
            <a:solidFill>
              <a:srgbClr val="D6DEEA"/>
            </a:solidFill>
            <a:prstDash val="solid"/>
          </a:ln>
        </p:spPr>
      </p:sp>
      <p:sp>
        <p:nvSpPr>
          <p:cNvPr id="52" name="Text 50"/>
          <p:cNvSpPr/>
          <p:nvPr/>
        </p:nvSpPr>
        <p:spPr>
          <a:xfrm>
            <a:off x="6675120" y="3566160"/>
            <a:ext cx="4663440" cy="256032"/>
          </a:xfrm>
          <a:prstGeom prst="rect">
            <a:avLst/>
          </a:prstGeom>
          <a:noFill/>
          <a:ln/>
        </p:spPr>
        <p:txBody>
          <a:bodyPr wrap="square" lIns="0" tIns="0" rIns="0" bIns="0" rtlCol="0" anchor="ctr"/>
          <a:lstStyle/>
          <a:p>
            <a:pPr indent="0" marL="0">
              <a:buNone/>
            </a:pPr>
            <a:r>
              <a:rPr lang="en-US" sz="1250" b="1" dirty="0">
                <a:solidFill>
                  <a:srgbClr val="B4610F"/>
                </a:solidFill>
                <a:latin typeface="Calibri" pitchFamily="34" charset="0"/>
                <a:ea typeface="Calibri" pitchFamily="34" charset="-122"/>
                <a:cs typeface="Calibri" pitchFamily="34" charset="-120"/>
              </a:rPr>
              <a:t>Why fp16 and not bf16</a:t>
            </a:r>
            <a:endParaRPr lang="en-US" sz="1250" dirty="0"/>
          </a:p>
        </p:txBody>
      </p:sp>
      <p:sp>
        <p:nvSpPr>
          <p:cNvPr id="53" name="Text 51"/>
          <p:cNvSpPr/>
          <p:nvPr/>
        </p:nvSpPr>
        <p:spPr>
          <a:xfrm>
            <a:off x="6675120" y="3840480"/>
            <a:ext cx="4663440" cy="777240"/>
          </a:xfrm>
          <a:prstGeom prst="rect">
            <a:avLst/>
          </a:prstGeom>
          <a:noFill/>
          <a:ln/>
        </p:spPr>
        <p:txBody>
          <a:bodyPr wrap="square" lIns="0" tIns="0" rIns="0" bIns="0" rtlCol="0" anchor="t"/>
          <a:lstStyle/>
          <a:p>
            <a:pPr indent="0" marL="0">
              <a:buNone/>
            </a:pPr>
            <a:r>
              <a:rPr lang="en-US" sz="1050" dirty="0">
                <a:solidFill>
                  <a:srgbClr val="6B3D10"/>
                </a:solidFill>
                <a:latin typeface="Calibri" pitchFamily="34" charset="0"/>
                <a:ea typeface="Calibri" pitchFamily="34" charset="-122"/>
                <a:cs typeface="Calibri" pitchFamily="34" charset="-120"/>
              </a:rPr>
              <a:t>bf16 needs an Ampere GPU. The T4 is Turing. fp16 gradients underflow to zero, so a GradScaler is mandatory — and clipping must come AFTER unscaling, or it never fires.</a:t>
            </a:r>
            <a:endParaRPr lang="en-US" sz="1050" dirty="0"/>
          </a:p>
        </p:txBody>
      </p:sp>
      <p:sp>
        <p:nvSpPr>
          <p:cNvPr id="54" name="Text 52"/>
          <p:cNvSpPr/>
          <p:nvPr/>
        </p:nvSpPr>
        <p:spPr>
          <a:xfrm>
            <a:off x="6400800" y="4846320"/>
            <a:ext cx="2560320" cy="457200"/>
          </a:xfrm>
          <a:prstGeom prst="rect">
            <a:avLst/>
          </a:prstGeom>
          <a:noFill/>
          <a:ln/>
        </p:spPr>
        <p:txBody>
          <a:bodyPr wrap="square" lIns="0" tIns="0" rIns="0" bIns="0" rtlCol="0" anchor="t"/>
          <a:lstStyle/>
          <a:p>
            <a:pPr indent="0" marL="0">
              <a:buNone/>
            </a:pPr>
            <a:r>
              <a:rPr lang="en-US" sz="2400" b="1" dirty="0">
                <a:solidFill>
                  <a:srgbClr val="146049"/>
                </a:solidFill>
                <a:latin typeface="Courier New" pitchFamily="34" charset="0"/>
                <a:ea typeface="Courier New" pitchFamily="34" charset="-122"/>
                <a:cs typeface="Courier New" pitchFamily="34" charset="-120"/>
              </a:rPr>
              <a:t>Tesla T4</a:t>
            </a:r>
            <a:endParaRPr lang="en-US" sz="2400" dirty="0"/>
          </a:p>
        </p:txBody>
      </p:sp>
      <p:sp>
        <p:nvSpPr>
          <p:cNvPr id="55" name="Text 53"/>
          <p:cNvSpPr/>
          <p:nvPr/>
        </p:nvSpPr>
        <p:spPr>
          <a:xfrm>
            <a:off x="6400800" y="5303520"/>
            <a:ext cx="256032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GPU (free Colab)</a:t>
            </a:r>
            <a:endParaRPr lang="en-US" sz="1100" dirty="0"/>
          </a:p>
        </p:txBody>
      </p:sp>
      <p:sp>
        <p:nvSpPr>
          <p:cNvPr id="56" name="Text 54"/>
          <p:cNvSpPr/>
          <p:nvPr/>
        </p:nvSpPr>
        <p:spPr>
          <a:xfrm>
            <a:off x="9052560" y="4846320"/>
            <a:ext cx="2560320" cy="457200"/>
          </a:xfrm>
          <a:prstGeom prst="rect">
            <a:avLst/>
          </a:prstGeom>
          <a:noFill/>
          <a:ln/>
        </p:spPr>
        <p:txBody>
          <a:bodyPr wrap="square" lIns="0" tIns="0" rIns="0" bIns="0" rtlCol="0" anchor="t"/>
          <a:lstStyle/>
          <a:p>
            <a:pPr indent="0" marL="0">
              <a:buNone/>
            </a:pPr>
            <a:r>
              <a:rPr lang="en-US" sz="2400" b="1" dirty="0">
                <a:solidFill>
                  <a:srgbClr val="146049"/>
                </a:solidFill>
                <a:latin typeface="Courier New" pitchFamily="34" charset="0"/>
                <a:ea typeface="Courier New" pitchFamily="34" charset="-122"/>
                <a:cs typeface="Courier New" pitchFamily="34" charset="-120"/>
              </a:rPr>
              <a:t>0.83 GB</a:t>
            </a:r>
            <a:endParaRPr lang="en-US" sz="2400" dirty="0"/>
          </a:p>
        </p:txBody>
      </p:sp>
      <p:sp>
        <p:nvSpPr>
          <p:cNvPr id="57" name="Text 55"/>
          <p:cNvSpPr/>
          <p:nvPr/>
        </p:nvSpPr>
        <p:spPr>
          <a:xfrm>
            <a:off x="9052560" y="5303520"/>
            <a:ext cx="256032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peak VRAM of 15.4</a:t>
            </a:r>
            <a:endParaRPr lang="en-US" sz="1100" dirty="0"/>
          </a:p>
        </p:txBody>
      </p:sp>
      <p:sp>
        <p:nvSpPr>
          <p:cNvPr id="58" name="Text 56"/>
          <p:cNvSpPr/>
          <p:nvPr/>
        </p:nvSpPr>
        <p:spPr>
          <a:xfrm>
            <a:off x="6400800" y="5623560"/>
            <a:ext cx="2560320" cy="457200"/>
          </a:xfrm>
          <a:prstGeom prst="rect">
            <a:avLst/>
          </a:prstGeom>
          <a:noFill/>
          <a:ln/>
        </p:spPr>
        <p:txBody>
          <a:bodyPr wrap="square" lIns="0" tIns="0" rIns="0" bIns="0" rtlCol="0" anchor="t"/>
          <a:lstStyle/>
          <a:p>
            <a:pPr indent="0" marL="0">
              <a:buNone/>
            </a:pPr>
            <a:r>
              <a:rPr lang="en-US" sz="2400" b="1" dirty="0">
                <a:solidFill>
                  <a:srgbClr val="146049"/>
                </a:solidFill>
                <a:latin typeface="Courier New" pitchFamily="34" charset="0"/>
                <a:ea typeface="Courier New" pitchFamily="34" charset="-122"/>
                <a:cs typeface="Courier New" pitchFamily="34" charset="-120"/>
              </a:rPr>
              <a:t>320,128</a:t>
            </a:r>
            <a:endParaRPr lang="en-US" sz="2400" dirty="0"/>
          </a:p>
        </p:txBody>
      </p:sp>
      <p:sp>
        <p:nvSpPr>
          <p:cNvPr id="59" name="Text 57"/>
          <p:cNvSpPr/>
          <p:nvPr/>
        </p:nvSpPr>
        <p:spPr>
          <a:xfrm>
            <a:off x="6400800" y="6080760"/>
            <a:ext cx="256032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tokens / second</a:t>
            </a:r>
            <a:endParaRPr lang="en-US" sz="1100" dirty="0"/>
          </a:p>
        </p:txBody>
      </p:sp>
      <p:sp>
        <p:nvSpPr>
          <p:cNvPr id="60" name="Text 58"/>
          <p:cNvSpPr/>
          <p:nvPr/>
        </p:nvSpPr>
        <p:spPr>
          <a:xfrm>
            <a:off x="9052560" y="5623560"/>
            <a:ext cx="2560320" cy="457200"/>
          </a:xfrm>
          <a:prstGeom prst="rect">
            <a:avLst/>
          </a:prstGeom>
          <a:noFill/>
          <a:ln/>
        </p:spPr>
        <p:txBody>
          <a:bodyPr wrap="square" lIns="0" tIns="0" rIns="0" bIns="0" rtlCol="0" anchor="t"/>
          <a:lstStyle/>
          <a:p>
            <a:pPr indent="0" marL="0">
              <a:buNone/>
            </a:pPr>
            <a:r>
              <a:rPr lang="en-US" sz="2400" b="1" dirty="0">
                <a:solidFill>
                  <a:srgbClr val="146049"/>
                </a:solidFill>
                <a:latin typeface="Courier New" pitchFamily="34" charset="0"/>
                <a:ea typeface="Courier New" pitchFamily="34" charset="-122"/>
                <a:cs typeface="Courier New" pitchFamily="34" charset="-120"/>
              </a:rPr>
              <a:t>2.6 min</a:t>
            </a:r>
            <a:endParaRPr lang="en-US" sz="2400" dirty="0"/>
          </a:p>
        </p:txBody>
      </p:sp>
      <p:sp>
        <p:nvSpPr>
          <p:cNvPr id="61" name="Text 59"/>
          <p:cNvSpPr/>
          <p:nvPr/>
        </p:nvSpPr>
        <p:spPr>
          <a:xfrm>
            <a:off x="9052560" y="6080760"/>
            <a:ext cx="256032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total training time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Evaluation metrics</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What each number means — and what we have deliberately not measured.</a:t>
            </a:r>
            <a:endParaRPr lang="en-US" sz="1350" dirty="0"/>
          </a:p>
        </p:txBody>
      </p:sp>
      <p:sp>
        <p:nvSpPr>
          <p:cNvPr id="4" name="Shape 2"/>
          <p:cNvSpPr/>
          <p:nvPr/>
        </p:nvSpPr>
        <p:spPr>
          <a:xfrm>
            <a:off x="548640" y="1572768"/>
            <a:ext cx="6949440" cy="384048"/>
          </a:xfrm>
          <a:prstGeom prst="rect">
            <a:avLst/>
          </a:prstGeom>
          <a:solidFill>
            <a:srgbClr val="F1F4F9"/>
          </a:solidFill>
          <a:ln w="9525">
            <a:solidFill>
              <a:srgbClr val="D6DEEA"/>
            </a:solidFill>
            <a:prstDash val="solid"/>
          </a:ln>
        </p:spPr>
      </p:sp>
      <p:sp>
        <p:nvSpPr>
          <p:cNvPr id="5" name="Text 3"/>
          <p:cNvSpPr/>
          <p:nvPr/>
        </p:nvSpPr>
        <p:spPr>
          <a:xfrm>
            <a:off x="621792" y="1572768"/>
            <a:ext cx="2231136" cy="384048"/>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Metric</a:t>
            </a:r>
            <a:endParaRPr lang="en-US" sz="950" dirty="0"/>
          </a:p>
        </p:txBody>
      </p:sp>
      <p:sp>
        <p:nvSpPr>
          <p:cNvPr id="6" name="Text 4"/>
          <p:cNvSpPr/>
          <p:nvPr/>
        </p:nvSpPr>
        <p:spPr>
          <a:xfrm>
            <a:off x="2999232" y="1572768"/>
            <a:ext cx="2871216" cy="384048"/>
          </a:xfrm>
          <a:prstGeom prst="rect">
            <a:avLst/>
          </a:prstGeom>
          <a:noFill/>
          <a:ln/>
        </p:spPr>
        <p:txBody>
          <a:bodyPr wrap="square" lIns="0" tIns="0" rIns="0" bIns="0" rtlCol="0" anchor="ctr"/>
          <a:lstStyle/>
          <a:p>
            <a:pPr algn="l" indent="0" marL="0">
              <a:buNone/>
            </a:pPr>
            <a:r>
              <a:rPr lang="en-US" sz="950" b="1" dirty="0">
                <a:solidFill>
                  <a:srgbClr val="5A6478"/>
                </a:solidFill>
                <a:latin typeface="Calibri" pitchFamily="34" charset="0"/>
                <a:ea typeface="Calibri" pitchFamily="34" charset="-122"/>
                <a:cs typeface="Calibri" pitchFamily="34" charset="-120"/>
              </a:rPr>
              <a:t>What it tells us</a:t>
            </a:r>
            <a:endParaRPr lang="en-US" sz="950" dirty="0"/>
          </a:p>
        </p:txBody>
      </p:sp>
      <p:sp>
        <p:nvSpPr>
          <p:cNvPr id="7" name="Text 5"/>
          <p:cNvSpPr/>
          <p:nvPr/>
        </p:nvSpPr>
        <p:spPr>
          <a:xfrm>
            <a:off x="6016752" y="1572768"/>
            <a:ext cx="1408176" cy="384048"/>
          </a:xfrm>
          <a:prstGeom prst="rect">
            <a:avLst/>
          </a:prstGeom>
          <a:noFill/>
          <a:ln/>
        </p:spPr>
        <p:txBody>
          <a:bodyPr wrap="square" lIns="0" tIns="0" rIns="0" bIns="0" rtlCol="0" anchor="ctr"/>
          <a:lstStyle/>
          <a:p>
            <a:pPr algn="r" indent="0" marL="0">
              <a:buNone/>
            </a:pPr>
            <a:r>
              <a:rPr lang="en-US" sz="950" b="1" dirty="0">
                <a:solidFill>
                  <a:srgbClr val="5A6478"/>
                </a:solidFill>
                <a:latin typeface="Calibri" pitchFamily="34" charset="0"/>
                <a:ea typeface="Calibri" pitchFamily="34" charset="-122"/>
                <a:cs typeface="Calibri" pitchFamily="34" charset="-120"/>
              </a:rPr>
              <a:t>Ours</a:t>
            </a:r>
            <a:endParaRPr lang="en-US" sz="950" dirty="0"/>
          </a:p>
        </p:txBody>
      </p:sp>
      <p:sp>
        <p:nvSpPr>
          <p:cNvPr id="8" name="Shape 6"/>
          <p:cNvSpPr/>
          <p:nvPr/>
        </p:nvSpPr>
        <p:spPr>
          <a:xfrm>
            <a:off x="548640" y="1956816"/>
            <a:ext cx="6949440" cy="384048"/>
          </a:xfrm>
          <a:prstGeom prst="rect">
            <a:avLst/>
          </a:prstGeom>
          <a:solidFill>
            <a:srgbClr val="E4F1EA"/>
          </a:solidFill>
          <a:ln w="9525">
            <a:solidFill>
              <a:srgbClr val="D6DEEA"/>
            </a:solidFill>
            <a:prstDash val="solid"/>
          </a:ln>
        </p:spPr>
      </p:sp>
      <p:sp>
        <p:nvSpPr>
          <p:cNvPr id="9" name="Text 7"/>
          <p:cNvSpPr/>
          <p:nvPr/>
        </p:nvSpPr>
        <p:spPr>
          <a:xfrm>
            <a:off x="621792" y="1956816"/>
            <a:ext cx="223113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Step-0 loss</a:t>
            </a:r>
            <a:endParaRPr lang="en-US" sz="1050" dirty="0"/>
          </a:p>
        </p:txBody>
      </p:sp>
      <p:sp>
        <p:nvSpPr>
          <p:cNvPr id="10" name="Text 8"/>
          <p:cNvSpPr/>
          <p:nvPr/>
        </p:nvSpPr>
        <p:spPr>
          <a:xfrm>
            <a:off x="2999232" y="1956816"/>
            <a:ext cx="287121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started from random weights?</a:t>
            </a:r>
            <a:endParaRPr lang="en-US" sz="1050" dirty="0"/>
          </a:p>
        </p:txBody>
      </p:sp>
      <p:sp>
        <p:nvSpPr>
          <p:cNvPr id="11" name="Text 9"/>
          <p:cNvSpPr/>
          <p:nvPr/>
        </p:nvSpPr>
        <p:spPr>
          <a:xfrm>
            <a:off x="6016752" y="1956816"/>
            <a:ext cx="1408176" cy="384048"/>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8.33214</a:t>
            </a:r>
            <a:endParaRPr lang="en-US" sz="1050" dirty="0"/>
          </a:p>
        </p:txBody>
      </p:sp>
      <p:sp>
        <p:nvSpPr>
          <p:cNvPr id="12" name="Shape 10"/>
          <p:cNvSpPr/>
          <p:nvPr/>
        </p:nvSpPr>
        <p:spPr>
          <a:xfrm>
            <a:off x="548640" y="2340864"/>
            <a:ext cx="6949440" cy="384048"/>
          </a:xfrm>
          <a:prstGeom prst="rect">
            <a:avLst/>
          </a:prstGeom>
          <a:solidFill>
            <a:srgbClr val="FFFFFF"/>
          </a:solidFill>
          <a:ln w="9525">
            <a:solidFill>
              <a:srgbClr val="D6DEEA"/>
            </a:solidFill>
            <a:prstDash val="solid"/>
          </a:ln>
        </p:spPr>
      </p:sp>
      <p:sp>
        <p:nvSpPr>
          <p:cNvPr id="13" name="Text 11"/>
          <p:cNvSpPr/>
          <p:nvPr/>
        </p:nvSpPr>
        <p:spPr>
          <a:xfrm>
            <a:off x="621792" y="2340864"/>
            <a:ext cx="223113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Training loss</a:t>
            </a:r>
            <a:endParaRPr lang="en-US" sz="1050" dirty="0"/>
          </a:p>
        </p:txBody>
      </p:sp>
      <p:sp>
        <p:nvSpPr>
          <p:cNvPr id="14" name="Text 12"/>
          <p:cNvSpPr/>
          <p:nvPr/>
        </p:nvSpPr>
        <p:spPr>
          <a:xfrm>
            <a:off x="2999232" y="2340864"/>
            <a:ext cx="287121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fit on data it learns from</a:t>
            </a:r>
            <a:endParaRPr lang="en-US" sz="1050" dirty="0"/>
          </a:p>
        </p:txBody>
      </p:sp>
      <p:sp>
        <p:nvSpPr>
          <p:cNvPr id="15" name="Text 13"/>
          <p:cNvSpPr/>
          <p:nvPr/>
        </p:nvSpPr>
        <p:spPr>
          <a:xfrm>
            <a:off x="6016752" y="2340864"/>
            <a:ext cx="1408176" cy="384048"/>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2.194813</a:t>
            </a:r>
            <a:endParaRPr lang="en-US" sz="1050" dirty="0"/>
          </a:p>
        </p:txBody>
      </p:sp>
      <p:sp>
        <p:nvSpPr>
          <p:cNvPr id="16" name="Shape 14"/>
          <p:cNvSpPr/>
          <p:nvPr/>
        </p:nvSpPr>
        <p:spPr>
          <a:xfrm>
            <a:off x="548640" y="2724912"/>
            <a:ext cx="6949440" cy="384048"/>
          </a:xfrm>
          <a:prstGeom prst="rect">
            <a:avLst/>
          </a:prstGeom>
          <a:solidFill>
            <a:srgbClr val="FFFFFF"/>
          </a:solidFill>
          <a:ln w="9525">
            <a:solidFill>
              <a:srgbClr val="D6DEEA"/>
            </a:solidFill>
            <a:prstDash val="solid"/>
          </a:ln>
        </p:spPr>
      </p:sp>
      <p:sp>
        <p:nvSpPr>
          <p:cNvPr id="17" name="Text 15"/>
          <p:cNvSpPr/>
          <p:nvPr/>
        </p:nvSpPr>
        <p:spPr>
          <a:xfrm>
            <a:off x="621792" y="2724912"/>
            <a:ext cx="223113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Validation loss</a:t>
            </a:r>
            <a:endParaRPr lang="en-US" sz="1050" dirty="0"/>
          </a:p>
        </p:txBody>
      </p:sp>
      <p:sp>
        <p:nvSpPr>
          <p:cNvPr id="18" name="Text 16"/>
          <p:cNvSpPr/>
          <p:nvPr/>
        </p:nvSpPr>
        <p:spPr>
          <a:xfrm>
            <a:off x="2999232" y="2724912"/>
            <a:ext cx="287121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fit on data never seen</a:t>
            </a:r>
            <a:endParaRPr lang="en-US" sz="1050" dirty="0"/>
          </a:p>
        </p:txBody>
      </p:sp>
      <p:sp>
        <p:nvSpPr>
          <p:cNvPr id="19" name="Text 17"/>
          <p:cNvSpPr/>
          <p:nvPr/>
        </p:nvSpPr>
        <p:spPr>
          <a:xfrm>
            <a:off x="6016752" y="2724912"/>
            <a:ext cx="1408176" cy="384048"/>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2.1407</a:t>
            </a:r>
            <a:endParaRPr lang="en-US" sz="1050" dirty="0"/>
          </a:p>
        </p:txBody>
      </p:sp>
      <p:sp>
        <p:nvSpPr>
          <p:cNvPr id="20" name="Shape 18"/>
          <p:cNvSpPr/>
          <p:nvPr/>
        </p:nvSpPr>
        <p:spPr>
          <a:xfrm>
            <a:off x="548640" y="3108960"/>
            <a:ext cx="6949440" cy="384048"/>
          </a:xfrm>
          <a:prstGeom prst="rect">
            <a:avLst/>
          </a:prstGeom>
          <a:solidFill>
            <a:srgbClr val="E4F1EA"/>
          </a:solidFill>
          <a:ln w="9525">
            <a:solidFill>
              <a:srgbClr val="D6DEEA"/>
            </a:solidFill>
            <a:prstDash val="solid"/>
          </a:ln>
        </p:spPr>
      </p:sp>
      <p:sp>
        <p:nvSpPr>
          <p:cNvPr id="21" name="Text 19"/>
          <p:cNvSpPr/>
          <p:nvPr/>
        </p:nvSpPr>
        <p:spPr>
          <a:xfrm>
            <a:off x="621792" y="3108960"/>
            <a:ext cx="223113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Perplexity</a:t>
            </a:r>
            <a:endParaRPr lang="en-US" sz="1050" dirty="0"/>
          </a:p>
        </p:txBody>
      </p:sp>
      <p:sp>
        <p:nvSpPr>
          <p:cNvPr id="22" name="Text 20"/>
          <p:cNvSpPr/>
          <p:nvPr/>
        </p:nvSpPr>
        <p:spPr>
          <a:xfrm>
            <a:off x="2999232" y="3108960"/>
            <a:ext cx="287121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effective number of choices</a:t>
            </a:r>
            <a:endParaRPr lang="en-US" sz="1050" dirty="0"/>
          </a:p>
        </p:txBody>
      </p:sp>
      <p:sp>
        <p:nvSpPr>
          <p:cNvPr id="23" name="Text 21"/>
          <p:cNvSpPr/>
          <p:nvPr/>
        </p:nvSpPr>
        <p:spPr>
          <a:xfrm>
            <a:off x="6016752" y="3108960"/>
            <a:ext cx="1408176" cy="384048"/>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8.5053</a:t>
            </a:r>
            <a:endParaRPr lang="en-US" sz="1050" dirty="0"/>
          </a:p>
        </p:txBody>
      </p:sp>
      <p:sp>
        <p:nvSpPr>
          <p:cNvPr id="24" name="Shape 22"/>
          <p:cNvSpPr/>
          <p:nvPr/>
        </p:nvSpPr>
        <p:spPr>
          <a:xfrm>
            <a:off x="548640" y="3493008"/>
            <a:ext cx="6949440" cy="384048"/>
          </a:xfrm>
          <a:prstGeom prst="rect">
            <a:avLst/>
          </a:prstGeom>
          <a:solidFill>
            <a:srgbClr val="FFFFFF"/>
          </a:solidFill>
          <a:ln w="9525">
            <a:solidFill>
              <a:srgbClr val="D6DEEA"/>
            </a:solidFill>
            <a:prstDash val="solid"/>
          </a:ln>
        </p:spPr>
      </p:sp>
      <p:sp>
        <p:nvSpPr>
          <p:cNvPr id="25" name="Text 23"/>
          <p:cNvSpPr/>
          <p:nvPr/>
        </p:nvSpPr>
        <p:spPr>
          <a:xfrm>
            <a:off x="621792" y="3493008"/>
            <a:ext cx="223113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Bits per token</a:t>
            </a:r>
            <a:endParaRPr lang="en-US" sz="1050" dirty="0"/>
          </a:p>
        </p:txBody>
      </p:sp>
      <p:sp>
        <p:nvSpPr>
          <p:cNvPr id="26" name="Text 24"/>
          <p:cNvSpPr/>
          <p:nvPr/>
        </p:nvSpPr>
        <p:spPr>
          <a:xfrm>
            <a:off x="2999232" y="3493008"/>
            <a:ext cx="287121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loss ÷ ln 2</a:t>
            </a:r>
            <a:endParaRPr lang="en-US" sz="1050" dirty="0"/>
          </a:p>
        </p:txBody>
      </p:sp>
      <p:sp>
        <p:nvSpPr>
          <p:cNvPr id="27" name="Text 25"/>
          <p:cNvSpPr/>
          <p:nvPr/>
        </p:nvSpPr>
        <p:spPr>
          <a:xfrm>
            <a:off x="6016752" y="3493008"/>
            <a:ext cx="1408176" cy="384048"/>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3.0884</a:t>
            </a:r>
            <a:endParaRPr lang="en-US" sz="1050" dirty="0"/>
          </a:p>
        </p:txBody>
      </p:sp>
      <p:sp>
        <p:nvSpPr>
          <p:cNvPr id="28" name="Shape 26"/>
          <p:cNvSpPr/>
          <p:nvPr/>
        </p:nvSpPr>
        <p:spPr>
          <a:xfrm>
            <a:off x="548640" y="3877056"/>
            <a:ext cx="6949440" cy="384048"/>
          </a:xfrm>
          <a:prstGeom prst="rect">
            <a:avLst/>
          </a:prstGeom>
          <a:solidFill>
            <a:srgbClr val="FFFFFF"/>
          </a:solidFill>
          <a:ln w="9525">
            <a:solidFill>
              <a:srgbClr val="D6DEEA"/>
            </a:solidFill>
            <a:prstDash val="solid"/>
          </a:ln>
        </p:spPr>
      </p:sp>
      <p:sp>
        <p:nvSpPr>
          <p:cNvPr id="29" name="Text 27"/>
          <p:cNvSpPr/>
          <p:nvPr/>
        </p:nvSpPr>
        <p:spPr>
          <a:xfrm>
            <a:off x="621792" y="3877056"/>
            <a:ext cx="223113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Next-token accuracy@1</a:t>
            </a:r>
            <a:endParaRPr lang="en-US" sz="1050" dirty="0"/>
          </a:p>
        </p:txBody>
      </p:sp>
      <p:sp>
        <p:nvSpPr>
          <p:cNvPr id="30" name="Text 28"/>
          <p:cNvSpPr/>
          <p:nvPr/>
        </p:nvSpPr>
        <p:spPr>
          <a:xfrm>
            <a:off x="2999232" y="3877056"/>
            <a:ext cx="287121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top prediction correct</a:t>
            </a:r>
            <a:endParaRPr lang="en-US" sz="1050" dirty="0"/>
          </a:p>
        </p:txBody>
      </p:sp>
      <p:sp>
        <p:nvSpPr>
          <p:cNvPr id="31" name="Text 29"/>
          <p:cNvSpPr/>
          <p:nvPr/>
        </p:nvSpPr>
        <p:spPr>
          <a:xfrm>
            <a:off x="6016752" y="3877056"/>
            <a:ext cx="1408176" cy="384048"/>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51.10%</a:t>
            </a:r>
            <a:endParaRPr lang="en-US" sz="1050" dirty="0"/>
          </a:p>
        </p:txBody>
      </p:sp>
      <p:sp>
        <p:nvSpPr>
          <p:cNvPr id="32" name="Shape 30"/>
          <p:cNvSpPr/>
          <p:nvPr/>
        </p:nvSpPr>
        <p:spPr>
          <a:xfrm>
            <a:off x="548640" y="4261104"/>
            <a:ext cx="6949440" cy="384048"/>
          </a:xfrm>
          <a:prstGeom prst="rect">
            <a:avLst/>
          </a:prstGeom>
          <a:solidFill>
            <a:srgbClr val="FFFFFF"/>
          </a:solidFill>
          <a:ln w="9525">
            <a:solidFill>
              <a:srgbClr val="D6DEEA"/>
            </a:solidFill>
            <a:prstDash val="solid"/>
          </a:ln>
        </p:spPr>
      </p:sp>
      <p:sp>
        <p:nvSpPr>
          <p:cNvPr id="33" name="Text 31"/>
          <p:cNvSpPr/>
          <p:nvPr/>
        </p:nvSpPr>
        <p:spPr>
          <a:xfrm>
            <a:off x="621792" y="4261104"/>
            <a:ext cx="223113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Reload difference</a:t>
            </a:r>
            <a:endParaRPr lang="en-US" sz="1050" dirty="0"/>
          </a:p>
        </p:txBody>
      </p:sp>
      <p:sp>
        <p:nvSpPr>
          <p:cNvPr id="34" name="Text 32"/>
          <p:cNvSpPr/>
          <p:nvPr/>
        </p:nvSpPr>
        <p:spPr>
          <a:xfrm>
            <a:off x="2999232" y="4261104"/>
            <a:ext cx="287121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checkpoint is portable</a:t>
            </a:r>
            <a:endParaRPr lang="en-US" sz="1050" dirty="0"/>
          </a:p>
        </p:txBody>
      </p:sp>
      <p:sp>
        <p:nvSpPr>
          <p:cNvPr id="35" name="Text 33"/>
          <p:cNvSpPr/>
          <p:nvPr/>
        </p:nvSpPr>
        <p:spPr>
          <a:xfrm>
            <a:off x="6016752" y="4261104"/>
            <a:ext cx="1408176" cy="384048"/>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0.000000</a:t>
            </a:r>
            <a:endParaRPr lang="en-US" sz="1050" dirty="0"/>
          </a:p>
        </p:txBody>
      </p:sp>
      <p:sp>
        <p:nvSpPr>
          <p:cNvPr id="36" name="Shape 34"/>
          <p:cNvSpPr/>
          <p:nvPr/>
        </p:nvSpPr>
        <p:spPr>
          <a:xfrm>
            <a:off x="548640" y="4645152"/>
            <a:ext cx="6949440" cy="384048"/>
          </a:xfrm>
          <a:prstGeom prst="rect">
            <a:avLst/>
          </a:prstGeom>
          <a:solidFill>
            <a:srgbClr val="FFFFFF"/>
          </a:solidFill>
          <a:ln w="9525">
            <a:solidFill>
              <a:srgbClr val="D6DEEA"/>
            </a:solidFill>
            <a:prstDash val="solid"/>
          </a:ln>
        </p:spPr>
      </p:sp>
      <p:sp>
        <p:nvSpPr>
          <p:cNvPr id="37" name="Text 35"/>
          <p:cNvSpPr/>
          <p:nvPr/>
        </p:nvSpPr>
        <p:spPr>
          <a:xfrm>
            <a:off x="621792" y="4645152"/>
            <a:ext cx="223113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Repetition rate</a:t>
            </a:r>
            <a:endParaRPr lang="en-US" sz="1050" dirty="0"/>
          </a:p>
        </p:txBody>
      </p:sp>
      <p:sp>
        <p:nvSpPr>
          <p:cNvPr id="38" name="Text 36"/>
          <p:cNvSpPr/>
          <p:nvPr/>
        </p:nvSpPr>
        <p:spPr>
          <a:xfrm>
            <a:off x="2999232" y="4645152"/>
            <a:ext cx="2871216" cy="384048"/>
          </a:xfrm>
          <a:prstGeom prst="rect">
            <a:avLst/>
          </a:prstGeom>
          <a:noFill/>
          <a:ln/>
        </p:spPr>
        <p:txBody>
          <a:bodyPr wrap="square" lIns="0" tIns="0" rIns="0" bIns="0" rtlCol="0" anchor="ctr"/>
          <a:lstStyle/>
          <a:p>
            <a:pPr algn="l" indent="0" marL="0">
              <a:buNone/>
            </a:pPr>
            <a:r>
              <a:rPr lang="en-US" sz="1050" dirty="0">
                <a:solidFill>
                  <a:srgbClr val="10203A"/>
                </a:solidFill>
                <a:latin typeface="Calibri" pitchFamily="34" charset="0"/>
                <a:ea typeface="Calibri" pitchFamily="34" charset="-122"/>
                <a:cs typeface="Calibri" pitchFamily="34" charset="-120"/>
              </a:rPr>
              <a:t>immediate word repeats</a:t>
            </a:r>
            <a:endParaRPr lang="en-US" sz="1050" dirty="0"/>
          </a:p>
        </p:txBody>
      </p:sp>
      <p:sp>
        <p:nvSpPr>
          <p:cNvPr id="39" name="Text 37"/>
          <p:cNvSpPr/>
          <p:nvPr/>
        </p:nvSpPr>
        <p:spPr>
          <a:xfrm>
            <a:off x="6016752" y="4645152"/>
            <a:ext cx="1408176" cy="384048"/>
          </a:xfrm>
          <a:prstGeom prst="rect">
            <a:avLst/>
          </a:prstGeom>
          <a:noFill/>
          <a:ln/>
        </p:spPr>
        <p:txBody>
          <a:bodyPr wrap="square" lIns="0" tIns="0" rIns="0" bIns="0" rtlCol="0" anchor="ctr"/>
          <a:lstStyle/>
          <a:p>
            <a:pPr algn="r" indent="0" marL="0">
              <a:buNone/>
            </a:pPr>
            <a:r>
              <a:rPr lang="en-US" sz="1050" dirty="0">
                <a:solidFill>
                  <a:srgbClr val="10203A"/>
                </a:solidFill>
                <a:latin typeface="Courier New" pitchFamily="34" charset="0"/>
                <a:ea typeface="Courier New" pitchFamily="34" charset="-122"/>
                <a:cs typeface="Courier New" pitchFamily="34" charset="-120"/>
              </a:rPr>
              <a:t>0.0011</a:t>
            </a:r>
            <a:endParaRPr lang="en-US" sz="1050" dirty="0"/>
          </a:p>
        </p:txBody>
      </p:sp>
      <p:sp>
        <p:nvSpPr>
          <p:cNvPr id="40" name="Shape 38"/>
          <p:cNvSpPr/>
          <p:nvPr/>
        </p:nvSpPr>
        <p:spPr>
          <a:xfrm>
            <a:off x="7772400" y="1572768"/>
            <a:ext cx="3840480" cy="1828800"/>
          </a:xfrm>
          <a:prstGeom prst="roundRect">
            <a:avLst>
              <a:gd name="adj" fmla="val 3500"/>
            </a:avLst>
          </a:prstGeom>
          <a:solidFill>
            <a:srgbClr val="E8EFFA"/>
          </a:solidFill>
          <a:ln w="12700">
            <a:solidFill>
              <a:srgbClr val="D6DEEA"/>
            </a:solidFill>
            <a:prstDash val="solid"/>
          </a:ln>
        </p:spPr>
      </p:sp>
      <p:sp>
        <p:nvSpPr>
          <p:cNvPr id="41" name="Text 39"/>
          <p:cNvSpPr/>
          <p:nvPr/>
        </p:nvSpPr>
        <p:spPr>
          <a:xfrm>
            <a:off x="8046720" y="1737360"/>
            <a:ext cx="3291840" cy="274320"/>
          </a:xfrm>
          <a:prstGeom prst="rect">
            <a:avLst/>
          </a:prstGeom>
          <a:noFill/>
          <a:ln/>
        </p:spPr>
        <p:txBody>
          <a:bodyPr wrap="square" lIns="0" tIns="0" rIns="0" bIns="0" rtlCol="0" anchor="ctr"/>
          <a:lstStyle/>
          <a:p>
            <a:pPr indent="0" marL="0">
              <a:buNone/>
            </a:pPr>
            <a:r>
              <a:rPr lang="en-US" sz="1300" b="1" dirty="0">
                <a:solidFill>
                  <a:srgbClr val="1B4A8F"/>
                </a:solidFill>
                <a:latin typeface="Calibri" pitchFamily="34" charset="0"/>
                <a:ea typeface="Calibri" pitchFamily="34" charset="-122"/>
                <a:cs typeface="Calibri" pitchFamily="34" charset="-120"/>
              </a:rPr>
              <a:t>Perplexity = e^loss</a:t>
            </a:r>
            <a:endParaRPr lang="en-US" sz="1300" dirty="0"/>
          </a:p>
        </p:txBody>
      </p:sp>
      <p:sp>
        <p:nvSpPr>
          <p:cNvPr id="42" name="Text 40"/>
          <p:cNvSpPr/>
          <p:nvPr/>
        </p:nvSpPr>
        <p:spPr>
          <a:xfrm>
            <a:off x="8046720" y="2048256"/>
            <a:ext cx="3291840" cy="1280160"/>
          </a:xfrm>
          <a:prstGeom prst="rect">
            <a:avLst/>
          </a:prstGeom>
          <a:noFill/>
          <a:ln/>
        </p:spPr>
        <p:txBody>
          <a:bodyPr wrap="square" lIns="0" tIns="0" rIns="0" bIns="0" rtlCol="0" anchor="t"/>
          <a:lstStyle/>
          <a:p>
            <a:pPr indent="0" marL="0">
              <a:buNone/>
            </a:pPr>
            <a:r>
              <a:rPr lang="en-US" sz="1100" dirty="0">
                <a:solidFill>
                  <a:srgbClr val="1B4A8F"/>
                </a:solidFill>
                <a:latin typeface="Calibri" pitchFamily="34" charset="0"/>
                <a:ea typeface="Calibri" pitchFamily="34" charset="-122"/>
                <a:cs typeface="Calibri" pitchFamily="34" charset="-120"/>
              </a:rPr>
              <a:t>"As uncertain as guessing uniformly among this many tokens."</a:t>
            </a:r>
            <a:endParaRPr lang="en-US" sz="1100" dirty="0"/>
          </a:p>
          <a:p>
            <a:pPr indent="0" marL="0">
              <a:buNone/>
            </a:pPr>
            <a:endParaRPr lang="en-US" sz="1100" dirty="0"/>
          </a:p>
          <a:p>
            <a:pPr indent="0" marL="0">
              <a:buNone/>
            </a:pPr>
            <a:r>
              <a:rPr lang="en-US" sz="1100" dirty="0">
                <a:solidFill>
                  <a:srgbClr val="1B4A8F"/>
                </a:solidFill>
                <a:latin typeface="Calibri" pitchFamily="34" charset="0"/>
                <a:ea typeface="Calibri" pitchFamily="34" charset="-122"/>
                <a:cs typeface="Calibri" pitchFamily="34" charset="-120"/>
              </a:rPr>
              <a:t>Random init: 4,096</a:t>
            </a:r>
            <a:endParaRPr lang="en-US" sz="1100" dirty="0"/>
          </a:p>
          <a:p>
            <a:pPr indent="0" marL="0">
              <a:buNone/>
            </a:pPr>
            <a:r>
              <a:rPr lang="en-US" sz="1100" dirty="0">
                <a:solidFill>
                  <a:srgbClr val="1B4A8F"/>
                </a:solidFill>
                <a:latin typeface="Calibri" pitchFamily="34" charset="0"/>
                <a:ea typeface="Calibri" pitchFamily="34" charset="-122"/>
                <a:cs typeface="Calibri" pitchFamily="34" charset="-120"/>
              </a:rPr>
              <a:t>Our model:   8.51</a:t>
            </a:r>
            <a:endParaRPr lang="en-US" sz="1100" dirty="0"/>
          </a:p>
          <a:p>
            <a:pPr indent="0" marL="0">
              <a:buNone/>
            </a:pPr>
            <a:endParaRPr lang="en-US" sz="1100" dirty="0"/>
          </a:p>
          <a:p>
            <a:pPr indent="0" marL="0">
              <a:buNone/>
            </a:pPr>
            <a:r>
              <a:rPr lang="en-US" sz="1100" dirty="0">
                <a:solidFill>
                  <a:srgbClr val="1B4A8F"/>
                </a:solidFill>
                <a:latin typeface="Calibri" pitchFamily="34" charset="0"/>
                <a:ea typeface="Calibri" pitchFamily="34" charset="-122"/>
                <a:cs typeface="Calibri" pitchFamily="34" charset="-120"/>
              </a:rPr>
              <a:t>A 481× reduction in uncertainty.</a:t>
            </a:r>
            <a:endParaRPr lang="en-US" sz="1100" dirty="0"/>
          </a:p>
        </p:txBody>
      </p:sp>
      <p:sp>
        <p:nvSpPr>
          <p:cNvPr id="43" name="Text 41"/>
          <p:cNvSpPr/>
          <p:nvPr/>
        </p:nvSpPr>
        <p:spPr>
          <a:xfrm>
            <a:off x="7772400" y="3566160"/>
            <a:ext cx="3840480" cy="274320"/>
          </a:xfrm>
          <a:prstGeom prst="rect">
            <a:avLst/>
          </a:prstGeom>
          <a:noFill/>
          <a:ln/>
        </p:spPr>
        <p:txBody>
          <a:bodyPr wrap="square" lIns="0" tIns="0" rIns="0" bIns="0" rtlCol="0" anchor="ctr"/>
          <a:lstStyle/>
          <a:p>
            <a:pPr indent="0" marL="0">
              <a:buNone/>
            </a:pPr>
            <a:r>
              <a:rPr lang="en-US" sz="1250" b="1" dirty="0">
                <a:solidFill>
                  <a:srgbClr val="B4610F"/>
                </a:solidFill>
                <a:latin typeface="Calibri" pitchFamily="34" charset="0"/>
                <a:ea typeface="Calibri" pitchFamily="34" charset="-122"/>
                <a:cs typeface="Calibri" pitchFamily="34" charset="-120"/>
              </a:rPr>
              <a:t>NOT YET MEASURED — say so plainly</a:t>
            </a:r>
            <a:endParaRPr lang="en-US" sz="1250" dirty="0"/>
          </a:p>
        </p:txBody>
      </p:sp>
      <p:sp>
        <p:nvSpPr>
          <p:cNvPr id="44" name="Text 42"/>
          <p:cNvSpPr/>
          <p:nvPr/>
        </p:nvSpPr>
        <p:spPr>
          <a:xfrm>
            <a:off x="7772400" y="3886200"/>
            <a:ext cx="3840480" cy="14630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5A6478"/>
                </a:solidFill>
                <a:latin typeface="Calibri" pitchFamily="34" charset="0"/>
                <a:ea typeface="Calibri" pitchFamily="34" charset="-122"/>
                <a:cs typeface="Calibri" pitchFamily="34" charset="-120"/>
              </a:rPr>
              <a:t>Reasoning accuracy (needs Review 2)</a:t>
            </a:r>
            <a:endParaRPr lang="en-US" sz="1050" dirty="0"/>
          </a:p>
          <a:p>
            <a:pPr marL="342900" indent="-342900">
              <a:spcAft>
                <a:spcPts val="500"/>
              </a:spcAft>
              <a:buSzPct val="100000"/>
              <a:buChar char="•"/>
            </a:pPr>
            <a:r>
              <a:rPr lang="en-US" sz="1050" dirty="0">
                <a:solidFill>
                  <a:srgbClr val="5A6478"/>
                </a:solidFill>
                <a:latin typeface="Calibri" pitchFamily="34" charset="0"/>
                <a:ea typeface="Calibri" pitchFamily="34" charset="-122"/>
                <a:cs typeface="Calibri" pitchFamily="34" charset="-120"/>
              </a:rPr>
              <a:t>Multi-agent vs single-agent comparison</a:t>
            </a:r>
            <a:endParaRPr lang="en-US" sz="1050" dirty="0"/>
          </a:p>
          <a:p>
            <a:pPr marL="342900" indent="-342900">
              <a:spcAft>
                <a:spcPts val="500"/>
              </a:spcAft>
              <a:buSzPct val="100000"/>
              <a:buChar char="•"/>
            </a:pPr>
            <a:r>
              <a:rPr lang="en-US" sz="1050" dirty="0">
                <a:solidFill>
                  <a:srgbClr val="5A6478"/>
                </a:solidFill>
                <a:latin typeface="Calibri" pitchFamily="34" charset="0"/>
                <a:ea typeface="Calibri" pitchFamily="34" charset="-122"/>
                <a:cs typeface="Calibri" pitchFamily="34" charset="-120"/>
              </a:rPr>
              <a:t>Confidence calibration (ECE, Brier)</a:t>
            </a:r>
            <a:endParaRPr lang="en-US" sz="1050" dirty="0"/>
          </a:p>
          <a:p>
            <a:pPr marL="342900" indent="-342900">
              <a:spcAft>
                <a:spcPts val="500"/>
              </a:spcAft>
              <a:buSzPct val="100000"/>
              <a:buChar char="•"/>
            </a:pPr>
            <a:r>
              <a:rPr lang="en-US" sz="1050" dirty="0">
                <a:solidFill>
                  <a:srgbClr val="5A6478"/>
                </a:solidFill>
                <a:latin typeface="Calibri" pitchFamily="34" charset="0"/>
                <a:ea typeface="Calibri" pitchFamily="34" charset="-122"/>
                <a:cs typeface="Calibri" pitchFamily="34" charset="-120"/>
              </a:rPr>
              <a:t>External benchmarks such as GSM8K</a:t>
            </a:r>
            <a:endParaRPr lang="en-US" sz="1050" dirty="0"/>
          </a:p>
        </p:txBody>
      </p:sp>
      <p:sp>
        <p:nvSpPr>
          <p:cNvPr id="45" name="Text 43"/>
          <p:cNvSpPr/>
          <p:nvPr/>
        </p:nvSpPr>
        <p:spPr>
          <a:xfrm>
            <a:off x="548640" y="5989320"/>
            <a:ext cx="11064240" cy="548640"/>
          </a:xfrm>
          <a:prstGeom prst="rect">
            <a:avLst/>
          </a:prstGeom>
          <a:noFill/>
          <a:ln/>
        </p:spPr>
        <p:txBody>
          <a:bodyPr wrap="square" lIns="0" tIns="0" rIns="0" bIns="0" rtlCol="0" anchor="t"/>
          <a:lstStyle/>
          <a:p>
            <a:pPr indent="0" marL="0">
              <a:buNone/>
            </a:pPr>
            <a:r>
              <a:rPr lang="en-US" sz="1200" dirty="0">
                <a:solidFill>
                  <a:srgbClr val="B4610F"/>
                </a:solidFill>
                <a:latin typeface="Calibri" pitchFamily="34" charset="0"/>
                <a:ea typeface="Calibri" pitchFamily="34" charset="-122"/>
                <a:cs typeface="Calibri" pitchFamily="34" charset="-120"/>
              </a:rPr>
              <a:t>"We haven't measured that yet" is a strong answer, not a weak one. Guessing a number you did not measure is the fastest way to lose a panel's trust.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Results</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Run run_a_001 · Tesla T4 · seed 1337 · every figure measured, none estimated.</a:t>
            </a:r>
            <a:endParaRPr lang="en-US" sz="1350" dirty="0"/>
          </a:p>
        </p:txBody>
      </p:sp>
      <p:sp>
        <p:nvSpPr>
          <p:cNvPr id="4" name="Text 2"/>
          <p:cNvSpPr/>
          <p:nvPr/>
        </p:nvSpPr>
        <p:spPr>
          <a:xfrm>
            <a:off x="548640" y="1481328"/>
            <a:ext cx="2651760" cy="457200"/>
          </a:xfrm>
          <a:prstGeom prst="rect">
            <a:avLst/>
          </a:prstGeom>
          <a:noFill/>
          <a:ln/>
        </p:spPr>
        <p:txBody>
          <a:bodyPr wrap="square" lIns="0" tIns="0" rIns="0" bIns="0" rtlCol="0" anchor="t"/>
          <a:lstStyle/>
          <a:p>
            <a:pPr indent="0" marL="0">
              <a:buNone/>
            </a:pPr>
            <a:r>
              <a:rPr lang="en-US" sz="2400" b="1" dirty="0">
                <a:solidFill>
                  <a:srgbClr val="146049"/>
                </a:solidFill>
                <a:latin typeface="Courier New" pitchFamily="34" charset="0"/>
                <a:ea typeface="Courier New" pitchFamily="34" charset="-122"/>
                <a:cs typeface="Courier New" pitchFamily="34" charset="-120"/>
              </a:rPr>
              <a:t>8.33214</a:t>
            </a:r>
            <a:endParaRPr lang="en-US" sz="2400" dirty="0"/>
          </a:p>
        </p:txBody>
      </p:sp>
      <p:sp>
        <p:nvSpPr>
          <p:cNvPr id="5" name="Text 3"/>
          <p:cNvSpPr/>
          <p:nvPr/>
        </p:nvSpPr>
        <p:spPr>
          <a:xfrm>
            <a:off x="548640" y="1938528"/>
            <a:ext cx="265176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loss at step 0</a:t>
            </a:r>
            <a:endParaRPr lang="en-US" sz="1100" dirty="0"/>
          </a:p>
        </p:txBody>
      </p:sp>
      <p:sp>
        <p:nvSpPr>
          <p:cNvPr id="6" name="Text 4"/>
          <p:cNvSpPr/>
          <p:nvPr/>
        </p:nvSpPr>
        <p:spPr>
          <a:xfrm>
            <a:off x="3337560" y="1481328"/>
            <a:ext cx="2651760" cy="457200"/>
          </a:xfrm>
          <a:prstGeom prst="rect">
            <a:avLst/>
          </a:prstGeom>
          <a:noFill/>
          <a:ln/>
        </p:spPr>
        <p:txBody>
          <a:bodyPr wrap="square" lIns="0" tIns="0" rIns="0" bIns="0" rtlCol="0" anchor="t"/>
          <a:lstStyle/>
          <a:p>
            <a:pPr indent="0" marL="0">
              <a:buNone/>
            </a:pPr>
            <a:r>
              <a:rPr lang="en-US" sz="2400" b="1" dirty="0">
                <a:solidFill>
                  <a:srgbClr val="1B4A8F"/>
                </a:solidFill>
                <a:latin typeface="Courier New" pitchFamily="34" charset="0"/>
                <a:ea typeface="Courier New" pitchFamily="34" charset="-122"/>
                <a:cs typeface="Courier New" pitchFamily="34" charset="-120"/>
              </a:rPr>
              <a:t>2.1407</a:t>
            </a:r>
            <a:endParaRPr lang="en-US" sz="2400" dirty="0"/>
          </a:p>
        </p:txBody>
      </p:sp>
      <p:sp>
        <p:nvSpPr>
          <p:cNvPr id="7" name="Text 5"/>
          <p:cNvSpPr/>
          <p:nvPr/>
        </p:nvSpPr>
        <p:spPr>
          <a:xfrm>
            <a:off x="3337560" y="1938528"/>
            <a:ext cx="265176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final validation loss</a:t>
            </a:r>
            <a:endParaRPr lang="en-US" sz="1100" dirty="0"/>
          </a:p>
        </p:txBody>
      </p:sp>
      <p:sp>
        <p:nvSpPr>
          <p:cNvPr id="8" name="Text 6"/>
          <p:cNvSpPr/>
          <p:nvPr/>
        </p:nvSpPr>
        <p:spPr>
          <a:xfrm>
            <a:off x="6126480" y="1481328"/>
            <a:ext cx="2651760" cy="457200"/>
          </a:xfrm>
          <a:prstGeom prst="rect">
            <a:avLst/>
          </a:prstGeom>
          <a:noFill/>
          <a:ln/>
        </p:spPr>
        <p:txBody>
          <a:bodyPr wrap="square" lIns="0" tIns="0" rIns="0" bIns="0" rtlCol="0" anchor="t"/>
          <a:lstStyle/>
          <a:p>
            <a:pPr indent="0" marL="0">
              <a:buNone/>
            </a:pPr>
            <a:r>
              <a:rPr lang="en-US" sz="2400" b="1" dirty="0">
                <a:solidFill>
                  <a:srgbClr val="1B4A8F"/>
                </a:solidFill>
                <a:latin typeface="Courier New" pitchFamily="34" charset="0"/>
                <a:ea typeface="Courier New" pitchFamily="34" charset="-122"/>
                <a:cs typeface="Courier New" pitchFamily="34" charset="-120"/>
              </a:rPr>
              <a:t>8.5053</a:t>
            </a:r>
            <a:endParaRPr lang="en-US" sz="2400" dirty="0"/>
          </a:p>
        </p:txBody>
      </p:sp>
      <p:sp>
        <p:nvSpPr>
          <p:cNvPr id="9" name="Text 7"/>
          <p:cNvSpPr/>
          <p:nvPr/>
        </p:nvSpPr>
        <p:spPr>
          <a:xfrm>
            <a:off x="6126480" y="1938528"/>
            <a:ext cx="265176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perplexity</a:t>
            </a:r>
            <a:endParaRPr lang="en-US" sz="1100" dirty="0"/>
          </a:p>
        </p:txBody>
      </p:sp>
      <p:sp>
        <p:nvSpPr>
          <p:cNvPr id="10" name="Text 8"/>
          <p:cNvSpPr/>
          <p:nvPr/>
        </p:nvSpPr>
        <p:spPr>
          <a:xfrm>
            <a:off x="8915400" y="1481328"/>
            <a:ext cx="2651760" cy="457200"/>
          </a:xfrm>
          <a:prstGeom prst="rect">
            <a:avLst/>
          </a:prstGeom>
          <a:noFill/>
          <a:ln/>
        </p:spPr>
        <p:txBody>
          <a:bodyPr wrap="square" lIns="0" tIns="0" rIns="0" bIns="0" rtlCol="0" anchor="t"/>
          <a:lstStyle/>
          <a:p>
            <a:pPr indent="0" marL="0">
              <a:buNone/>
            </a:pPr>
            <a:r>
              <a:rPr lang="en-US" sz="2400" b="1" dirty="0">
                <a:solidFill>
                  <a:srgbClr val="1B4A8F"/>
                </a:solidFill>
                <a:latin typeface="Courier New" pitchFamily="34" charset="0"/>
                <a:ea typeface="Courier New" pitchFamily="34" charset="-122"/>
                <a:cs typeface="Courier New" pitchFamily="34" charset="-120"/>
              </a:rPr>
              <a:t>51.10%</a:t>
            </a:r>
            <a:endParaRPr lang="en-US" sz="2400" dirty="0"/>
          </a:p>
        </p:txBody>
      </p:sp>
      <p:sp>
        <p:nvSpPr>
          <p:cNvPr id="11" name="Text 9"/>
          <p:cNvSpPr/>
          <p:nvPr/>
        </p:nvSpPr>
        <p:spPr>
          <a:xfrm>
            <a:off x="8915400" y="1938528"/>
            <a:ext cx="2651760" cy="274320"/>
          </a:xfrm>
          <a:prstGeom prst="rect">
            <a:avLst/>
          </a:prstGeom>
          <a:noFill/>
          <a:ln/>
        </p:spPr>
        <p:txBody>
          <a:bodyPr wrap="square" lIns="0" tIns="0" rIns="0" bIns="0" rtlCol="0" anchor="t"/>
          <a:lstStyle/>
          <a:p>
            <a:pPr indent="0" marL="0">
              <a:buNone/>
            </a:pPr>
            <a:r>
              <a:rPr lang="en-US" sz="1100" dirty="0">
                <a:solidFill>
                  <a:srgbClr val="10203A"/>
                </a:solidFill>
                <a:latin typeface="Calibri" pitchFamily="34" charset="0"/>
                <a:ea typeface="Calibri" pitchFamily="34" charset="-122"/>
                <a:cs typeface="Calibri" pitchFamily="34" charset="-120"/>
              </a:rPr>
              <a:t>next-token accuracy</a:t>
            </a:r>
            <a:endParaRPr lang="en-US" sz="1100" dirty="0"/>
          </a:p>
        </p:txBody>
      </p:sp>
      <p:pic>
        <p:nvPicPr>
          <p:cNvPr id="12" name="Image 0" descr="loss_curve.png">    </p:cNvPr>
          <p:cNvPicPr>
            <a:picLocks noChangeAspect="1"/>
          </p:cNvPicPr>
          <p:nvPr/>
        </p:nvPicPr>
        <p:blipFill>
          <a:blip r:embed="rId1"/>
          <a:stretch>
            <a:fillRect/>
          </a:stretch>
        </p:blipFill>
        <p:spPr>
          <a:xfrm>
            <a:off x="548640" y="2487168"/>
            <a:ext cx="5760720" cy="3483864"/>
          </a:xfrm>
          <a:prstGeom prst="rect">
            <a:avLst/>
          </a:prstGeom>
        </p:spPr>
      </p:pic>
      <p:sp>
        <p:nvSpPr>
          <p:cNvPr id="13" name="Shape 10"/>
          <p:cNvSpPr/>
          <p:nvPr/>
        </p:nvSpPr>
        <p:spPr>
          <a:xfrm>
            <a:off x="6492240" y="2487168"/>
            <a:ext cx="5120640" cy="1965960"/>
          </a:xfrm>
          <a:prstGeom prst="roundRect">
            <a:avLst>
              <a:gd name="adj" fmla="val 3256"/>
            </a:avLst>
          </a:prstGeom>
          <a:solidFill>
            <a:srgbClr val="E4F1EA"/>
          </a:solidFill>
          <a:ln w="12700">
            <a:solidFill>
              <a:srgbClr val="D6DEEA"/>
            </a:solidFill>
            <a:prstDash val="solid"/>
          </a:ln>
        </p:spPr>
      </p:sp>
      <p:sp>
        <p:nvSpPr>
          <p:cNvPr id="14" name="Text 11"/>
          <p:cNvSpPr/>
          <p:nvPr/>
        </p:nvSpPr>
        <p:spPr>
          <a:xfrm>
            <a:off x="6766560" y="2615184"/>
            <a:ext cx="4572000" cy="274320"/>
          </a:xfrm>
          <a:prstGeom prst="rect">
            <a:avLst/>
          </a:prstGeom>
          <a:noFill/>
          <a:ln/>
        </p:spPr>
        <p:txBody>
          <a:bodyPr wrap="square" lIns="0" tIns="0" rIns="0" bIns="0" rtlCol="0" anchor="ctr"/>
          <a:lstStyle/>
          <a:p>
            <a:pPr indent="0" marL="0">
              <a:buNone/>
            </a:pPr>
            <a:r>
              <a:rPr lang="en-US" sz="1150" b="1" dirty="0">
                <a:solidFill>
                  <a:srgbClr val="146049"/>
                </a:solidFill>
                <a:latin typeface="Calibri" pitchFamily="34" charset="0"/>
                <a:ea typeface="Calibri" pitchFamily="34" charset="-122"/>
                <a:cs typeface="Calibri" pitchFamily="34" charset="-120"/>
              </a:rPr>
              <a:t>Generated text — fresh process, from the saved checkpoint</a:t>
            </a:r>
            <a:endParaRPr lang="en-US" sz="1150" dirty="0"/>
          </a:p>
        </p:txBody>
      </p:sp>
      <p:sp>
        <p:nvSpPr>
          <p:cNvPr id="15" name="Text 12"/>
          <p:cNvSpPr/>
          <p:nvPr/>
        </p:nvSpPr>
        <p:spPr>
          <a:xfrm>
            <a:off x="6766560" y="2926080"/>
            <a:ext cx="4572000" cy="1417320"/>
          </a:xfrm>
          <a:prstGeom prst="rect">
            <a:avLst/>
          </a:prstGeom>
          <a:noFill/>
          <a:ln/>
        </p:spPr>
        <p:txBody>
          <a:bodyPr wrap="square" lIns="0" tIns="0" rIns="0" bIns="0" rtlCol="0" anchor="t"/>
          <a:lstStyle/>
          <a:p>
            <a:pPr indent="0" marL="0">
              <a:buNone/>
            </a:pPr>
            <a:r>
              <a:rPr lang="en-US" sz="1050" i="1" dirty="0">
                <a:solidFill>
                  <a:srgbClr val="14402F"/>
                </a:solidFill>
                <a:latin typeface="Calibri" pitchFamily="34" charset="0"/>
                <a:ea typeface="Calibri" pitchFamily="34" charset="-122"/>
                <a:cs typeface="Calibri" pitchFamily="34" charset="-120"/>
              </a:rPr>
              <a:t>T = 0.2   "The little girl was so happy that she had made a new friend. She was so happy that she could help her friend. She hugged her…"</a:t>
            </a:r>
            <a:endParaRPr lang="en-US" sz="1050" dirty="0"/>
          </a:p>
          <a:p>
            <a:pPr indent="0" marL="0">
              <a:buNone/>
            </a:pPr>
            <a:endParaRPr lang="en-US" sz="1050" dirty="0"/>
          </a:p>
          <a:p>
            <a:pPr indent="0" marL="0">
              <a:buNone/>
            </a:pPr>
            <a:r>
              <a:rPr lang="en-US" sz="1050" i="1" dirty="0">
                <a:solidFill>
                  <a:srgbClr val="14402F"/>
                </a:solidFill>
                <a:latin typeface="Calibri" pitchFamily="34" charset="0"/>
                <a:ea typeface="Calibri" pitchFamily="34" charset="-122"/>
                <a:cs typeface="Calibri" pitchFamily="34" charset="-120"/>
              </a:rPr>
              <a:t>T = 0.7   "He decided not to be mad at the bear to be kind and not be grumpy…"</a:t>
            </a:r>
            <a:endParaRPr lang="en-US" sz="1050" dirty="0"/>
          </a:p>
        </p:txBody>
      </p:sp>
      <p:sp>
        <p:nvSpPr>
          <p:cNvPr id="16" name="Shape 13"/>
          <p:cNvSpPr/>
          <p:nvPr/>
        </p:nvSpPr>
        <p:spPr>
          <a:xfrm>
            <a:off x="6492240" y="4572000"/>
            <a:ext cx="5120640" cy="1399032"/>
          </a:xfrm>
          <a:prstGeom prst="roundRect">
            <a:avLst>
              <a:gd name="adj" fmla="val 4575"/>
            </a:avLst>
          </a:prstGeom>
          <a:solidFill>
            <a:srgbClr val="E8EFFA"/>
          </a:solidFill>
          <a:ln w="12700">
            <a:solidFill>
              <a:srgbClr val="D6DEEA"/>
            </a:solidFill>
            <a:prstDash val="solid"/>
          </a:ln>
        </p:spPr>
      </p:sp>
      <p:sp>
        <p:nvSpPr>
          <p:cNvPr id="17" name="Text 14"/>
          <p:cNvSpPr/>
          <p:nvPr/>
        </p:nvSpPr>
        <p:spPr>
          <a:xfrm>
            <a:off x="6766560" y="4690872"/>
            <a:ext cx="4572000" cy="274320"/>
          </a:xfrm>
          <a:prstGeom prst="rect">
            <a:avLst/>
          </a:prstGeom>
          <a:noFill/>
          <a:ln/>
        </p:spPr>
        <p:txBody>
          <a:bodyPr wrap="square" lIns="0" tIns="0" rIns="0" bIns="0" rtlCol="0" anchor="ctr"/>
          <a:lstStyle/>
          <a:p>
            <a:pPr indent="0" marL="0">
              <a:buNone/>
            </a:pPr>
            <a:r>
              <a:rPr lang="en-US" sz="1150" b="1" dirty="0">
                <a:solidFill>
                  <a:srgbClr val="1B4A8F"/>
                </a:solidFill>
                <a:latin typeface="Calibri" pitchFamily="34" charset="0"/>
                <a:ea typeface="Calibri" pitchFamily="34" charset="-122"/>
                <a:cs typeface="Calibri" pitchFamily="34" charset="-120"/>
              </a:rPr>
              <a:t>Two things worth saying out loud</a:t>
            </a:r>
            <a:endParaRPr lang="en-US" sz="1150" dirty="0"/>
          </a:p>
        </p:txBody>
      </p:sp>
      <p:sp>
        <p:nvSpPr>
          <p:cNvPr id="18" name="Text 15"/>
          <p:cNvSpPr/>
          <p:nvPr/>
        </p:nvSpPr>
        <p:spPr>
          <a:xfrm>
            <a:off x="6766560" y="4992624"/>
            <a:ext cx="4572000" cy="914400"/>
          </a:xfrm>
          <a:prstGeom prst="rect">
            <a:avLst/>
          </a:prstGeom>
          <a:noFill/>
          <a:ln/>
        </p:spPr>
        <p:txBody>
          <a:bodyPr wrap="square" lIns="0" tIns="0" rIns="0" bIns="0" rtlCol="0" anchor="t"/>
          <a:lstStyle/>
          <a:p>
            <a:pPr indent="0" marL="0">
              <a:buNone/>
            </a:pPr>
            <a:r>
              <a:rPr lang="en-US" sz="1000" dirty="0">
                <a:solidFill>
                  <a:srgbClr val="1B4A8F"/>
                </a:solidFill>
                <a:latin typeface="Calibri" pitchFamily="34" charset="0"/>
                <a:ea typeface="Calibri" pitchFamily="34" charset="-122"/>
                <a:cs typeface="Calibri" pitchFamily="34" charset="-120"/>
              </a:rPr>
              <a:t>1. Validation loss finished BELOW training loss — one epoch-equivalent of tokens, so nothing was memorised. No overfitting.</a:t>
            </a:r>
            <a:endParaRPr lang="en-US" sz="1000" dirty="0"/>
          </a:p>
          <a:p>
            <a:pPr indent="0" marL="0">
              <a:buNone/>
            </a:pPr>
            <a:endParaRPr lang="en-US" sz="1000" dirty="0"/>
          </a:p>
          <a:p>
            <a:pPr indent="0" marL="0">
              <a:buNone/>
            </a:pPr>
            <a:r>
              <a:rPr lang="en-US" sz="1000" dirty="0">
                <a:solidFill>
                  <a:srgbClr val="1B4A8F"/>
                </a:solidFill>
                <a:latin typeface="Calibri" pitchFamily="34" charset="0"/>
                <a:ea typeface="Calibri" pitchFamily="34" charset="-122"/>
                <a:cs typeface="Calibri" pitchFamily="34" charset="-120"/>
              </a:rPr>
              <a:t>2. 6,100 steps, 49,971,200 tokens, 2.6 minutes at 320,128 tokens/s, peak VRAM 0.83 GB.</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Verification — how we know the pipeline is correct</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A model can train smoothly and be fundamentally broken. 119 automated tests, all passing.</a:t>
            </a:r>
            <a:endParaRPr lang="en-US" sz="1350" dirty="0"/>
          </a:p>
        </p:txBody>
      </p:sp>
      <p:sp>
        <p:nvSpPr>
          <p:cNvPr id="4" name="Shape 2"/>
          <p:cNvSpPr/>
          <p:nvPr/>
        </p:nvSpPr>
        <p:spPr>
          <a:xfrm>
            <a:off x="548640" y="1645920"/>
            <a:ext cx="256032" cy="256032"/>
          </a:xfrm>
          <a:prstGeom prst="ellipse">
            <a:avLst/>
          </a:prstGeom>
          <a:solidFill>
            <a:srgbClr val="E4F1EA"/>
          </a:solidFill>
          <a:ln w="11430">
            <a:solidFill>
              <a:srgbClr val="146049"/>
            </a:solidFill>
            <a:prstDash val="solid"/>
          </a:ln>
        </p:spPr>
      </p:sp>
      <p:sp>
        <p:nvSpPr>
          <p:cNvPr id="5" name="Text 3"/>
          <p:cNvSpPr/>
          <p:nvPr/>
        </p:nvSpPr>
        <p:spPr>
          <a:xfrm>
            <a:off x="548640" y="164592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6" name="Text 4"/>
          <p:cNvSpPr/>
          <p:nvPr/>
        </p:nvSpPr>
        <p:spPr>
          <a:xfrm>
            <a:off x="896112" y="160020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Tokenizer round-trips exactly</a:t>
            </a:r>
            <a:endParaRPr lang="en-US" sz="1100" dirty="0"/>
          </a:p>
        </p:txBody>
      </p:sp>
      <p:sp>
        <p:nvSpPr>
          <p:cNvPr id="7" name="Text 5"/>
          <p:cNvSpPr/>
          <p:nvPr/>
        </p:nvSpPr>
        <p:spPr>
          <a:xfrm>
            <a:off x="4572000" y="160020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1000 / 1000</a:t>
            </a:r>
            <a:endParaRPr lang="en-US" sz="1000" dirty="0"/>
          </a:p>
        </p:txBody>
      </p:sp>
      <p:sp>
        <p:nvSpPr>
          <p:cNvPr id="8" name="Shape 6"/>
          <p:cNvSpPr/>
          <p:nvPr/>
        </p:nvSpPr>
        <p:spPr>
          <a:xfrm>
            <a:off x="6126480" y="1645920"/>
            <a:ext cx="256032" cy="256032"/>
          </a:xfrm>
          <a:prstGeom prst="ellipse">
            <a:avLst/>
          </a:prstGeom>
          <a:solidFill>
            <a:srgbClr val="E4F1EA"/>
          </a:solidFill>
          <a:ln w="11430">
            <a:solidFill>
              <a:srgbClr val="146049"/>
            </a:solidFill>
            <a:prstDash val="solid"/>
          </a:ln>
        </p:spPr>
      </p:sp>
      <p:sp>
        <p:nvSpPr>
          <p:cNvPr id="9" name="Text 7"/>
          <p:cNvSpPr/>
          <p:nvPr/>
        </p:nvSpPr>
        <p:spPr>
          <a:xfrm>
            <a:off x="6126480" y="164592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6473952" y="160020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Input/target shifted by one</a:t>
            </a:r>
            <a:endParaRPr lang="en-US" sz="1100" dirty="0"/>
          </a:p>
        </p:txBody>
      </p:sp>
      <p:sp>
        <p:nvSpPr>
          <p:cNvPr id="11" name="Text 9"/>
          <p:cNvSpPr/>
          <p:nvPr/>
        </p:nvSpPr>
        <p:spPr>
          <a:xfrm>
            <a:off x="10149840" y="160020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pass</a:t>
            </a:r>
            <a:endParaRPr lang="en-US" sz="1000" dirty="0"/>
          </a:p>
        </p:txBody>
      </p:sp>
      <p:sp>
        <p:nvSpPr>
          <p:cNvPr id="12" name="Shape 10"/>
          <p:cNvSpPr/>
          <p:nvPr/>
        </p:nvSpPr>
        <p:spPr>
          <a:xfrm>
            <a:off x="548640" y="2148840"/>
            <a:ext cx="256032" cy="256032"/>
          </a:xfrm>
          <a:prstGeom prst="ellipse">
            <a:avLst/>
          </a:prstGeom>
          <a:solidFill>
            <a:srgbClr val="E4F1EA"/>
          </a:solidFill>
          <a:ln w="11430">
            <a:solidFill>
              <a:srgbClr val="146049"/>
            </a:solidFill>
            <a:prstDash val="solid"/>
          </a:ln>
        </p:spPr>
      </p:sp>
      <p:sp>
        <p:nvSpPr>
          <p:cNvPr id="13" name="Text 11"/>
          <p:cNvSpPr/>
          <p:nvPr/>
        </p:nvSpPr>
        <p:spPr>
          <a:xfrm>
            <a:off x="548640" y="214884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14" name="Text 12"/>
          <p:cNvSpPr/>
          <p:nvPr/>
        </p:nvSpPr>
        <p:spPr>
          <a:xfrm>
            <a:off x="896112" y="210312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Parameter count matches the config</a:t>
            </a:r>
            <a:endParaRPr lang="en-US" sz="1100" dirty="0"/>
          </a:p>
        </p:txBody>
      </p:sp>
      <p:sp>
        <p:nvSpPr>
          <p:cNvPr id="15" name="Text 13"/>
          <p:cNvSpPr/>
          <p:nvPr/>
        </p:nvSpPr>
        <p:spPr>
          <a:xfrm>
            <a:off x="4572000" y="210312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1,331,968</a:t>
            </a:r>
            <a:endParaRPr lang="en-US" sz="1000" dirty="0"/>
          </a:p>
        </p:txBody>
      </p:sp>
      <p:sp>
        <p:nvSpPr>
          <p:cNvPr id="16" name="Shape 14"/>
          <p:cNvSpPr/>
          <p:nvPr/>
        </p:nvSpPr>
        <p:spPr>
          <a:xfrm>
            <a:off x="6126480" y="2148840"/>
            <a:ext cx="256032" cy="256032"/>
          </a:xfrm>
          <a:prstGeom prst="ellipse">
            <a:avLst/>
          </a:prstGeom>
          <a:solidFill>
            <a:srgbClr val="E4F1EA"/>
          </a:solidFill>
          <a:ln w="11430">
            <a:solidFill>
              <a:srgbClr val="146049"/>
            </a:solidFill>
            <a:prstDash val="solid"/>
          </a:ln>
        </p:spPr>
      </p:sp>
      <p:sp>
        <p:nvSpPr>
          <p:cNvPr id="17" name="Text 15"/>
          <p:cNvSpPr/>
          <p:nvPr/>
        </p:nvSpPr>
        <p:spPr>
          <a:xfrm>
            <a:off x="6126480" y="214884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6473952" y="210312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Weights are randomly initialised</a:t>
            </a:r>
            <a:endParaRPr lang="en-US" sz="1100" dirty="0"/>
          </a:p>
        </p:txBody>
      </p:sp>
      <p:sp>
        <p:nvSpPr>
          <p:cNvPr id="19" name="Text 17"/>
          <p:cNvSpPr/>
          <p:nvPr/>
        </p:nvSpPr>
        <p:spPr>
          <a:xfrm>
            <a:off x="10149840" y="210312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std 0.02003</a:t>
            </a:r>
            <a:endParaRPr lang="en-US" sz="1000" dirty="0"/>
          </a:p>
        </p:txBody>
      </p:sp>
      <p:sp>
        <p:nvSpPr>
          <p:cNvPr id="20" name="Shape 18"/>
          <p:cNvSpPr/>
          <p:nvPr/>
        </p:nvSpPr>
        <p:spPr>
          <a:xfrm>
            <a:off x="548640" y="2651760"/>
            <a:ext cx="256032" cy="256032"/>
          </a:xfrm>
          <a:prstGeom prst="ellipse">
            <a:avLst/>
          </a:prstGeom>
          <a:solidFill>
            <a:srgbClr val="E4F1EA"/>
          </a:solidFill>
          <a:ln w="11430">
            <a:solidFill>
              <a:srgbClr val="146049"/>
            </a:solidFill>
            <a:prstDash val="solid"/>
          </a:ln>
        </p:spPr>
      </p:sp>
      <p:sp>
        <p:nvSpPr>
          <p:cNvPr id="21" name="Text 19"/>
          <p:cNvSpPr/>
          <p:nvPr/>
        </p:nvSpPr>
        <p:spPr>
          <a:xfrm>
            <a:off x="548640" y="265176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896112" y="260604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Step-0 loss = ln(vocab), 3 seeds</a:t>
            </a:r>
            <a:endParaRPr lang="en-US" sz="1100" dirty="0"/>
          </a:p>
        </p:txBody>
      </p:sp>
      <p:sp>
        <p:nvSpPr>
          <p:cNvPr id="23" name="Text 21"/>
          <p:cNvSpPr/>
          <p:nvPr/>
        </p:nvSpPr>
        <p:spPr>
          <a:xfrm>
            <a:off x="4572000" y="260604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pass</a:t>
            </a:r>
            <a:endParaRPr lang="en-US" sz="1000" dirty="0"/>
          </a:p>
        </p:txBody>
      </p:sp>
      <p:sp>
        <p:nvSpPr>
          <p:cNvPr id="24" name="Shape 22"/>
          <p:cNvSpPr/>
          <p:nvPr/>
        </p:nvSpPr>
        <p:spPr>
          <a:xfrm>
            <a:off x="6126480" y="2651760"/>
            <a:ext cx="256032" cy="256032"/>
          </a:xfrm>
          <a:prstGeom prst="ellipse">
            <a:avLst/>
          </a:prstGeom>
          <a:solidFill>
            <a:srgbClr val="E4F1EA"/>
          </a:solidFill>
          <a:ln w="11430">
            <a:solidFill>
              <a:srgbClr val="146049"/>
            </a:solidFill>
            <a:prstDash val="solid"/>
          </a:ln>
        </p:spPr>
      </p:sp>
      <p:sp>
        <p:nvSpPr>
          <p:cNvPr id="25" name="Text 23"/>
          <p:cNvSpPr/>
          <p:nvPr/>
        </p:nvSpPr>
        <p:spPr>
          <a:xfrm>
            <a:off x="6126480" y="265176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26" name="Text 24"/>
          <p:cNvSpPr/>
          <p:nvPr/>
        </p:nvSpPr>
        <p:spPr>
          <a:xfrm>
            <a:off x="6473952" y="260604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Overfit-one-batch drives loss &lt; 0.1</a:t>
            </a:r>
            <a:endParaRPr lang="en-US" sz="1100" dirty="0"/>
          </a:p>
        </p:txBody>
      </p:sp>
      <p:sp>
        <p:nvSpPr>
          <p:cNvPr id="27" name="Text 25"/>
          <p:cNvSpPr/>
          <p:nvPr/>
        </p:nvSpPr>
        <p:spPr>
          <a:xfrm>
            <a:off x="10149840" y="260604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pass</a:t>
            </a:r>
            <a:endParaRPr lang="en-US" sz="1000" dirty="0"/>
          </a:p>
        </p:txBody>
      </p:sp>
      <p:sp>
        <p:nvSpPr>
          <p:cNvPr id="28" name="Shape 26"/>
          <p:cNvSpPr/>
          <p:nvPr/>
        </p:nvSpPr>
        <p:spPr>
          <a:xfrm>
            <a:off x="548640" y="3154680"/>
            <a:ext cx="256032" cy="256032"/>
          </a:xfrm>
          <a:prstGeom prst="ellipse">
            <a:avLst/>
          </a:prstGeom>
          <a:solidFill>
            <a:srgbClr val="E4F1EA"/>
          </a:solidFill>
          <a:ln w="11430">
            <a:solidFill>
              <a:srgbClr val="146049"/>
            </a:solidFill>
            <a:prstDash val="solid"/>
          </a:ln>
        </p:spPr>
      </p:sp>
      <p:sp>
        <p:nvSpPr>
          <p:cNvPr id="29" name="Text 27"/>
          <p:cNvSpPr/>
          <p:nvPr/>
        </p:nvSpPr>
        <p:spPr>
          <a:xfrm>
            <a:off x="548640" y="315468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896112" y="310896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Model cannot see the future</a:t>
            </a:r>
            <a:endParaRPr lang="en-US" sz="1100" dirty="0"/>
          </a:p>
        </p:txBody>
      </p:sp>
      <p:sp>
        <p:nvSpPr>
          <p:cNvPr id="31" name="Text 29"/>
          <p:cNvSpPr/>
          <p:nvPr/>
        </p:nvSpPr>
        <p:spPr>
          <a:xfrm>
            <a:off x="4572000" y="310896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pass</a:t>
            </a:r>
            <a:endParaRPr lang="en-US" sz="1000" dirty="0"/>
          </a:p>
        </p:txBody>
      </p:sp>
      <p:sp>
        <p:nvSpPr>
          <p:cNvPr id="32" name="Shape 30"/>
          <p:cNvSpPr/>
          <p:nvPr/>
        </p:nvSpPr>
        <p:spPr>
          <a:xfrm>
            <a:off x="6126480" y="3154680"/>
            <a:ext cx="256032" cy="256032"/>
          </a:xfrm>
          <a:prstGeom prst="ellipse">
            <a:avLst/>
          </a:prstGeom>
          <a:solidFill>
            <a:srgbClr val="E4F1EA"/>
          </a:solidFill>
          <a:ln w="11430">
            <a:solidFill>
              <a:srgbClr val="146049"/>
            </a:solidFill>
            <a:prstDash val="solid"/>
          </a:ln>
        </p:spPr>
      </p:sp>
      <p:sp>
        <p:nvSpPr>
          <p:cNvPr id="33" name="Text 31"/>
          <p:cNvSpPr/>
          <p:nvPr/>
        </p:nvSpPr>
        <p:spPr>
          <a:xfrm>
            <a:off x="6126480" y="315468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34" name="Text 32"/>
          <p:cNvSpPr/>
          <p:nvPr/>
        </p:nvSpPr>
        <p:spPr>
          <a:xfrm>
            <a:off x="6473952" y="310896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Every weight receives a gradient</a:t>
            </a:r>
            <a:endParaRPr lang="en-US" sz="1100" dirty="0"/>
          </a:p>
        </p:txBody>
      </p:sp>
      <p:sp>
        <p:nvSpPr>
          <p:cNvPr id="35" name="Text 33"/>
          <p:cNvSpPr/>
          <p:nvPr/>
        </p:nvSpPr>
        <p:spPr>
          <a:xfrm>
            <a:off x="10149840" y="310896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44 / 44</a:t>
            </a:r>
            <a:endParaRPr lang="en-US" sz="1000" dirty="0"/>
          </a:p>
        </p:txBody>
      </p:sp>
      <p:sp>
        <p:nvSpPr>
          <p:cNvPr id="36" name="Shape 34"/>
          <p:cNvSpPr/>
          <p:nvPr/>
        </p:nvSpPr>
        <p:spPr>
          <a:xfrm>
            <a:off x="548640" y="3657600"/>
            <a:ext cx="256032" cy="256032"/>
          </a:xfrm>
          <a:prstGeom prst="ellipse">
            <a:avLst/>
          </a:prstGeom>
          <a:solidFill>
            <a:srgbClr val="E4F1EA"/>
          </a:solidFill>
          <a:ln w="11430">
            <a:solidFill>
              <a:srgbClr val="146049"/>
            </a:solidFill>
            <a:prstDash val="solid"/>
          </a:ln>
        </p:spPr>
      </p:sp>
      <p:sp>
        <p:nvSpPr>
          <p:cNvPr id="37" name="Text 35"/>
          <p:cNvSpPr/>
          <p:nvPr/>
        </p:nvSpPr>
        <p:spPr>
          <a:xfrm>
            <a:off x="548640" y="365760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38" name="Text 36"/>
          <p:cNvSpPr/>
          <p:nvPr/>
        </p:nvSpPr>
        <p:spPr>
          <a:xfrm>
            <a:off x="896112" y="361188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Checkpoint saves, loads, reproduces</a:t>
            </a:r>
            <a:endParaRPr lang="en-US" sz="1100" dirty="0"/>
          </a:p>
        </p:txBody>
      </p:sp>
      <p:sp>
        <p:nvSpPr>
          <p:cNvPr id="39" name="Text 37"/>
          <p:cNvSpPr/>
          <p:nvPr/>
        </p:nvSpPr>
        <p:spPr>
          <a:xfrm>
            <a:off x="4572000" y="361188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Δ 0.000000</a:t>
            </a:r>
            <a:endParaRPr lang="en-US" sz="1000" dirty="0"/>
          </a:p>
        </p:txBody>
      </p:sp>
      <p:sp>
        <p:nvSpPr>
          <p:cNvPr id="40" name="Shape 38"/>
          <p:cNvSpPr/>
          <p:nvPr/>
        </p:nvSpPr>
        <p:spPr>
          <a:xfrm>
            <a:off x="6126480" y="3657600"/>
            <a:ext cx="256032" cy="256032"/>
          </a:xfrm>
          <a:prstGeom prst="ellipse">
            <a:avLst/>
          </a:prstGeom>
          <a:solidFill>
            <a:srgbClr val="E4F1EA"/>
          </a:solidFill>
          <a:ln w="11430">
            <a:solidFill>
              <a:srgbClr val="146049"/>
            </a:solidFill>
            <a:prstDash val="solid"/>
          </a:ln>
        </p:spPr>
      </p:sp>
      <p:sp>
        <p:nvSpPr>
          <p:cNvPr id="41" name="Text 39"/>
          <p:cNvSpPr/>
          <p:nvPr/>
        </p:nvSpPr>
        <p:spPr>
          <a:xfrm>
            <a:off x="6126480" y="365760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42" name="Text 40"/>
          <p:cNvSpPr/>
          <p:nvPr/>
        </p:nvSpPr>
        <p:spPr>
          <a:xfrm>
            <a:off x="6473952" y="361188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Wrong tokenizer is refused, not loaded</a:t>
            </a:r>
            <a:endParaRPr lang="en-US" sz="1100" dirty="0"/>
          </a:p>
        </p:txBody>
      </p:sp>
      <p:sp>
        <p:nvSpPr>
          <p:cNvPr id="43" name="Text 41"/>
          <p:cNvSpPr/>
          <p:nvPr/>
        </p:nvSpPr>
        <p:spPr>
          <a:xfrm>
            <a:off x="10149840" y="361188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pass</a:t>
            </a:r>
            <a:endParaRPr lang="en-US" sz="1000" dirty="0"/>
          </a:p>
        </p:txBody>
      </p:sp>
      <p:sp>
        <p:nvSpPr>
          <p:cNvPr id="44" name="Shape 42"/>
          <p:cNvSpPr/>
          <p:nvPr/>
        </p:nvSpPr>
        <p:spPr>
          <a:xfrm>
            <a:off x="548640" y="4160520"/>
            <a:ext cx="256032" cy="256032"/>
          </a:xfrm>
          <a:prstGeom prst="ellipse">
            <a:avLst/>
          </a:prstGeom>
          <a:solidFill>
            <a:srgbClr val="E4F1EA"/>
          </a:solidFill>
          <a:ln w="11430">
            <a:solidFill>
              <a:srgbClr val="146049"/>
            </a:solidFill>
            <a:prstDash val="solid"/>
          </a:ln>
        </p:spPr>
      </p:sp>
      <p:sp>
        <p:nvSpPr>
          <p:cNvPr id="45" name="Text 43"/>
          <p:cNvSpPr/>
          <p:nvPr/>
        </p:nvSpPr>
        <p:spPr>
          <a:xfrm>
            <a:off x="548640" y="4160520"/>
            <a:ext cx="256032" cy="256032"/>
          </a:xfrm>
          <a:prstGeom prst="rect">
            <a:avLst/>
          </a:prstGeom>
          <a:noFill/>
          <a:ln/>
        </p:spPr>
        <p:txBody>
          <a:bodyPr wrap="square" lIns="0" tIns="0" rIns="0" bIns="0" rtlCol="0" anchor="ctr"/>
          <a:lstStyle/>
          <a:p>
            <a:pPr algn="ctr" indent="0" marL="0">
              <a:buNone/>
            </a:pPr>
            <a:r>
              <a:rPr lang="en-US" sz="1000" b="1" dirty="0">
                <a:solidFill>
                  <a:srgbClr val="146049"/>
                </a:solidFill>
                <a:latin typeface="Calibri" pitchFamily="34" charset="0"/>
                <a:ea typeface="Calibri" pitchFamily="34" charset="-122"/>
                <a:cs typeface="Calibri" pitchFamily="34" charset="-120"/>
              </a:rPr>
              <a:t>✓</a:t>
            </a:r>
            <a:endParaRPr lang="en-US" sz="1000" dirty="0"/>
          </a:p>
        </p:txBody>
      </p:sp>
      <p:sp>
        <p:nvSpPr>
          <p:cNvPr id="46" name="Text 44"/>
          <p:cNvSpPr/>
          <p:nvPr/>
        </p:nvSpPr>
        <p:spPr>
          <a:xfrm>
            <a:off x="896112" y="4114800"/>
            <a:ext cx="3657600" cy="365760"/>
          </a:xfrm>
          <a:prstGeom prst="rect">
            <a:avLst/>
          </a:prstGeom>
          <a:noFill/>
          <a:ln/>
        </p:spPr>
        <p:txBody>
          <a:bodyPr wrap="square" lIns="0" tIns="0" rIns="0" bIns="0" rtlCol="0" anchor="ctr"/>
          <a:lstStyle/>
          <a:p>
            <a:pPr indent="0" marL="0">
              <a:buNone/>
            </a:pPr>
            <a:r>
              <a:rPr lang="en-US" sz="1100" dirty="0">
                <a:solidFill>
                  <a:srgbClr val="10203A"/>
                </a:solidFill>
                <a:latin typeface="Calibri" pitchFamily="34" charset="0"/>
                <a:ea typeface="Calibri" pitchFamily="34" charset="-122"/>
                <a:cs typeface="Calibri" pitchFamily="34" charset="-120"/>
              </a:rPr>
              <a:t>No pretrained loading call anywhere</a:t>
            </a:r>
            <a:endParaRPr lang="en-US" sz="1100" dirty="0"/>
          </a:p>
        </p:txBody>
      </p:sp>
      <p:sp>
        <p:nvSpPr>
          <p:cNvPr id="47" name="Text 45"/>
          <p:cNvSpPr/>
          <p:nvPr/>
        </p:nvSpPr>
        <p:spPr>
          <a:xfrm>
            <a:off x="4572000" y="4114800"/>
            <a:ext cx="1143000" cy="365760"/>
          </a:xfrm>
          <a:prstGeom prst="rect">
            <a:avLst/>
          </a:prstGeom>
          <a:noFill/>
          <a:ln/>
        </p:spPr>
        <p:txBody>
          <a:bodyPr wrap="square" lIns="0" tIns="0" rIns="0" bIns="0" rtlCol="0" anchor="ctr"/>
          <a:lstStyle/>
          <a:p>
            <a:pPr algn="r" indent="0" marL="0">
              <a:buNone/>
            </a:pPr>
            <a:r>
              <a:rPr lang="en-US" sz="1000" dirty="0">
                <a:solidFill>
                  <a:srgbClr val="146049"/>
                </a:solidFill>
                <a:latin typeface="Courier New" pitchFamily="34" charset="0"/>
                <a:ea typeface="Courier New" pitchFamily="34" charset="-122"/>
                <a:cs typeface="Courier New" pitchFamily="34" charset="-120"/>
              </a:rPr>
              <a:t>pass</a:t>
            </a:r>
            <a:endParaRPr lang="en-US" sz="1000" dirty="0"/>
          </a:p>
        </p:txBody>
      </p:sp>
      <p:sp>
        <p:nvSpPr>
          <p:cNvPr id="48" name="Shape 46"/>
          <p:cNvSpPr/>
          <p:nvPr/>
        </p:nvSpPr>
        <p:spPr>
          <a:xfrm>
            <a:off x="548640" y="4617720"/>
            <a:ext cx="11064240" cy="1143000"/>
          </a:xfrm>
          <a:prstGeom prst="roundRect">
            <a:avLst>
              <a:gd name="adj" fmla="val 5600"/>
            </a:avLst>
          </a:prstGeom>
          <a:solidFill>
            <a:srgbClr val="FBF0E4"/>
          </a:solidFill>
          <a:ln w="12700">
            <a:solidFill>
              <a:srgbClr val="D6DEEA"/>
            </a:solidFill>
            <a:prstDash val="solid"/>
          </a:ln>
        </p:spPr>
      </p:sp>
      <p:sp>
        <p:nvSpPr>
          <p:cNvPr id="49" name="Text 47"/>
          <p:cNvSpPr/>
          <p:nvPr/>
        </p:nvSpPr>
        <p:spPr>
          <a:xfrm>
            <a:off x="868680" y="4736592"/>
            <a:ext cx="10424160" cy="274320"/>
          </a:xfrm>
          <a:prstGeom prst="rect">
            <a:avLst/>
          </a:prstGeom>
          <a:noFill/>
          <a:ln/>
        </p:spPr>
        <p:txBody>
          <a:bodyPr wrap="square" lIns="0" tIns="0" rIns="0" bIns="0" rtlCol="0" anchor="ctr"/>
          <a:lstStyle/>
          <a:p>
            <a:pPr indent="0" marL="0">
              <a:buNone/>
            </a:pPr>
            <a:r>
              <a:rPr lang="en-US" sz="1250" b="1" dirty="0">
                <a:solidFill>
                  <a:srgbClr val="B4610F"/>
                </a:solidFill>
                <a:latin typeface="Calibri" pitchFamily="34" charset="0"/>
                <a:ea typeface="Calibri" pitchFamily="34" charset="-122"/>
                <a:cs typeface="Calibri" pitchFamily="34" charset="-120"/>
              </a:rPr>
              <a:t>Three of these guard SILENT failures</a:t>
            </a:r>
            <a:endParaRPr lang="en-US" sz="1250" dirty="0"/>
          </a:p>
        </p:txBody>
      </p:sp>
      <p:sp>
        <p:nvSpPr>
          <p:cNvPr id="50" name="Text 48"/>
          <p:cNvSpPr/>
          <p:nvPr/>
        </p:nvSpPr>
        <p:spPr>
          <a:xfrm>
            <a:off x="868680" y="5029200"/>
            <a:ext cx="10424160" cy="640080"/>
          </a:xfrm>
          <a:prstGeom prst="rect">
            <a:avLst/>
          </a:prstGeom>
          <a:noFill/>
          <a:ln/>
        </p:spPr>
        <p:txBody>
          <a:bodyPr wrap="square" lIns="0" tIns="0" rIns="0" bIns="0" rtlCol="0" anchor="t"/>
          <a:lstStyle/>
          <a:p>
            <a:pPr indent="0" marL="0">
              <a:buNone/>
            </a:pPr>
            <a:r>
              <a:rPr lang="en-US" sz="1100" dirty="0">
                <a:solidFill>
                  <a:srgbClr val="6B3D10"/>
                </a:solidFill>
                <a:latin typeface="Calibri" pitchFamily="34" charset="0"/>
                <a:ea typeface="Calibri" pitchFamily="34" charset="-122"/>
                <a:cs typeface="Calibri" pitchFamily="34" charset="-120"/>
              </a:rPr>
              <a:t>Targets off by one, gradient clipping applied before unscaling under fp16 (so it never actually fires), and loading a checkpoint against the wrong tokenizer. Each produces a run that looks completely normal and results that are wrong.</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Limitations</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Stated before the panel asks. Every one of these is expected at this scale.</a:t>
            </a:r>
            <a:endParaRPr lang="en-US" sz="1350" dirty="0"/>
          </a:p>
        </p:txBody>
      </p:sp>
      <p:sp>
        <p:nvSpPr>
          <p:cNvPr id="4" name="Shape 2"/>
          <p:cNvSpPr/>
          <p:nvPr/>
        </p:nvSpPr>
        <p:spPr>
          <a:xfrm>
            <a:off x="548640" y="1572768"/>
            <a:ext cx="5303520" cy="1325880"/>
          </a:xfrm>
          <a:prstGeom prst="roundRect">
            <a:avLst>
              <a:gd name="adj" fmla="val 4828"/>
            </a:avLst>
          </a:prstGeom>
          <a:solidFill>
            <a:srgbClr val="F1F4F9"/>
          </a:solidFill>
          <a:ln w="12700">
            <a:solidFill>
              <a:srgbClr val="D6DEEA"/>
            </a:solidFill>
            <a:prstDash val="solid"/>
          </a:ln>
        </p:spPr>
      </p:sp>
      <p:sp>
        <p:nvSpPr>
          <p:cNvPr id="5" name="Text 3"/>
          <p:cNvSpPr/>
          <p:nvPr/>
        </p:nvSpPr>
        <p:spPr>
          <a:xfrm>
            <a:off x="822960" y="1709928"/>
            <a:ext cx="4754880" cy="274320"/>
          </a:xfrm>
          <a:prstGeom prst="rect">
            <a:avLst/>
          </a:prstGeom>
          <a:noFill/>
          <a:ln/>
        </p:spPr>
        <p:txBody>
          <a:bodyPr wrap="square" lIns="0" tIns="0" rIns="0" bIns="0" rtlCol="0" anchor="ctr"/>
          <a:lstStyle/>
          <a:p>
            <a:pPr indent="0" marL="0">
              <a:buNone/>
            </a:pPr>
            <a:r>
              <a:rPr lang="en-US" sz="1300" b="1" dirty="0">
                <a:solidFill>
                  <a:srgbClr val="B4610F"/>
                </a:solidFill>
                <a:latin typeface="Calibri" pitchFamily="34" charset="0"/>
                <a:ea typeface="Calibri" pitchFamily="34" charset="-122"/>
                <a:cs typeface="Calibri" pitchFamily="34" charset="-120"/>
              </a:rPr>
              <a:t>Small model</a:t>
            </a:r>
            <a:endParaRPr lang="en-US" sz="1300" dirty="0"/>
          </a:p>
        </p:txBody>
      </p:sp>
      <p:sp>
        <p:nvSpPr>
          <p:cNvPr id="6" name="Text 4"/>
          <p:cNvSpPr/>
          <p:nvPr/>
        </p:nvSpPr>
        <p:spPr>
          <a:xfrm>
            <a:off x="822960" y="2011680"/>
            <a:ext cx="4754880" cy="8229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1.33M parameters is roughly 1/130,000 of GPT-3. Output is simple narrative English on a restricted vocabulary — not general language competence.</a:t>
            </a:r>
            <a:endParaRPr lang="en-US" sz="1050" dirty="0"/>
          </a:p>
        </p:txBody>
      </p:sp>
      <p:sp>
        <p:nvSpPr>
          <p:cNvPr id="7" name="Shape 5"/>
          <p:cNvSpPr/>
          <p:nvPr/>
        </p:nvSpPr>
        <p:spPr>
          <a:xfrm>
            <a:off x="6126480" y="1572768"/>
            <a:ext cx="5303520" cy="1325880"/>
          </a:xfrm>
          <a:prstGeom prst="roundRect">
            <a:avLst>
              <a:gd name="adj" fmla="val 4828"/>
            </a:avLst>
          </a:prstGeom>
          <a:solidFill>
            <a:srgbClr val="F1F4F9"/>
          </a:solidFill>
          <a:ln w="12700">
            <a:solidFill>
              <a:srgbClr val="D6DEEA"/>
            </a:solidFill>
            <a:prstDash val="solid"/>
          </a:ln>
        </p:spPr>
      </p:sp>
      <p:sp>
        <p:nvSpPr>
          <p:cNvPr id="8" name="Text 6"/>
          <p:cNvSpPr/>
          <p:nvPr/>
        </p:nvSpPr>
        <p:spPr>
          <a:xfrm>
            <a:off x="6400800" y="1709928"/>
            <a:ext cx="4754880" cy="274320"/>
          </a:xfrm>
          <a:prstGeom prst="rect">
            <a:avLst/>
          </a:prstGeom>
          <a:noFill/>
          <a:ln/>
        </p:spPr>
        <p:txBody>
          <a:bodyPr wrap="square" lIns="0" tIns="0" rIns="0" bIns="0" rtlCol="0" anchor="ctr"/>
          <a:lstStyle/>
          <a:p>
            <a:pPr indent="0" marL="0">
              <a:buNone/>
            </a:pPr>
            <a:r>
              <a:rPr lang="en-US" sz="1300" b="1" dirty="0">
                <a:solidFill>
                  <a:srgbClr val="B4610F"/>
                </a:solidFill>
                <a:latin typeface="Calibri" pitchFamily="34" charset="0"/>
                <a:ea typeface="Calibri" pitchFamily="34" charset="-122"/>
                <a:cs typeface="Calibri" pitchFamily="34" charset="-120"/>
              </a:rPr>
              <a:t>Cannot answer questions</a:t>
            </a:r>
            <a:endParaRPr lang="en-US" sz="1300" dirty="0"/>
          </a:p>
        </p:txBody>
      </p:sp>
      <p:sp>
        <p:nvSpPr>
          <p:cNvPr id="9" name="Text 7"/>
          <p:cNvSpPr/>
          <p:nvPr/>
        </p:nvSpPr>
        <p:spPr>
          <a:xfrm>
            <a:off x="6400800" y="2011680"/>
            <a:ext cx="4754880" cy="8229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It was trained only to continue text. Question-answering needs reasoning training, which is Review 2. This is a scope boundary, not a defect.</a:t>
            </a:r>
            <a:endParaRPr lang="en-US" sz="1050" dirty="0"/>
          </a:p>
        </p:txBody>
      </p:sp>
      <p:sp>
        <p:nvSpPr>
          <p:cNvPr id="10" name="Shape 8"/>
          <p:cNvSpPr/>
          <p:nvPr/>
        </p:nvSpPr>
        <p:spPr>
          <a:xfrm>
            <a:off x="548640" y="3081528"/>
            <a:ext cx="5303520" cy="1325880"/>
          </a:xfrm>
          <a:prstGeom prst="roundRect">
            <a:avLst>
              <a:gd name="adj" fmla="val 4828"/>
            </a:avLst>
          </a:prstGeom>
          <a:solidFill>
            <a:srgbClr val="F1F4F9"/>
          </a:solidFill>
          <a:ln w="12700">
            <a:solidFill>
              <a:srgbClr val="D6DEEA"/>
            </a:solidFill>
            <a:prstDash val="solid"/>
          </a:ln>
        </p:spPr>
      </p:sp>
      <p:sp>
        <p:nvSpPr>
          <p:cNvPr id="11" name="Text 9"/>
          <p:cNvSpPr/>
          <p:nvPr/>
        </p:nvSpPr>
        <p:spPr>
          <a:xfrm>
            <a:off x="822960" y="3218688"/>
            <a:ext cx="4754880" cy="274320"/>
          </a:xfrm>
          <a:prstGeom prst="rect">
            <a:avLst/>
          </a:prstGeom>
          <a:noFill/>
          <a:ln/>
        </p:spPr>
        <p:txBody>
          <a:bodyPr wrap="square" lIns="0" tIns="0" rIns="0" bIns="0" rtlCol="0" anchor="ctr"/>
          <a:lstStyle/>
          <a:p>
            <a:pPr indent="0" marL="0">
              <a:buNone/>
            </a:pPr>
            <a:r>
              <a:rPr lang="en-US" sz="1300" b="1" dirty="0">
                <a:solidFill>
                  <a:srgbClr val="B4610F"/>
                </a:solidFill>
                <a:latin typeface="Calibri" pitchFamily="34" charset="0"/>
                <a:ea typeface="Calibri" pitchFamily="34" charset="-122"/>
                <a:cs typeface="Calibri" pitchFamily="34" charset="-120"/>
              </a:rPr>
              <a:t>Phrase-level repetition</a:t>
            </a:r>
            <a:endParaRPr lang="en-US" sz="1300" dirty="0"/>
          </a:p>
        </p:txBody>
      </p:sp>
      <p:sp>
        <p:nvSpPr>
          <p:cNvPr id="12" name="Text 10"/>
          <p:cNvSpPr/>
          <p:nvPr/>
        </p:nvSpPr>
        <p:spPr>
          <a:xfrm>
            <a:off x="822960" y="3520440"/>
            <a:ext cx="4754880" cy="8229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Our measured immediate word-repetition rate is 0.11%, but that metric does not capture phrase looping, which is visible in the samples.</a:t>
            </a:r>
            <a:endParaRPr lang="en-US" sz="1050" dirty="0"/>
          </a:p>
        </p:txBody>
      </p:sp>
      <p:sp>
        <p:nvSpPr>
          <p:cNvPr id="13" name="Shape 11"/>
          <p:cNvSpPr/>
          <p:nvPr/>
        </p:nvSpPr>
        <p:spPr>
          <a:xfrm>
            <a:off x="6126480" y="3081528"/>
            <a:ext cx="5303520" cy="1325880"/>
          </a:xfrm>
          <a:prstGeom prst="roundRect">
            <a:avLst>
              <a:gd name="adj" fmla="val 4828"/>
            </a:avLst>
          </a:prstGeom>
          <a:solidFill>
            <a:srgbClr val="F1F4F9"/>
          </a:solidFill>
          <a:ln w="12700">
            <a:solidFill>
              <a:srgbClr val="D6DEEA"/>
            </a:solidFill>
            <a:prstDash val="solid"/>
          </a:ln>
        </p:spPr>
      </p:sp>
      <p:sp>
        <p:nvSpPr>
          <p:cNvPr id="14" name="Text 12"/>
          <p:cNvSpPr/>
          <p:nvPr/>
        </p:nvSpPr>
        <p:spPr>
          <a:xfrm>
            <a:off x="6400800" y="3218688"/>
            <a:ext cx="4754880" cy="274320"/>
          </a:xfrm>
          <a:prstGeom prst="rect">
            <a:avLst/>
          </a:prstGeom>
          <a:noFill/>
          <a:ln/>
        </p:spPr>
        <p:txBody>
          <a:bodyPr wrap="square" lIns="0" tIns="0" rIns="0" bIns="0" rtlCol="0" anchor="ctr"/>
          <a:lstStyle/>
          <a:p>
            <a:pPr indent="0" marL="0">
              <a:buNone/>
            </a:pPr>
            <a:r>
              <a:rPr lang="en-US" sz="1300" b="1" dirty="0">
                <a:solidFill>
                  <a:srgbClr val="B4610F"/>
                </a:solidFill>
                <a:latin typeface="Calibri" pitchFamily="34" charset="0"/>
                <a:ea typeface="Calibri" pitchFamily="34" charset="-122"/>
                <a:cs typeface="Calibri" pitchFamily="34" charset="-120"/>
              </a:rPr>
              <a:t>Narrow domain</a:t>
            </a:r>
            <a:endParaRPr lang="en-US" sz="1300" dirty="0"/>
          </a:p>
        </p:txBody>
      </p:sp>
      <p:sp>
        <p:nvSpPr>
          <p:cNvPr id="15" name="Text 13"/>
          <p:cNvSpPr/>
          <p:nvPr/>
        </p:nvSpPr>
        <p:spPr>
          <a:xfrm>
            <a:off x="6400800" y="3520440"/>
            <a:ext cx="4754880" cy="8229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TinyStories only. The model has not seen technical, formal or conversational text.</a:t>
            </a:r>
            <a:endParaRPr lang="en-US" sz="1050" dirty="0"/>
          </a:p>
        </p:txBody>
      </p:sp>
      <p:sp>
        <p:nvSpPr>
          <p:cNvPr id="16" name="Shape 14"/>
          <p:cNvSpPr/>
          <p:nvPr/>
        </p:nvSpPr>
        <p:spPr>
          <a:xfrm>
            <a:off x="548640" y="4590288"/>
            <a:ext cx="5303520" cy="1325880"/>
          </a:xfrm>
          <a:prstGeom prst="roundRect">
            <a:avLst>
              <a:gd name="adj" fmla="val 4828"/>
            </a:avLst>
          </a:prstGeom>
          <a:solidFill>
            <a:srgbClr val="F1F4F9"/>
          </a:solidFill>
          <a:ln w="12700">
            <a:solidFill>
              <a:srgbClr val="D6DEEA"/>
            </a:solidFill>
            <a:prstDash val="solid"/>
          </a:ln>
        </p:spPr>
      </p:sp>
      <p:sp>
        <p:nvSpPr>
          <p:cNvPr id="17" name="Text 15"/>
          <p:cNvSpPr/>
          <p:nvPr/>
        </p:nvSpPr>
        <p:spPr>
          <a:xfrm>
            <a:off x="822960" y="4727448"/>
            <a:ext cx="4754880" cy="274320"/>
          </a:xfrm>
          <a:prstGeom prst="rect">
            <a:avLst/>
          </a:prstGeom>
          <a:noFill/>
          <a:ln/>
        </p:spPr>
        <p:txBody>
          <a:bodyPr wrap="square" lIns="0" tIns="0" rIns="0" bIns="0" rtlCol="0" anchor="ctr"/>
          <a:lstStyle/>
          <a:p>
            <a:pPr indent="0" marL="0">
              <a:buNone/>
            </a:pPr>
            <a:r>
              <a:rPr lang="en-US" sz="1300" b="1" dirty="0">
                <a:solidFill>
                  <a:srgbClr val="B4610F"/>
                </a:solidFill>
                <a:latin typeface="Calibri" pitchFamily="34" charset="0"/>
                <a:ea typeface="Calibri" pitchFamily="34" charset="-122"/>
                <a:cs typeface="Calibri" pitchFamily="34" charset="-120"/>
              </a:rPr>
              <a:t>Short context</a:t>
            </a:r>
            <a:endParaRPr lang="en-US" sz="1300" dirty="0"/>
          </a:p>
        </p:txBody>
      </p:sp>
      <p:sp>
        <p:nvSpPr>
          <p:cNvPr id="18" name="Text 16"/>
          <p:cNvSpPr/>
          <p:nvPr/>
        </p:nvSpPr>
        <p:spPr>
          <a:xfrm>
            <a:off x="822960" y="5029200"/>
            <a:ext cx="4754880" cy="8229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128 tokens. Enough for a short story, not for long documents.</a:t>
            </a:r>
            <a:endParaRPr lang="en-US" sz="1050" dirty="0"/>
          </a:p>
        </p:txBody>
      </p:sp>
      <p:sp>
        <p:nvSpPr>
          <p:cNvPr id="19" name="Shape 17"/>
          <p:cNvSpPr/>
          <p:nvPr/>
        </p:nvSpPr>
        <p:spPr>
          <a:xfrm>
            <a:off x="6126480" y="4590288"/>
            <a:ext cx="5303520" cy="1325880"/>
          </a:xfrm>
          <a:prstGeom prst="roundRect">
            <a:avLst>
              <a:gd name="adj" fmla="val 4828"/>
            </a:avLst>
          </a:prstGeom>
          <a:solidFill>
            <a:srgbClr val="F1F4F9"/>
          </a:solidFill>
          <a:ln w="12700">
            <a:solidFill>
              <a:srgbClr val="D6DEEA"/>
            </a:solidFill>
            <a:prstDash val="solid"/>
          </a:ln>
        </p:spPr>
      </p:sp>
      <p:sp>
        <p:nvSpPr>
          <p:cNvPr id="20" name="Text 18"/>
          <p:cNvSpPr/>
          <p:nvPr/>
        </p:nvSpPr>
        <p:spPr>
          <a:xfrm>
            <a:off x="6400800" y="4727448"/>
            <a:ext cx="4754880" cy="274320"/>
          </a:xfrm>
          <a:prstGeom prst="rect">
            <a:avLst/>
          </a:prstGeom>
          <a:noFill/>
          <a:ln/>
        </p:spPr>
        <p:txBody>
          <a:bodyPr wrap="square" lIns="0" tIns="0" rIns="0" bIns="0" rtlCol="0" anchor="ctr"/>
          <a:lstStyle/>
          <a:p>
            <a:pPr indent="0" marL="0">
              <a:buNone/>
            </a:pPr>
            <a:r>
              <a:rPr lang="en-US" sz="1300" b="1" dirty="0">
                <a:solidFill>
                  <a:srgbClr val="B4610F"/>
                </a:solidFill>
                <a:latin typeface="Calibri" pitchFamily="34" charset="0"/>
                <a:ea typeface="Calibri" pitchFamily="34" charset="-122"/>
                <a:cs typeface="Calibri" pitchFamily="34" charset="-120"/>
              </a:rPr>
              <a:t>Single training run</a:t>
            </a:r>
            <a:endParaRPr lang="en-US" sz="1300" dirty="0"/>
          </a:p>
        </p:txBody>
      </p:sp>
      <p:sp>
        <p:nvSpPr>
          <p:cNvPr id="21" name="Text 19"/>
          <p:cNvSpPr/>
          <p:nvPr/>
        </p:nvSpPr>
        <p:spPr>
          <a:xfrm>
            <a:off x="6400800" y="5029200"/>
            <a:ext cx="4754880" cy="8229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One seed, one configuration. We have not yet measured run-to-run variance.</a:t>
            </a:r>
            <a:endParaRPr lang="en-US" sz="1050" dirty="0"/>
          </a:p>
        </p:txBody>
      </p:sp>
      <p:sp>
        <p:nvSpPr>
          <p:cNvPr id="22" name="Text 20"/>
          <p:cNvSpPr/>
          <p:nvPr/>
        </p:nvSpPr>
        <p:spPr>
          <a:xfrm>
            <a:off x="548640" y="5989320"/>
            <a:ext cx="11064240" cy="548640"/>
          </a:xfrm>
          <a:prstGeom prst="rect">
            <a:avLst/>
          </a:prstGeom>
          <a:noFill/>
          <a:ln/>
        </p:spPr>
        <p:txBody>
          <a:bodyPr wrap="square" lIns="0" tIns="0" rIns="0" bIns="0" rtlCol="0" anchor="t"/>
          <a:lstStyle/>
          <a:p>
            <a:pPr indent="0" marL="0">
              <a:buNone/>
            </a:pPr>
            <a:r>
              <a:rPr lang="en-US" sz="1200" dirty="0">
                <a:solidFill>
                  <a:srgbClr val="10203A"/>
                </a:solidFill>
                <a:latin typeface="Calibri" pitchFamily="34" charset="0"/>
                <a:ea typeface="Calibri" pitchFamily="34" charset="-122"/>
                <a:cs typeface="Calibri" pitchFamily="34" charset="-120"/>
              </a:rPr>
              <a:t>Naming your own model's weaknesses first turns them into evidence of understanding. Being told them by a panel turns them into gaps.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203A"/>
        </a:solidFill>
      </p:bgPr>
    </p:bg>
    <p:spTree>
      <p:nvGrpSpPr>
        <p:cNvPr id="1" name=""/>
        <p:cNvGrpSpPr/>
        <p:nvPr/>
      </p:nvGrpSpPr>
      <p:grpSpPr>
        <a:xfrm>
          <a:off x="0" y="0"/>
          <a:ext cx="0" cy="0"/>
          <a:chOff x="0" y="0"/>
          <a:chExt cx="0" cy="0"/>
        </a:xfrm>
      </p:grpSpPr>
      <p:sp>
        <p:nvSpPr>
          <p:cNvPr id="2" name="Text 0"/>
          <p:cNvSpPr/>
          <p:nvPr/>
        </p:nvSpPr>
        <p:spPr>
          <a:xfrm>
            <a:off x="548640" y="411480"/>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Future work</a:t>
            </a:r>
            <a:endParaRPr lang="en-US" sz="3000" dirty="0"/>
          </a:p>
        </p:txBody>
      </p:sp>
      <p:sp>
        <p:nvSpPr>
          <p:cNvPr id="3" name="Text 1"/>
          <p:cNvSpPr/>
          <p:nvPr/>
        </p:nvSpPr>
        <p:spPr>
          <a:xfrm>
            <a:off x="548640" y="987552"/>
            <a:ext cx="11064240" cy="320040"/>
          </a:xfrm>
          <a:prstGeom prst="rect">
            <a:avLst/>
          </a:prstGeom>
          <a:noFill/>
          <a:ln/>
        </p:spPr>
        <p:txBody>
          <a:bodyPr wrap="square" lIns="0" tIns="0" rIns="0" bIns="0" rtlCol="0" anchor="ctr"/>
          <a:lstStyle/>
          <a:p>
            <a:pPr indent="0" marL="0">
              <a:buNone/>
            </a:pPr>
            <a:r>
              <a:rPr lang="en-US" sz="1350" dirty="0">
                <a:solidFill>
                  <a:srgbClr val="C7D4E8"/>
                </a:solidFill>
                <a:latin typeface="Calibri" pitchFamily="34" charset="0"/>
                <a:ea typeface="Calibri" pitchFamily="34" charset="-122"/>
                <a:cs typeface="Calibri" pitchFamily="34" charset="-120"/>
              </a:rPr>
              <a:t>Review 1 is the foundation. Every later stage uses the same checkpoint — nothing is rebuilt.</a:t>
            </a:r>
            <a:endParaRPr lang="en-US" sz="1350" dirty="0"/>
          </a:p>
        </p:txBody>
      </p:sp>
      <p:sp>
        <p:nvSpPr>
          <p:cNvPr id="4" name="Shape 2"/>
          <p:cNvSpPr/>
          <p:nvPr/>
        </p:nvSpPr>
        <p:spPr>
          <a:xfrm>
            <a:off x="548640" y="1645920"/>
            <a:ext cx="10058400" cy="749808"/>
          </a:xfrm>
          <a:prstGeom prst="roundRect">
            <a:avLst>
              <a:gd name="adj" fmla="val 7317"/>
            </a:avLst>
          </a:prstGeom>
          <a:solidFill>
            <a:srgbClr val="12312A"/>
          </a:solidFill>
          <a:ln w="12700">
            <a:solidFill>
              <a:srgbClr val="5AC495"/>
            </a:solidFill>
            <a:prstDash val="solid"/>
          </a:ln>
        </p:spPr>
      </p:sp>
      <p:sp>
        <p:nvSpPr>
          <p:cNvPr id="5" name="Text 3"/>
          <p:cNvSpPr/>
          <p:nvPr/>
        </p:nvSpPr>
        <p:spPr>
          <a:xfrm>
            <a:off x="868680" y="1645920"/>
            <a:ext cx="1737360" cy="749808"/>
          </a:xfrm>
          <a:prstGeom prst="rect">
            <a:avLst/>
          </a:prstGeom>
          <a:noFill/>
          <a:ln/>
        </p:spPr>
        <p:txBody>
          <a:bodyPr wrap="square" lIns="0" tIns="0" rIns="0" bIns="0" rtlCol="0" anchor="ctr"/>
          <a:lstStyle/>
          <a:p>
            <a:pPr indent="0" marL="0">
              <a:buNone/>
            </a:pPr>
            <a:r>
              <a:rPr lang="en-US" sz="1300" b="1" dirty="0">
                <a:solidFill>
                  <a:srgbClr val="5AC495"/>
                </a:solidFill>
                <a:latin typeface="Courier New" pitchFamily="34" charset="0"/>
                <a:ea typeface="Courier New" pitchFamily="34" charset="-122"/>
                <a:cs typeface="Courier New" pitchFamily="34" charset="-120"/>
              </a:rPr>
              <a:t>REVIEW 1</a:t>
            </a:r>
            <a:endParaRPr lang="en-US" sz="1300" dirty="0"/>
          </a:p>
        </p:txBody>
      </p:sp>
      <p:sp>
        <p:nvSpPr>
          <p:cNvPr id="6" name="Text 4"/>
          <p:cNvSpPr/>
          <p:nvPr/>
        </p:nvSpPr>
        <p:spPr>
          <a:xfrm>
            <a:off x="2651760" y="1645920"/>
            <a:ext cx="7680960" cy="749808"/>
          </a:xfrm>
          <a:prstGeom prst="rect">
            <a:avLst/>
          </a:prstGeom>
          <a:noFill/>
          <a:ln/>
        </p:spPr>
        <p:txBody>
          <a:bodyPr wrap="square" lIns="0" tIns="0" rIns="0" bIns="0" rtlCol="0" anchor="ctr"/>
          <a:lstStyle/>
          <a:p>
            <a:pPr indent="0" marL="0">
              <a:buNone/>
            </a:pPr>
            <a:r>
              <a:rPr lang="en-US" sz="1350" dirty="0">
                <a:solidFill>
                  <a:srgbClr val="9DB0CC"/>
                </a:solidFill>
                <a:latin typeface="Calibri" pitchFamily="34" charset="0"/>
                <a:ea typeface="Calibri" pitchFamily="34" charset="-122"/>
                <a:cs typeface="Calibri" pitchFamily="34" charset="-120"/>
              </a:rPr>
              <a:t>Build and train our own LLM from scratch</a:t>
            </a:r>
            <a:endParaRPr lang="en-US" sz="1350" dirty="0"/>
          </a:p>
        </p:txBody>
      </p:sp>
      <p:sp>
        <p:nvSpPr>
          <p:cNvPr id="7" name="Shape 5"/>
          <p:cNvSpPr/>
          <p:nvPr/>
        </p:nvSpPr>
        <p:spPr>
          <a:xfrm>
            <a:off x="10835640" y="1865376"/>
            <a:ext cx="914400" cy="310896"/>
          </a:xfrm>
          <a:prstGeom prst="roundRect">
            <a:avLst>
              <a:gd name="adj" fmla="val 14706"/>
            </a:avLst>
          </a:prstGeom>
          <a:solidFill>
            <a:srgbClr val="12312A"/>
          </a:solidFill>
          <a:ln w="12700">
            <a:solidFill>
              <a:srgbClr val="5AC495"/>
            </a:solidFill>
            <a:prstDash val="solid"/>
          </a:ln>
        </p:spPr>
      </p:sp>
      <p:sp>
        <p:nvSpPr>
          <p:cNvPr id="8" name="Text 6"/>
          <p:cNvSpPr/>
          <p:nvPr/>
        </p:nvSpPr>
        <p:spPr>
          <a:xfrm>
            <a:off x="10835640" y="1865376"/>
            <a:ext cx="914400" cy="310896"/>
          </a:xfrm>
          <a:prstGeom prst="rect">
            <a:avLst/>
          </a:prstGeom>
          <a:noFill/>
          <a:ln/>
        </p:spPr>
        <p:txBody>
          <a:bodyPr wrap="square" lIns="0" tIns="0" rIns="0" bIns="0" rtlCol="0" anchor="ctr"/>
          <a:lstStyle/>
          <a:p>
            <a:pPr algn="ctr" indent="0" marL="0">
              <a:buNone/>
            </a:pPr>
            <a:r>
              <a:rPr lang="en-US" sz="900" b="1" dirty="0">
                <a:solidFill>
                  <a:srgbClr val="5AC495"/>
                </a:solidFill>
                <a:latin typeface="Calibri" pitchFamily="34" charset="0"/>
                <a:ea typeface="Calibri" pitchFamily="34" charset="-122"/>
                <a:cs typeface="Calibri" pitchFamily="34" charset="-120"/>
              </a:rPr>
              <a:t>DONE</a:t>
            </a:r>
            <a:endParaRPr lang="en-US" sz="900" dirty="0"/>
          </a:p>
        </p:txBody>
      </p:sp>
      <p:sp>
        <p:nvSpPr>
          <p:cNvPr id="9" name="Shape 7"/>
          <p:cNvSpPr/>
          <p:nvPr/>
        </p:nvSpPr>
        <p:spPr>
          <a:xfrm>
            <a:off x="548640" y="2606040"/>
            <a:ext cx="10058400" cy="749808"/>
          </a:xfrm>
          <a:prstGeom prst="roundRect">
            <a:avLst>
              <a:gd name="adj" fmla="val 7317"/>
            </a:avLst>
          </a:prstGeom>
          <a:solidFill>
            <a:srgbClr val="1B2C4A"/>
          </a:solidFill>
          <a:ln w="12700">
            <a:solidFill>
              <a:srgbClr val="27395A"/>
            </a:solidFill>
            <a:prstDash val="solid"/>
          </a:ln>
        </p:spPr>
      </p:sp>
      <p:sp>
        <p:nvSpPr>
          <p:cNvPr id="10" name="Text 8"/>
          <p:cNvSpPr/>
          <p:nvPr/>
        </p:nvSpPr>
        <p:spPr>
          <a:xfrm>
            <a:off x="868680" y="2606040"/>
            <a:ext cx="1737360" cy="749808"/>
          </a:xfrm>
          <a:prstGeom prst="rect">
            <a:avLst/>
          </a:prstGeom>
          <a:noFill/>
          <a:ln/>
        </p:spPr>
        <p:txBody>
          <a:bodyPr wrap="square" lIns="0" tIns="0" rIns="0" bIns="0" rtlCol="0" anchor="ctr"/>
          <a:lstStyle/>
          <a:p>
            <a:pPr indent="0" marL="0">
              <a:buNone/>
            </a:pPr>
            <a:r>
              <a:rPr lang="en-US" sz="1300" b="1" dirty="0">
                <a:solidFill>
                  <a:srgbClr val="6FA3E8"/>
                </a:solidFill>
                <a:latin typeface="Courier New" pitchFamily="34" charset="0"/>
                <a:ea typeface="Courier New" pitchFamily="34" charset="-122"/>
                <a:cs typeface="Courier New" pitchFamily="34" charset="-120"/>
              </a:rPr>
              <a:t>REVIEW 2</a:t>
            </a:r>
            <a:endParaRPr lang="en-US" sz="1300" dirty="0"/>
          </a:p>
        </p:txBody>
      </p:sp>
      <p:sp>
        <p:nvSpPr>
          <p:cNvPr id="11" name="Text 9"/>
          <p:cNvSpPr/>
          <p:nvPr/>
        </p:nvSpPr>
        <p:spPr>
          <a:xfrm>
            <a:off x="2651760" y="2606040"/>
            <a:ext cx="7680960" cy="74980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Scale to 13.8M parameters + reasoning training</a:t>
            </a:r>
            <a:endParaRPr lang="en-US" sz="1350" dirty="0"/>
          </a:p>
        </p:txBody>
      </p:sp>
      <p:sp>
        <p:nvSpPr>
          <p:cNvPr id="12" name="Shape 10"/>
          <p:cNvSpPr/>
          <p:nvPr/>
        </p:nvSpPr>
        <p:spPr>
          <a:xfrm>
            <a:off x="10835640" y="2825496"/>
            <a:ext cx="914400" cy="310896"/>
          </a:xfrm>
          <a:prstGeom prst="roundRect">
            <a:avLst>
              <a:gd name="adj" fmla="val 14706"/>
            </a:avLst>
          </a:prstGeom>
          <a:solidFill>
            <a:srgbClr val="16294A"/>
          </a:solidFill>
          <a:ln w="12700">
            <a:solidFill>
              <a:srgbClr val="6FA3E8"/>
            </a:solidFill>
            <a:prstDash val="solid"/>
          </a:ln>
        </p:spPr>
      </p:sp>
      <p:sp>
        <p:nvSpPr>
          <p:cNvPr id="13" name="Text 11"/>
          <p:cNvSpPr/>
          <p:nvPr/>
        </p:nvSpPr>
        <p:spPr>
          <a:xfrm>
            <a:off x="10835640" y="2825496"/>
            <a:ext cx="914400" cy="310896"/>
          </a:xfrm>
          <a:prstGeom prst="rect">
            <a:avLst/>
          </a:prstGeom>
          <a:noFill/>
          <a:ln/>
        </p:spPr>
        <p:txBody>
          <a:bodyPr wrap="square" lIns="0" tIns="0" rIns="0" bIns="0" rtlCol="0" anchor="ctr"/>
          <a:lstStyle/>
          <a:p>
            <a:pPr algn="ctr" indent="0" marL="0">
              <a:buNone/>
            </a:pPr>
            <a:r>
              <a:rPr lang="en-US" sz="900" b="1" dirty="0">
                <a:solidFill>
                  <a:srgbClr val="6FA3E8"/>
                </a:solidFill>
                <a:latin typeface="Calibri" pitchFamily="34" charset="0"/>
                <a:ea typeface="Calibri" pitchFamily="34" charset="-122"/>
                <a:cs typeface="Calibri" pitchFamily="34" charset="-120"/>
              </a:rPr>
              <a:t>NEXT</a:t>
            </a:r>
            <a:endParaRPr lang="en-US" sz="900" dirty="0"/>
          </a:p>
        </p:txBody>
      </p:sp>
      <p:sp>
        <p:nvSpPr>
          <p:cNvPr id="14" name="Shape 12"/>
          <p:cNvSpPr/>
          <p:nvPr/>
        </p:nvSpPr>
        <p:spPr>
          <a:xfrm>
            <a:off x="548640" y="3566160"/>
            <a:ext cx="10058400" cy="749808"/>
          </a:xfrm>
          <a:prstGeom prst="roundRect">
            <a:avLst>
              <a:gd name="adj" fmla="val 7317"/>
            </a:avLst>
          </a:prstGeom>
          <a:solidFill>
            <a:srgbClr val="1B2C4A"/>
          </a:solidFill>
          <a:ln w="12700">
            <a:solidFill>
              <a:srgbClr val="27395A"/>
            </a:solidFill>
            <a:prstDash val="solid"/>
          </a:ln>
        </p:spPr>
      </p:sp>
      <p:sp>
        <p:nvSpPr>
          <p:cNvPr id="15" name="Text 13"/>
          <p:cNvSpPr/>
          <p:nvPr/>
        </p:nvSpPr>
        <p:spPr>
          <a:xfrm>
            <a:off x="868680" y="3566160"/>
            <a:ext cx="1737360" cy="749808"/>
          </a:xfrm>
          <a:prstGeom prst="rect">
            <a:avLst/>
          </a:prstGeom>
          <a:noFill/>
          <a:ln/>
        </p:spPr>
        <p:txBody>
          <a:bodyPr wrap="square" lIns="0" tIns="0" rIns="0" bIns="0" rtlCol="0" anchor="ctr"/>
          <a:lstStyle/>
          <a:p>
            <a:pPr indent="0" marL="0">
              <a:buNone/>
            </a:pPr>
            <a:r>
              <a:rPr lang="en-US" sz="1300" b="1" dirty="0">
                <a:solidFill>
                  <a:srgbClr val="6FA3E8"/>
                </a:solidFill>
                <a:latin typeface="Courier New" pitchFamily="34" charset="0"/>
                <a:ea typeface="Courier New" pitchFamily="34" charset="-122"/>
                <a:cs typeface="Courier New" pitchFamily="34" charset="-120"/>
              </a:rPr>
              <a:t>REVIEW 3</a:t>
            </a:r>
            <a:endParaRPr lang="en-US" sz="1300" dirty="0"/>
          </a:p>
        </p:txBody>
      </p:sp>
      <p:sp>
        <p:nvSpPr>
          <p:cNvPr id="16" name="Text 14"/>
          <p:cNvSpPr/>
          <p:nvPr/>
        </p:nvSpPr>
        <p:spPr>
          <a:xfrm>
            <a:off x="2651760" y="3566160"/>
            <a:ext cx="7680960" cy="74980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Five agents: Solver, Critic, Verifier, Alternative, Coordinator</a:t>
            </a:r>
            <a:endParaRPr lang="en-US" sz="1350" dirty="0"/>
          </a:p>
        </p:txBody>
      </p:sp>
      <p:sp>
        <p:nvSpPr>
          <p:cNvPr id="17" name="Shape 15"/>
          <p:cNvSpPr/>
          <p:nvPr/>
        </p:nvSpPr>
        <p:spPr>
          <a:xfrm>
            <a:off x="548640" y="4526280"/>
            <a:ext cx="10058400" cy="749808"/>
          </a:xfrm>
          <a:prstGeom prst="roundRect">
            <a:avLst>
              <a:gd name="adj" fmla="val 7317"/>
            </a:avLst>
          </a:prstGeom>
          <a:solidFill>
            <a:srgbClr val="1B2C4A"/>
          </a:solidFill>
          <a:ln w="12700">
            <a:solidFill>
              <a:srgbClr val="27395A"/>
            </a:solidFill>
            <a:prstDash val="solid"/>
          </a:ln>
        </p:spPr>
      </p:sp>
      <p:sp>
        <p:nvSpPr>
          <p:cNvPr id="18" name="Text 16"/>
          <p:cNvSpPr/>
          <p:nvPr/>
        </p:nvSpPr>
        <p:spPr>
          <a:xfrm>
            <a:off x="868680" y="4526280"/>
            <a:ext cx="1737360" cy="749808"/>
          </a:xfrm>
          <a:prstGeom prst="rect">
            <a:avLst/>
          </a:prstGeom>
          <a:noFill/>
          <a:ln/>
        </p:spPr>
        <p:txBody>
          <a:bodyPr wrap="square" lIns="0" tIns="0" rIns="0" bIns="0" rtlCol="0" anchor="ctr"/>
          <a:lstStyle/>
          <a:p>
            <a:pPr indent="0" marL="0">
              <a:buNone/>
            </a:pPr>
            <a:r>
              <a:rPr lang="en-US" sz="1300" b="1" dirty="0">
                <a:solidFill>
                  <a:srgbClr val="6FA3E8"/>
                </a:solidFill>
                <a:latin typeface="Courier New" pitchFamily="34" charset="0"/>
                <a:ea typeface="Courier New" pitchFamily="34" charset="-122"/>
                <a:cs typeface="Courier New" pitchFamily="34" charset="-120"/>
              </a:rPr>
              <a:t>REVIEW 4</a:t>
            </a:r>
            <a:endParaRPr lang="en-US" sz="1300" dirty="0"/>
          </a:p>
        </p:txBody>
      </p:sp>
      <p:sp>
        <p:nvSpPr>
          <p:cNvPr id="19" name="Text 17"/>
          <p:cNvSpPr/>
          <p:nvPr/>
        </p:nvSpPr>
        <p:spPr>
          <a:xfrm>
            <a:off x="2651760" y="4526280"/>
            <a:ext cx="7680960" cy="74980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Collaborative neural reasoning + explainability + evaluation</a:t>
            </a:r>
            <a:endParaRPr lang="en-US" sz="1350" dirty="0"/>
          </a:p>
        </p:txBody>
      </p:sp>
      <p:sp>
        <p:nvSpPr>
          <p:cNvPr id="20" name="Text 18"/>
          <p:cNvSpPr/>
          <p:nvPr/>
        </p:nvSpPr>
        <p:spPr>
          <a:xfrm>
            <a:off x="548640" y="5760720"/>
            <a:ext cx="10515600" cy="640080"/>
          </a:xfrm>
          <a:prstGeom prst="rect">
            <a:avLst/>
          </a:prstGeom>
          <a:noFill/>
          <a:ln/>
        </p:spPr>
        <p:txBody>
          <a:bodyPr wrap="square" lIns="0" tIns="0" rIns="0" bIns="0" rtlCol="0" anchor="t"/>
          <a:lstStyle/>
          <a:p>
            <a:pPr indent="0" marL="0">
              <a:buNone/>
            </a:pPr>
            <a:r>
              <a:rPr lang="en-US" sz="1300" i="1" dirty="0">
                <a:solidFill>
                  <a:srgbClr val="C7D4E8"/>
                </a:solidFill>
                <a:latin typeface="Calibri" pitchFamily="34" charset="0"/>
                <a:ea typeface="Calibri" pitchFamily="34" charset="-122"/>
                <a:cs typeface="Calibri" pitchFamily="34" charset="-120"/>
              </a:rPr>
              <a:t>Research question: can multiple specialised agents built on a model trained from scratch improve reasoning accuracy, reliability and explainability over a single agent — at a matched inference budget?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29184"/>
            <a:ext cx="11064240" cy="640080"/>
          </a:xfrm>
          <a:prstGeom prst="rect">
            <a:avLst/>
          </a:prstGeom>
          <a:noFill/>
          <a:ln/>
        </p:spPr>
        <p:txBody>
          <a:bodyPr wrap="square" lIns="0" tIns="0" rIns="0" bIns="0" rtlCol="0" anchor="t"/>
          <a:lstStyle/>
          <a:p>
            <a:pPr indent="0" marL="0">
              <a:buNone/>
            </a:pPr>
            <a:r>
              <a:rPr lang="en-US" sz="3100" b="1" dirty="0">
                <a:solidFill>
                  <a:srgbClr val="10203A"/>
                </a:solidFill>
                <a:latin typeface="Cambria" pitchFamily="34" charset="0"/>
                <a:ea typeface="Cambria" pitchFamily="34" charset="-122"/>
                <a:cs typeface="Cambria" pitchFamily="34" charset="-120"/>
              </a:rPr>
              <a:t>Review 1 conclusion</a:t>
            </a:r>
            <a:endParaRPr lang="en-US" sz="3100" dirty="0"/>
          </a:p>
        </p:txBody>
      </p:sp>
      <p:sp>
        <p:nvSpPr>
          <p:cNvPr id="3" name="Text 1"/>
          <p:cNvSpPr/>
          <p:nvPr/>
        </p:nvSpPr>
        <p:spPr>
          <a:xfrm>
            <a:off x="548640" y="969264"/>
            <a:ext cx="11064240" cy="329184"/>
          </a:xfrm>
          <a:prstGeom prst="rect">
            <a:avLst/>
          </a:prstGeom>
          <a:noFill/>
          <a:ln/>
        </p:spPr>
        <p:txBody>
          <a:bodyPr wrap="square" lIns="0" tIns="0" rIns="0" bIns="0" rtlCol="0" anchor="t"/>
          <a:lstStyle/>
          <a:p>
            <a:pPr indent="0" marL="0">
              <a:buNone/>
            </a:pPr>
            <a:r>
              <a:rPr lang="en-US" sz="1350" dirty="0">
                <a:solidFill>
                  <a:srgbClr val="5A6478"/>
                </a:solidFill>
                <a:latin typeface="Calibri" pitchFamily="34" charset="0"/>
                <a:ea typeface="Calibri" pitchFamily="34" charset="-122"/>
                <a:cs typeface="Calibri" pitchFamily="34" charset="-120"/>
              </a:rPr>
              <a:t>What was promised, and what exists.</a:t>
            </a:r>
            <a:endParaRPr lang="en-US" sz="1350" dirty="0"/>
          </a:p>
        </p:txBody>
      </p:sp>
      <p:sp>
        <p:nvSpPr>
          <p:cNvPr id="4" name="Shape 2"/>
          <p:cNvSpPr/>
          <p:nvPr/>
        </p:nvSpPr>
        <p:spPr>
          <a:xfrm>
            <a:off x="548640" y="1645920"/>
            <a:ext cx="292608" cy="292608"/>
          </a:xfrm>
          <a:prstGeom prst="ellipse">
            <a:avLst/>
          </a:prstGeom>
          <a:solidFill>
            <a:srgbClr val="E4F1EA"/>
          </a:solidFill>
          <a:ln w="12700">
            <a:solidFill>
              <a:srgbClr val="146049"/>
            </a:solidFill>
            <a:prstDash val="solid"/>
          </a:ln>
        </p:spPr>
      </p:sp>
      <p:sp>
        <p:nvSpPr>
          <p:cNvPr id="5" name="Text 3"/>
          <p:cNvSpPr/>
          <p:nvPr/>
        </p:nvSpPr>
        <p:spPr>
          <a:xfrm>
            <a:off x="548640" y="1645920"/>
            <a:ext cx="292608" cy="292608"/>
          </a:xfrm>
          <a:prstGeom prst="rect">
            <a:avLst/>
          </a:prstGeom>
          <a:noFill/>
          <a:ln/>
        </p:spPr>
        <p:txBody>
          <a:bodyPr wrap="square" lIns="0" tIns="0" rIns="0" bIns="0" rtlCol="0" anchor="ctr"/>
          <a:lstStyle/>
          <a:p>
            <a:pPr algn="ctr" indent="0" marL="0">
              <a:buNone/>
            </a:pPr>
            <a:r>
              <a:rPr lang="en-US" sz="1200" b="1" dirty="0">
                <a:solidFill>
                  <a:srgbClr val="146049"/>
                </a:solidFill>
                <a:latin typeface="Calibri" pitchFamily="34" charset="0"/>
                <a:ea typeface="Calibri" pitchFamily="34" charset="-122"/>
                <a:cs typeface="Calibri" pitchFamily="34" charset="-120"/>
              </a:rPr>
              <a:t>✓</a:t>
            </a:r>
            <a:endParaRPr lang="en-US" sz="1200" dirty="0"/>
          </a:p>
        </p:txBody>
      </p:sp>
      <p:sp>
        <p:nvSpPr>
          <p:cNvPr id="6" name="Text 4"/>
          <p:cNvSpPr/>
          <p:nvPr/>
        </p:nvSpPr>
        <p:spPr>
          <a:xfrm>
            <a:off x="960120" y="1572768"/>
            <a:ext cx="4846320" cy="292608"/>
          </a:xfrm>
          <a:prstGeom prst="rect">
            <a:avLst/>
          </a:prstGeom>
          <a:noFill/>
          <a:ln/>
        </p:spPr>
        <p:txBody>
          <a:bodyPr wrap="square" lIns="0" tIns="0" rIns="0" bIns="0" rtlCol="0" anchor="t"/>
          <a:lstStyle/>
          <a:p>
            <a:pPr indent="0" marL="0">
              <a:buNone/>
            </a:pPr>
            <a:r>
              <a:rPr lang="en-US" sz="1250" b="1" dirty="0">
                <a:solidFill>
                  <a:srgbClr val="10203A"/>
                </a:solidFill>
                <a:latin typeface="Calibri" pitchFamily="34" charset="0"/>
                <a:ea typeface="Calibri" pitchFamily="34" charset="-122"/>
                <a:cs typeface="Calibri" pitchFamily="34" charset="-120"/>
              </a:rPr>
              <a:t>Dataset selected and preprocessed</a:t>
            </a:r>
            <a:endParaRPr lang="en-US" sz="1250" dirty="0"/>
          </a:p>
        </p:txBody>
      </p:sp>
      <p:sp>
        <p:nvSpPr>
          <p:cNvPr id="7" name="Text 5"/>
          <p:cNvSpPr/>
          <p:nvPr/>
        </p:nvSpPr>
        <p:spPr>
          <a:xfrm>
            <a:off x="960120" y="1883664"/>
            <a:ext cx="4846320" cy="566928"/>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226,654 stories, licensed, deduplicated</a:t>
            </a:r>
            <a:endParaRPr lang="en-US" sz="1050" dirty="0"/>
          </a:p>
        </p:txBody>
      </p:sp>
      <p:sp>
        <p:nvSpPr>
          <p:cNvPr id="8" name="Shape 6"/>
          <p:cNvSpPr/>
          <p:nvPr/>
        </p:nvSpPr>
        <p:spPr>
          <a:xfrm>
            <a:off x="6126480" y="1645920"/>
            <a:ext cx="292608" cy="292608"/>
          </a:xfrm>
          <a:prstGeom prst="ellipse">
            <a:avLst/>
          </a:prstGeom>
          <a:solidFill>
            <a:srgbClr val="E4F1EA"/>
          </a:solidFill>
          <a:ln w="12700">
            <a:solidFill>
              <a:srgbClr val="146049"/>
            </a:solidFill>
            <a:prstDash val="solid"/>
          </a:ln>
        </p:spPr>
      </p:sp>
      <p:sp>
        <p:nvSpPr>
          <p:cNvPr id="9" name="Text 7"/>
          <p:cNvSpPr/>
          <p:nvPr/>
        </p:nvSpPr>
        <p:spPr>
          <a:xfrm>
            <a:off x="6126480" y="1645920"/>
            <a:ext cx="292608" cy="292608"/>
          </a:xfrm>
          <a:prstGeom prst="rect">
            <a:avLst/>
          </a:prstGeom>
          <a:noFill/>
          <a:ln/>
        </p:spPr>
        <p:txBody>
          <a:bodyPr wrap="square" lIns="0" tIns="0" rIns="0" bIns="0" rtlCol="0" anchor="ctr"/>
          <a:lstStyle/>
          <a:p>
            <a:pPr algn="ctr" indent="0" marL="0">
              <a:buNone/>
            </a:pPr>
            <a:r>
              <a:rPr lang="en-US" sz="1200" b="1" dirty="0">
                <a:solidFill>
                  <a:srgbClr val="146049"/>
                </a:solidFill>
                <a:latin typeface="Calibri" pitchFamily="34" charset="0"/>
                <a:ea typeface="Calibri" pitchFamily="34" charset="-122"/>
                <a:cs typeface="Calibri" pitchFamily="34" charset="-120"/>
              </a:rPr>
              <a:t>✓</a:t>
            </a:r>
            <a:endParaRPr lang="en-US" sz="1200" dirty="0"/>
          </a:p>
        </p:txBody>
      </p:sp>
      <p:sp>
        <p:nvSpPr>
          <p:cNvPr id="10" name="Text 8"/>
          <p:cNvSpPr/>
          <p:nvPr/>
        </p:nvSpPr>
        <p:spPr>
          <a:xfrm>
            <a:off x="6537960" y="1572768"/>
            <a:ext cx="4846320" cy="292608"/>
          </a:xfrm>
          <a:prstGeom prst="rect">
            <a:avLst/>
          </a:prstGeom>
          <a:noFill/>
          <a:ln/>
        </p:spPr>
        <p:txBody>
          <a:bodyPr wrap="square" lIns="0" tIns="0" rIns="0" bIns="0" rtlCol="0" anchor="t"/>
          <a:lstStyle/>
          <a:p>
            <a:pPr indent="0" marL="0">
              <a:buNone/>
            </a:pPr>
            <a:r>
              <a:rPr lang="en-US" sz="1250" b="1" dirty="0">
                <a:solidFill>
                  <a:srgbClr val="10203A"/>
                </a:solidFill>
                <a:latin typeface="Calibri" pitchFamily="34" charset="0"/>
                <a:ea typeface="Calibri" pitchFamily="34" charset="-122"/>
                <a:cs typeface="Calibri" pitchFamily="34" charset="-120"/>
              </a:rPr>
              <a:t>Custom BPE tokenizer built</a:t>
            </a:r>
            <a:endParaRPr lang="en-US" sz="1250" dirty="0"/>
          </a:p>
        </p:txBody>
      </p:sp>
      <p:sp>
        <p:nvSpPr>
          <p:cNvPr id="11" name="Text 9"/>
          <p:cNvSpPr/>
          <p:nvPr/>
        </p:nvSpPr>
        <p:spPr>
          <a:xfrm>
            <a:off x="6537960" y="1883664"/>
            <a:ext cx="4846320" cy="566928"/>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4,096 vocab, 3,966 merges, 100% round-trip</a:t>
            </a:r>
            <a:endParaRPr lang="en-US" sz="1050" dirty="0"/>
          </a:p>
        </p:txBody>
      </p:sp>
      <p:sp>
        <p:nvSpPr>
          <p:cNvPr id="12" name="Shape 10"/>
          <p:cNvSpPr/>
          <p:nvPr/>
        </p:nvSpPr>
        <p:spPr>
          <a:xfrm>
            <a:off x="548640" y="2670048"/>
            <a:ext cx="292608" cy="292608"/>
          </a:xfrm>
          <a:prstGeom prst="ellipse">
            <a:avLst/>
          </a:prstGeom>
          <a:solidFill>
            <a:srgbClr val="E4F1EA"/>
          </a:solidFill>
          <a:ln w="12700">
            <a:solidFill>
              <a:srgbClr val="146049"/>
            </a:solidFill>
            <a:prstDash val="solid"/>
          </a:ln>
        </p:spPr>
      </p:sp>
      <p:sp>
        <p:nvSpPr>
          <p:cNvPr id="13" name="Text 11"/>
          <p:cNvSpPr/>
          <p:nvPr/>
        </p:nvSpPr>
        <p:spPr>
          <a:xfrm>
            <a:off x="548640" y="2670048"/>
            <a:ext cx="292608" cy="292608"/>
          </a:xfrm>
          <a:prstGeom prst="rect">
            <a:avLst/>
          </a:prstGeom>
          <a:noFill/>
          <a:ln/>
        </p:spPr>
        <p:txBody>
          <a:bodyPr wrap="square" lIns="0" tIns="0" rIns="0" bIns="0" rtlCol="0" anchor="ctr"/>
          <a:lstStyle/>
          <a:p>
            <a:pPr algn="ctr" indent="0" marL="0">
              <a:buNone/>
            </a:pPr>
            <a:r>
              <a:rPr lang="en-US" sz="1200" b="1" dirty="0">
                <a:solidFill>
                  <a:srgbClr val="146049"/>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960120" y="2596896"/>
            <a:ext cx="4846320" cy="292608"/>
          </a:xfrm>
          <a:prstGeom prst="rect">
            <a:avLst/>
          </a:prstGeom>
          <a:noFill/>
          <a:ln/>
        </p:spPr>
        <p:txBody>
          <a:bodyPr wrap="square" lIns="0" tIns="0" rIns="0" bIns="0" rtlCol="0" anchor="t"/>
          <a:lstStyle/>
          <a:p>
            <a:pPr indent="0" marL="0">
              <a:buNone/>
            </a:pPr>
            <a:r>
              <a:rPr lang="en-US" sz="1250" b="1" dirty="0">
                <a:solidFill>
                  <a:srgbClr val="10203A"/>
                </a:solidFill>
                <a:latin typeface="Calibri" pitchFamily="34" charset="0"/>
                <a:ea typeface="Calibri" pitchFamily="34" charset="-122"/>
                <a:cs typeface="Calibri" pitchFamily="34" charset="-120"/>
              </a:rPr>
              <a:t>Decoder-only Transformer implemented</a:t>
            </a:r>
            <a:endParaRPr lang="en-US" sz="1250" dirty="0"/>
          </a:p>
        </p:txBody>
      </p:sp>
      <p:sp>
        <p:nvSpPr>
          <p:cNvPr id="15" name="Text 13"/>
          <p:cNvSpPr/>
          <p:nvPr/>
        </p:nvSpPr>
        <p:spPr>
          <a:xfrm>
            <a:off x="960120" y="2907792"/>
            <a:ext cx="4846320" cy="566928"/>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1,331,968 parameters, every component ours</a:t>
            </a:r>
            <a:endParaRPr lang="en-US" sz="1050" dirty="0"/>
          </a:p>
        </p:txBody>
      </p:sp>
      <p:sp>
        <p:nvSpPr>
          <p:cNvPr id="16" name="Shape 14"/>
          <p:cNvSpPr/>
          <p:nvPr/>
        </p:nvSpPr>
        <p:spPr>
          <a:xfrm>
            <a:off x="6126480" y="2670048"/>
            <a:ext cx="292608" cy="292608"/>
          </a:xfrm>
          <a:prstGeom prst="ellipse">
            <a:avLst/>
          </a:prstGeom>
          <a:solidFill>
            <a:srgbClr val="E4F1EA"/>
          </a:solidFill>
          <a:ln w="12700">
            <a:solidFill>
              <a:srgbClr val="146049"/>
            </a:solidFill>
            <a:prstDash val="solid"/>
          </a:ln>
        </p:spPr>
      </p:sp>
      <p:sp>
        <p:nvSpPr>
          <p:cNvPr id="17" name="Text 15"/>
          <p:cNvSpPr/>
          <p:nvPr/>
        </p:nvSpPr>
        <p:spPr>
          <a:xfrm>
            <a:off x="6126480" y="2670048"/>
            <a:ext cx="292608" cy="292608"/>
          </a:xfrm>
          <a:prstGeom prst="rect">
            <a:avLst/>
          </a:prstGeom>
          <a:noFill/>
          <a:ln/>
        </p:spPr>
        <p:txBody>
          <a:bodyPr wrap="square" lIns="0" tIns="0" rIns="0" bIns="0" rtlCol="0" anchor="ctr"/>
          <a:lstStyle/>
          <a:p>
            <a:pPr algn="ctr" indent="0" marL="0">
              <a:buNone/>
            </a:pPr>
            <a:r>
              <a:rPr lang="en-US" sz="1200" b="1" dirty="0">
                <a:solidFill>
                  <a:srgbClr val="146049"/>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6537960" y="2596896"/>
            <a:ext cx="4846320" cy="292608"/>
          </a:xfrm>
          <a:prstGeom prst="rect">
            <a:avLst/>
          </a:prstGeom>
          <a:noFill/>
          <a:ln/>
        </p:spPr>
        <p:txBody>
          <a:bodyPr wrap="square" lIns="0" tIns="0" rIns="0" bIns="0" rtlCol="0" anchor="t"/>
          <a:lstStyle/>
          <a:p>
            <a:pPr indent="0" marL="0">
              <a:buNone/>
            </a:pPr>
            <a:r>
              <a:rPr lang="en-US" sz="1250" b="1" dirty="0">
                <a:solidFill>
                  <a:srgbClr val="10203A"/>
                </a:solidFill>
                <a:latin typeface="Calibri" pitchFamily="34" charset="0"/>
                <a:ea typeface="Calibri" pitchFamily="34" charset="-122"/>
                <a:cs typeface="Calibri" pitchFamily="34" charset="-120"/>
              </a:rPr>
              <a:t>Randomly initialised</a:t>
            </a:r>
            <a:endParaRPr lang="en-US" sz="1250" dirty="0"/>
          </a:p>
        </p:txBody>
      </p:sp>
      <p:sp>
        <p:nvSpPr>
          <p:cNvPr id="19" name="Text 17"/>
          <p:cNvSpPr/>
          <p:nvPr/>
        </p:nvSpPr>
        <p:spPr>
          <a:xfrm>
            <a:off x="6537960" y="2907792"/>
            <a:ext cx="4846320" cy="566928"/>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step-0 loss 8.3327 = ln(4096)</a:t>
            </a:r>
            <a:endParaRPr lang="en-US" sz="1050" dirty="0"/>
          </a:p>
        </p:txBody>
      </p:sp>
      <p:sp>
        <p:nvSpPr>
          <p:cNvPr id="20" name="Shape 18"/>
          <p:cNvSpPr/>
          <p:nvPr/>
        </p:nvSpPr>
        <p:spPr>
          <a:xfrm>
            <a:off x="548640" y="3694176"/>
            <a:ext cx="292608" cy="292608"/>
          </a:xfrm>
          <a:prstGeom prst="ellipse">
            <a:avLst/>
          </a:prstGeom>
          <a:solidFill>
            <a:srgbClr val="E4F1EA"/>
          </a:solidFill>
          <a:ln w="12700">
            <a:solidFill>
              <a:srgbClr val="146049"/>
            </a:solidFill>
            <a:prstDash val="solid"/>
          </a:ln>
        </p:spPr>
      </p:sp>
      <p:sp>
        <p:nvSpPr>
          <p:cNvPr id="21" name="Text 19"/>
          <p:cNvSpPr/>
          <p:nvPr/>
        </p:nvSpPr>
        <p:spPr>
          <a:xfrm>
            <a:off x="548640" y="3694176"/>
            <a:ext cx="292608" cy="292608"/>
          </a:xfrm>
          <a:prstGeom prst="rect">
            <a:avLst/>
          </a:prstGeom>
          <a:noFill/>
          <a:ln/>
        </p:spPr>
        <p:txBody>
          <a:bodyPr wrap="square" lIns="0" tIns="0" rIns="0" bIns="0" rtlCol="0" anchor="ctr"/>
          <a:lstStyle/>
          <a:p>
            <a:pPr algn="ctr" indent="0" marL="0">
              <a:buNone/>
            </a:pPr>
            <a:r>
              <a:rPr lang="en-US" sz="1200" b="1" dirty="0">
                <a:solidFill>
                  <a:srgbClr val="146049"/>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960120" y="3621024"/>
            <a:ext cx="4846320" cy="292608"/>
          </a:xfrm>
          <a:prstGeom prst="rect">
            <a:avLst/>
          </a:prstGeom>
          <a:noFill/>
          <a:ln/>
        </p:spPr>
        <p:txBody>
          <a:bodyPr wrap="square" lIns="0" tIns="0" rIns="0" bIns="0" rtlCol="0" anchor="t"/>
          <a:lstStyle/>
          <a:p>
            <a:pPr indent="0" marL="0">
              <a:buNone/>
            </a:pPr>
            <a:r>
              <a:rPr lang="en-US" sz="1250" b="1" dirty="0">
                <a:solidFill>
                  <a:srgbClr val="10203A"/>
                </a:solidFill>
                <a:latin typeface="Calibri" pitchFamily="34" charset="0"/>
                <a:ea typeface="Calibri" pitchFamily="34" charset="-122"/>
                <a:cs typeface="Calibri" pitchFamily="34" charset="-120"/>
              </a:rPr>
              <a:t>Trained from scratch</a:t>
            </a:r>
            <a:endParaRPr lang="en-US" sz="1250" dirty="0"/>
          </a:p>
        </p:txBody>
      </p:sp>
      <p:sp>
        <p:nvSpPr>
          <p:cNvPr id="23" name="Text 21"/>
          <p:cNvSpPr/>
          <p:nvPr/>
        </p:nvSpPr>
        <p:spPr>
          <a:xfrm>
            <a:off x="960120" y="3931920"/>
            <a:ext cx="4846320" cy="566928"/>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6,100 steps, 49,971,200 tokens, 2.6 minutes</a:t>
            </a:r>
            <a:endParaRPr lang="en-US" sz="1050" dirty="0"/>
          </a:p>
        </p:txBody>
      </p:sp>
      <p:sp>
        <p:nvSpPr>
          <p:cNvPr id="24" name="Shape 22"/>
          <p:cNvSpPr/>
          <p:nvPr/>
        </p:nvSpPr>
        <p:spPr>
          <a:xfrm>
            <a:off x="6126480" y="3694176"/>
            <a:ext cx="292608" cy="292608"/>
          </a:xfrm>
          <a:prstGeom prst="ellipse">
            <a:avLst/>
          </a:prstGeom>
          <a:solidFill>
            <a:srgbClr val="E4F1EA"/>
          </a:solidFill>
          <a:ln w="12700">
            <a:solidFill>
              <a:srgbClr val="146049"/>
            </a:solidFill>
            <a:prstDash val="solid"/>
          </a:ln>
        </p:spPr>
      </p:sp>
      <p:sp>
        <p:nvSpPr>
          <p:cNvPr id="25" name="Text 23"/>
          <p:cNvSpPr/>
          <p:nvPr/>
        </p:nvSpPr>
        <p:spPr>
          <a:xfrm>
            <a:off x="6126480" y="3694176"/>
            <a:ext cx="292608" cy="292608"/>
          </a:xfrm>
          <a:prstGeom prst="rect">
            <a:avLst/>
          </a:prstGeom>
          <a:noFill/>
          <a:ln/>
        </p:spPr>
        <p:txBody>
          <a:bodyPr wrap="square" lIns="0" tIns="0" rIns="0" bIns="0" rtlCol="0" anchor="ctr"/>
          <a:lstStyle/>
          <a:p>
            <a:pPr algn="ctr" indent="0" marL="0">
              <a:buNone/>
            </a:pPr>
            <a:r>
              <a:rPr lang="en-US" sz="1200" b="1" dirty="0">
                <a:solidFill>
                  <a:srgbClr val="146049"/>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6537960" y="3621024"/>
            <a:ext cx="4846320" cy="292608"/>
          </a:xfrm>
          <a:prstGeom prst="rect">
            <a:avLst/>
          </a:prstGeom>
          <a:noFill/>
          <a:ln/>
        </p:spPr>
        <p:txBody>
          <a:bodyPr wrap="square" lIns="0" tIns="0" rIns="0" bIns="0" rtlCol="0" anchor="t"/>
          <a:lstStyle/>
          <a:p>
            <a:pPr indent="0" marL="0">
              <a:buNone/>
            </a:pPr>
            <a:r>
              <a:rPr lang="en-US" sz="1250" b="1" dirty="0">
                <a:solidFill>
                  <a:srgbClr val="10203A"/>
                </a:solidFill>
                <a:latin typeface="Calibri" pitchFamily="34" charset="0"/>
                <a:ea typeface="Calibri" pitchFamily="34" charset="-122"/>
                <a:cs typeface="Calibri" pitchFamily="34" charset="-120"/>
              </a:rPr>
              <a:t>Validated</a:t>
            </a:r>
            <a:endParaRPr lang="en-US" sz="1250" dirty="0"/>
          </a:p>
        </p:txBody>
      </p:sp>
      <p:sp>
        <p:nvSpPr>
          <p:cNvPr id="27" name="Text 25"/>
          <p:cNvSpPr/>
          <p:nvPr/>
        </p:nvSpPr>
        <p:spPr>
          <a:xfrm>
            <a:off x="6537960" y="3931920"/>
            <a:ext cx="4846320" cy="566928"/>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validation loss 2.1407, perplexity 8.51</a:t>
            </a:r>
            <a:endParaRPr lang="en-US" sz="1050" dirty="0"/>
          </a:p>
        </p:txBody>
      </p:sp>
      <p:sp>
        <p:nvSpPr>
          <p:cNvPr id="28" name="Shape 26"/>
          <p:cNvSpPr/>
          <p:nvPr/>
        </p:nvSpPr>
        <p:spPr>
          <a:xfrm>
            <a:off x="548640" y="4718304"/>
            <a:ext cx="292608" cy="292608"/>
          </a:xfrm>
          <a:prstGeom prst="ellipse">
            <a:avLst/>
          </a:prstGeom>
          <a:solidFill>
            <a:srgbClr val="E4F1EA"/>
          </a:solidFill>
          <a:ln w="12700">
            <a:solidFill>
              <a:srgbClr val="146049"/>
            </a:solidFill>
            <a:prstDash val="solid"/>
          </a:ln>
        </p:spPr>
      </p:sp>
      <p:sp>
        <p:nvSpPr>
          <p:cNvPr id="29" name="Text 27"/>
          <p:cNvSpPr/>
          <p:nvPr/>
        </p:nvSpPr>
        <p:spPr>
          <a:xfrm>
            <a:off x="548640" y="4718304"/>
            <a:ext cx="292608" cy="292608"/>
          </a:xfrm>
          <a:prstGeom prst="rect">
            <a:avLst/>
          </a:prstGeom>
          <a:noFill/>
          <a:ln/>
        </p:spPr>
        <p:txBody>
          <a:bodyPr wrap="square" lIns="0" tIns="0" rIns="0" bIns="0" rtlCol="0" anchor="ctr"/>
          <a:lstStyle/>
          <a:p>
            <a:pPr algn="ctr" indent="0" marL="0">
              <a:buNone/>
            </a:pPr>
            <a:r>
              <a:rPr lang="en-US" sz="1200" b="1" dirty="0">
                <a:solidFill>
                  <a:srgbClr val="146049"/>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960120" y="4645152"/>
            <a:ext cx="4846320" cy="292608"/>
          </a:xfrm>
          <a:prstGeom prst="rect">
            <a:avLst/>
          </a:prstGeom>
          <a:noFill/>
          <a:ln/>
        </p:spPr>
        <p:txBody>
          <a:bodyPr wrap="square" lIns="0" tIns="0" rIns="0" bIns="0" rtlCol="0" anchor="t"/>
          <a:lstStyle/>
          <a:p>
            <a:pPr indent="0" marL="0">
              <a:buNone/>
            </a:pPr>
            <a:r>
              <a:rPr lang="en-US" sz="1250" b="1" dirty="0">
                <a:solidFill>
                  <a:srgbClr val="10203A"/>
                </a:solidFill>
                <a:latin typeface="Calibri" pitchFamily="34" charset="0"/>
                <a:ea typeface="Calibri" pitchFamily="34" charset="-122"/>
                <a:cs typeface="Calibri" pitchFamily="34" charset="-120"/>
              </a:rPr>
              <a:t>Checkpoint saved and reloaded</a:t>
            </a:r>
            <a:endParaRPr lang="en-US" sz="1250" dirty="0"/>
          </a:p>
        </p:txBody>
      </p:sp>
      <p:sp>
        <p:nvSpPr>
          <p:cNvPr id="31" name="Text 29"/>
          <p:cNvSpPr/>
          <p:nvPr/>
        </p:nvSpPr>
        <p:spPr>
          <a:xfrm>
            <a:off x="960120" y="4956048"/>
            <a:ext cx="4846320" cy="566928"/>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fresh process, difference 0.000000</a:t>
            </a:r>
            <a:endParaRPr lang="en-US" sz="1050" dirty="0"/>
          </a:p>
        </p:txBody>
      </p:sp>
      <p:sp>
        <p:nvSpPr>
          <p:cNvPr id="32" name="Shape 30"/>
          <p:cNvSpPr/>
          <p:nvPr/>
        </p:nvSpPr>
        <p:spPr>
          <a:xfrm>
            <a:off x="6126480" y="4718304"/>
            <a:ext cx="292608" cy="292608"/>
          </a:xfrm>
          <a:prstGeom prst="ellipse">
            <a:avLst/>
          </a:prstGeom>
          <a:solidFill>
            <a:srgbClr val="E4F1EA"/>
          </a:solidFill>
          <a:ln w="12700">
            <a:solidFill>
              <a:srgbClr val="146049"/>
            </a:solidFill>
            <a:prstDash val="solid"/>
          </a:ln>
        </p:spPr>
      </p:sp>
      <p:sp>
        <p:nvSpPr>
          <p:cNvPr id="33" name="Text 31"/>
          <p:cNvSpPr/>
          <p:nvPr/>
        </p:nvSpPr>
        <p:spPr>
          <a:xfrm>
            <a:off x="6126480" y="4718304"/>
            <a:ext cx="292608" cy="292608"/>
          </a:xfrm>
          <a:prstGeom prst="rect">
            <a:avLst/>
          </a:prstGeom>
          <a:noFill/>
          <a:ln/>
        </p:spPr>
        <p:txBody>
          <a:bodyPr wrap="square" lIns="0" tIns="0" rIns="0" bIns="0" rtlCol="0" anchor="ctr"/>
          <a:lstStyle/>
          <a:p>
            <a:pPr algn="ctr" indent="0" marL="0">
              <a:buNone/>
            </a:pPr>
            <a:r>
              <a:rPr lang="en-US" sz="1200" b="1" dirty="0">
                <a:solidFill>
                  <a:srgbClr val="146049"/>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6537960" y="4645152"/>
            <a:ext cx="4846320" cy="292608"/>
          </a:xfrm>
          <a:prstGeom prst="rect">
            <a:avLst/>
          </a:prstGeom>
          <a:noFill/>
          <a:ln/>
        </p:spPr>
        <p:txBody>
          <a:bodyPr wrap="square" lIns="0" tIns="0" rIns="0" bIns="0" rtlCol="0" anchor="t"/>
          <a:lstStyle/>
          <a:p>
            <a:pPr indent="0" marL="0">
              <a:buNone/>
            </a:pPr>
            <a:r>
              <a:rPr lang="en-US" sz="1250" b="1" dirty="0">
                <a:solidFill>
                  <a:srgbClr val="10203A"/>
                </a:solidFill>
                <a:latin typeface="Calibri" pitchFamily="34" charset="0"/>
                <a:ea typeface="Calibri" pitchFamily="34" charset="-122"/>
                <a:cs typeface="Calibri" pitchFamily="34" charset="-120"/>
              </a:rPr>
              <a:t>Text generation demonstrated</a:t>
            </a:r>
            <a:endParaRPr lang="en-US" sz="1250" dirty="0"/>
          </a:p>
        </p:txBody>
      </p:sp>
      <p:sp>
        <p:nvSpPr>
          <p:cNvPr id="35" name="Text 33"/>
          <p:cNvSpPr/>
          <p:nvPr/>
        </p:nvSpPr>
        <p:spPr>
          <a:xfrm>
            <a:off x="6537960" y="4956048"/>
            <a:ext cx="4846320" cy="566928"/>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coherent English at three temperatures</a:t>
            </a:r>
            <a:endParaRPr lang="en-US" sz="1050" dirty="0"/>
          </a:p>
        </p:txBody>
      </p:sp>
      <p:sp>
        <p:nvSpPr>
          <p:cNvPr id="36" name="Shape 34"/>
          <p:cNvSpPr/>
          <p:nvPr/>
        </p:nvSpPr>
        <p:spPr>
          <a:xfrm>
            <a:off x="548640" y="5623560"/>
            <a:ext cx="11064240" cy="777240"/>
          </a:xfrm>
          <a:prstGeom prst="roundRect">
            <a:avLst>
              <a:gd name="adj" fmla="val 8235"/>
            </a:avLst>
          </a:prstGeom>
          <a:solidFill>
            <a:srgbClr val="E4F1EA"/>
          </a:solidFill>
          <a:ln w="12700">
            <a:solidFill>
              <a:srgbClr val="D6DEEA"/>
            </a:solidFill>
            <a:prstDash val="solid"/>
          </a:ln>
        </p:spPr>
      </p:sp>
      <p:sp>
        <p:nvSpPr>
          <p:cNvPr id="37" name="Text 35"/>
          <p:cNvSpPr/>
          <p:nvPr/>
        </p:nvSpPr>
        <p:spPr>
          <a:xfrm>
            <a:off x="548640" y="5623560"/>
            <a:ext cx="11064240" cy="777240"/>
          </a:xfrm>
          <a:prstGeom prst="rect">
            <a:avLst/>
          </a:prstGeom>
          <a:noFill/>
          <a:ln/>
        </p:spPr>
        <p:txBody>
          <a:bodyPr wrap="square" lIns="0" tIns="0" rIns="0" bIns="0" rtlCol="0" anchor="ctr"/>
          <a:lstStyle/>
          <a:p>
            <a:pPr algn="ctr" indent="0" marL="0">
              <a:buNone/>
            </a:pPr>
            <a:r>
              <a:rPr lang="en-US" sz="1350" b="1" dirty="0">
                <a:solidFill>
                  <a:srgbClr val="146049"/>
                </a:solidFill>
                <a:latin typeface="Calibri" pitchFamily="34" charset="0"/>
                <a:ea typeface="Calibri" pitchFamily="34" charset="-122"/>
                <a:cs typeface="Calibri" pitchFamily="34" charset="-120"/>
              </a:rPr>
              <a:t>All twelve pipeline stages complete. The checkpoint exists, reloads, and generates. No pretrained weights were used at any stage.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 — Review 1</dc:title>
  <dc:subject>PptxGenJS Presentation</dc:subject>
  <dc:creator>Vishnu Vardhan</dc:creator>
  <cp:lastModifiedBy>Vishnu Vardhan</cp:lastModifiedBy>
  <cp:revision>1</cp:revision>
  <dcterms:created xsi:type="dcterms:W3CDTF">2026-08-26T21:50:15Z</dcterms:created>
  <dcterms:modified xsi:type="dcterms:W3CDTF">2026-08-26T21:50:15Z</dcterms:modified>
</cp:coreProperties>
</file>